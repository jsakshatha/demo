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7" r:id="rId91"/>
  </p:sldIdLst>
  <p:sldSz cx="9144000" cy="5143500" type="screen16x9"/>
  <p:notesSz cx="9144000" cy="5143500"/>
  <p:custDataLst>
    <p:tags r:id="rId92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="" xmlns:p1710="http://schemas.microsoft.com/office/powerpoint/2017/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gs" Target="tags/tag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888705"/>
            <a:ext cx="9144000" cy="255270"/>
          </a:xfrm>
          <a:custGeom>
            <a:avLst/>
            <a:gdLst/>
            <a:ahLst/>
            <a:cxnLst/>
            <a:rect l="l" t="t" r="r" b="b"/>
            <a:pathLst>
              <a:path w="9144000" h="255270">
                <a:moveTo>
                  <a:pt x="9143999" y="254794"/>
                </a:moveTo>
                <a:lnTo>
                  <a:pt x="0" y="254794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4794"/>
                </a:lnTo>
                <a:close/>
              </a:path>
            </a:pathLst>
          </a:custGeom>
          <a:solidFill>
            <a:srgbClr val="538C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0225" y="90939"/>
            <a:ext cx="5550610" cy="5130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70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6370">
              <a:lnSpc>
                <a:spcPts val="2000"/>
              </a:lnSpc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70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6370">
              <a:lnSpc>
                <a:spcPts val="2000"/>
              </a:lnSpc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70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6370">
              <a:lnSpc>
                <a:spcPts val="2000"/>
              </a:lnSpc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70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6370">
              <a:lnSpc>
                <a:spcPts val="2000"/>
              </a:lnSpc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888705"/>
            <a:ext cx="9144000" cy="255270"/>
          </a:xfrm>
          <a:custGeom>
            <a:avLst/>
            <a:gdLst/>
            <a:ahLst/>
            <a:cxnLst/>
            <a:rect l="l" t="t" r="r" b="b"/>
            <a:pathLst>
              <a:path w="9144000" h="255270">
                <a:moveTo>
                  <a:pt x="9143999" y="254794"/>
                </a:moveTo>
                <a:lnTo>
                  <a:pt x="0" y="254794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4794"/>
                </a:lnTo>
                <a:close/>
              </a:path>
            </a:pathLst>
          </a:custGeom>
          <a:solidFill>
            <a:srgbClr val="538C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6370">
              <a:lnSpc>
                <a:spcPts val="2000"/>
              </a:lnSpc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888705"/>
            <a:ext cx="9144000" cy="255270"/>
          </a:xfrm>
          <a:custGeom>
            <a:avLst/>
            <a:gdLst/>
            <a:ahLst/>
            <a:cxnLst/>
            <a:rect l="l" t="t" r="r" b="b"/>
            <a:pathLst>
              <a:path w="9144000" h="255270">
                <a:moveTo>
                  <a:pt x="9143999" y="254794"/>
                </a:moveTo>
                <a:lnTo>
                  <a:pt x="0" y="254794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4794"/>
                </a:lnTo>
                <a:close/>
              </a:path>
            </a:pathLst>
          </a:custGeom>
          <a:solidFill>
            <a:srgbClr val="538C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6675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20">
                <a:moveTo>
                  <a:pt x="9143999" y="45718"/>
                </a:moveTo>
                <a:lnTo>
                  <a:pt x="0" y="45718"/>
                </a:lnTo>
                <a:lnTo>
                  <a:pt x="0" y="0"/>
                </a:lnTo>
                <a:lnTo>
                  <a:pt x="9143999" y="0"/>
                </a:lnTo>
                <a:lnTo>
                  <a:pt x="9143999" y="45718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625" y="23776"/>
            <a:ext cx="6492834" cy="6247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70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3945" y="817200"/>
            <a:ext cx="8268970" cy="2171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10403" y="4875768"/>
            <a:ext cx="346490" cy="279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6370">
              <a:lnSpc>
                <a:spcPts val="2000"/>
              </a:lnSpc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datamites.com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datamites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://www.datamites.com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datamites.com/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datamites.com/" TargetMode="Externa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atamites.co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atamites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datamites.com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datamites.com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datamites.com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www.datamites.com/" TargetMode="Externa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atamites.com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datamites.com/" TargetMode="Externa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www.datamites.com/" TargetMode="External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atamites.com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atamites.com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3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www.datamites.com/" TargetMode="External"/><Relationship Id="rId4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atamites.com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datamites.com/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datamites.com/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www.datamites.com/" TargetMode="External"/><Relationship Id="rId4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datamites.com/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datamites.com/" TargetMode="External"/><Relationship Id="rId4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atamites.com/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atamites.com/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datamites.com/" TargetMode="External"/><Relationship Id="rId4" Type="http://schemas.openxmlformats.org/officeDocument/2006/relationships/image" Target="../media/image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datamites.com/" TargetMode="External"/><Relationship Id="rId4" Type="http://schemas.openxmlformats.org/officeDocument/2006/relationships/image" Target="../media/image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atamites.com/" TargetMode="Externa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datamites.com/" TargetMode="External"/><Relationship Id="rId4" Type="http://schemas.openxmlformats.org/officeDocument/2006/relationships/image" Target="../media/image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datamites.com/" TargetMode="External"/><Relationship Id="rId4" Type="http://schemas.openxmlformats.org/officeDocument/2006/relationships/image" Target="../media/image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mites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datamites.com/" TargetMode="External"/><Relationship Id="rId4" Type="http://schemas.openxmlformats.org/officeDocument/2006/relationships/image" Target="../media/image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7" Type="http://schemas.openxmlformats.org/officeDocument/2006/relationships/hyperlink" Target="http://www.datamites.com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tamites.com/" TargetMode="Externa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datamites.com/" TargetMode="External"/><Relationship Id="rId4" Type="http://schemas.openxmlformats.org/officeDocument/2006/relationships/image" Target="../media/image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hyperlink" Target="http://www.datamites.com/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31113" y="1994624"/>
            <a:ext cx="33839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0">
                <a:solidFill>
                  <a:srgbClr val="0070C0"/>
                </a:solidFill>
                <a:latin typeface="Calibri"/>
                <a:cs typeface="Calibri"/>
              </a:rPr>
              <a:t>STATISTICS</a:t>
            </a:r>
            <a:r>
              <a:rPr sz="2800" b="1" spc="-6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>
                <a:solidFill>
                  <a:srgbClr val="0070C0"/>
                </a:solidFill>
                <a:latin typeface="Calibri"/>
                <a:cs typeface="Calibri"/>
              </a:rPr>
              <a:t>ESSENTIALS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63212" y="3454072"/>
            <a:ext cx="2906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>
                <a:solidFill>
                  <a:srgbClr val="888888"/>
                </a:solidFill>
                <a:latin typeface="Calibri"/>
                <a:cs typeface="Calibri"/>
              </a:rPr>
              <a:t>Accredited</a:t>
            </a:r>
            <a:r>
              <a:rPr sz="2400" b="1" spc="-5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b="1">
                <a:solidFill>
                  <a:srgbClr val="888888"/>
                </a:solidFill>
                <a:latin typeface="Calibri"/>
                <a:cs typeface="Calibri"/>
              </a:rPr>
              <a:t>by</a:t>
            </a:r>
            <a:r>
              <a:rPr sz="2400" b="1" spc="-5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b="1" spc="-10">
                <a:solidFill>
                  <a:srgbClr val="888888"/>
                </a:solidFill>
                <a:latin typeface="Calibri"/>
                <a:cs typeface="Calibri"/>
              </a:rPr>
              <a:t>IABAC</a:t>
            </a:r>
            <a:r>
              <a:rPr sz="2400" b="1" spc="-10">
                <a:solidFill>
                  <a:srgbClr val="888888"/>
                </a:solidFill>
                <a:latin typeface="Arial"/>
                <a:cs typeface="Arial"/>
              </a:rPr>
              <a:t>™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1411172" y="909150"/>
            <a:ext cx="1530017" cy="315003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/>
          <a:stretch>
            <a:fillRect/>
          </a:stretch>
        </p:blipFill>
        <p:spPr>
          <a:xfrm>
            <a:off x="3810000" y="2821387"/>
            <a:ext cx="1733549" cy="17335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610403" y="4875768"/>
            <a:ext cx="346490" cy="265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2000"/>
              </a:lnSpc>
            </a:pPr>
            <a:fld id="{81D60167-4931-47E6-BA6A-407CBD079E47}" type="slidenum">
              <a:rPr spc="-50"/>
              <a:t>1</a:t>
            </a:fld>
            <a:endParaRPr spc="-50"/>
          </a:p>
        </p:txBody>
      </p:sp>
      <p:sp>
        <p:nvSpPr>
          <p:cNvPr id="9" name="object 9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6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494537" y="1080790"/>
            <a:ext cx="3416807" cy="30571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06561" y="1264440"/>
            <a:ext cx="45269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b="1">
                <a:latin typeface="Calibri"/>
                <a:cs typeface="Calibri"/>
              </a:rPr>
              <a:t>Overview</a:t>
            </a:r>
            <a:r>
              <a:rPr sz="3950" b="1" spc="-30">
                <a:latin typeface="Calibri"/>
                <a:cs typeface="Calibri"/>
              </a:rPr>
              <a:t> </a:t>
            </a:r>
            <a:r>
              <a:rPr sz="3950" b="1">
                <a:latin typeface="Calibri"/>
                <a:cs typeface="Calibri"/>
              </a:rPr>
              <a:t>of</a:t>
            </a:r>
            <a:r>
              <a:rPr sz="3950" b="1" spc="-30">
                <a:latin typeface="Calibri"/>
                <a:cs typeface="Calibri"/>
              </a:rPr>
              <a:t> </a:t>
            </a:r>
            <a:r>
              <a:rPr sz="3950" b="1" spc="-10">
                <a:latin typeface="Calibri"/>
                <a:cs typeface="Calibri"/>
              </a:rPr>
              <a:t>Statistics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60500" y="2280738"/>
            <a:ext cx="18224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>
                <a:solidFill>
                  <a:srgbClr val="888888"/>
                </a:solidFill>
                <a:latin typeface="Calibri"/>
                <a:cs typeface="Calibri"/>
              </a:rPr>
              <a:t>Module</a:t>
            </a:r>
            <a:r>
              <a:rPr sz="3200" spc="-7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3200" spc="-7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5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2000"/>
              </a:lnSpc>
            </a:pPr>
            <a:fld id="{81D60167-4931-47E6-BA6A-407CBD079E47}" type="slidenum">
              <a:rPr spc="-50"/>
              <a:t>2</a:t>
            </a:fld>
            <a:endParaRPr spc="-50"/>
          </a:p>
        </p:txBody>
      </p:sp>
      <p:sp>
        <p:nvSpPr>
          <p:cNvPr id="7" name="object 7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0"/>
              <a:t>Statistics</a:t>
            </a:r>
            <a:r>
              <a:rPr spc="-125"/>
              <a:t> </a:t>
            </a:r>
            <a:r>
              <a:rPr/>
              <a:t>for</a:t>
            </a:r>
            <a:r>
              <a:rPr spc="-120"/>
              <a:t> </a:t>
            </a:r>
            <a:r>
              <a:rPr spc="-2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358330" y="1710880"/>
            <a:ext cx="2622994" cy="2622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2125" y="965961"/>
            <a:ext cx="8395970" cy="2785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5920" indent="1270">
              <a:lnSpc>
                <a:spcPct val="100000"/>
              </a:lnSpc>
              <a:spcBef>
                <a:spcPts val="100"/>
              </a:spcBef>
            </a:pP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science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collecting,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describing,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interpreting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data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popularly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known </a:t>
            </a:r>
            <a:r>
              <a:rPr sz="2000">
                <a:latin typeface="Calibri"/>
                <a:cs typeface="Calibri"/>
              </a:rPr>
              <a:t>as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Statistical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leveraging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in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Data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Science.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2000">
              <a:latin typeface="Calibri"/>
              <a:cs typeface="Calibri"/>
            </a:endParaRPr>
          </a:p>
          <a:p>
            <a:pPr marL="2794000">
              <a:lnSpc>
                <a:spcPct val="100000"/>
              </a:lnSpc>
            </a:pPr>
            <a:r>
              <a:rPr sz="2400" spc="-10">
                <a:solidFill>
                  <a:srgbClr val="0070C0"/>
                </a:solidFill>
                <a:latin typeface="Calibri"/>
                <a:cs typeface="Calibri"/>
              </a:rPr>
              <a:t>Two</a:t>
            </a:r>
            <a:r>
              <a:rPr sz="2400" spc="-8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0070C0"/>
                </a:solidFill>
                <a:latin typeface="Calibri"/>
                <a:cs typeface="Calibri"/>
              </a:rPr>
              <a:t>areas</a:t>
            </a:r>
            <a:r>
              <a:rPr sz="2400" spc="-8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400" spc="-8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0070C0"/>
                </a:solidFill>
                <a:latin typeface="Calibri"/>
                <a:cs typeface="Calibri"/>
              </a:rPr>
              <a:t>Statistics:</a:t>
            </a:r>
            <a:endParaRPr sz="2400">
              <a:latin typeface="Calibri"/>
              <a:cs typeface="Calibri"/>
            </a:endParaRPr>
          </a:p>
          <a:p>
            <a:pPr marL="2794000" marR="5080">
              <a:lnSpc>
                <a:spcPct val="100000"/>
              </a:lnSpc>
              <a:spcBef>
                <a:spcPts val="1225"/>
              </a:spcBef>
            </a:pPr>
            <a:r>
              <a:rPr sz="1800" b="1">
                <a:solidFill>
                  <a:srgbClr val="E36C09"/>
                </a:solidFill>
                <a:latin typeface="Calibri"/>
                <a:cs typeface="Calibri"/>
              </a:rPr>
              <a:t>Descriptive</a:t>
            </a:r>
            <a:r>
              <a:rPr sz="1800" b="1" spc="-4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E36C09"/>
                </a:solidFill>
                <a:latin typeface="Calibri"/>
                <a:cs typeface="Calibri"/>
              </a:rPr>
              <a:t>statistics</a:t>
            </a:r>
            <a:r>
              <a:rPr sz="1800" b="1" spc="-15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E36C09"/>
                </a:solidFill>
                <a:latin typeface="Calibri"/>
                <a:cs typeface="Calibri"/>
              </a:rPr>
              <a:t>–</a:t>
            </a:r>
            <a:r>
              <a:rPr sz="1800" spc="-3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Methods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organizing,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summarizing, </a:t>
            </a:r>
            <a:r>
              <a:rPr sz="1800">
                <a:latin typeface="Calibri"/>
                <a:cs typeface="Calibri"/>
              </a:rPr>
              <a:t>and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presenting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data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in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an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informative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25">
                <a:latin typeface="Calibri"/>
                <a:cs typeface="Calibri"/>
              </a:rPr>
              <a:t>way</a:t>
            </a:r>
            <a:endParaRPr sz="1800">
              <a:latin typeface="Calibri"/>
              <a:cs typeface="Calibri"/>
            </a:endParaRPr>
          </a:p>
          <a:p>
            <a:pPr marL="2794000" marR="504190">
              <a:lnSpc>
                <a:spcPct val="100000"/>
              </a:lnSpc>
              <a:spcBef>
                <a:spcPts val="1200"/>
              </a:spcBef>
            </a:pPr>
            <a:r>
              <a:rPr sz="1800" b="1" spc="-10">
                <a:solidFill>
                  <a:srgbClr val="E36C09"/>
                </a:solidFill>
                <a:latin typeface="Calibri"/>
                <a:cs typeface="Calibri"/>
              </a:rPr>
              <a:t>Inferential</a:t>
            </a:r>
            <a:r>
              <a:rPr sz="1800" b="1" spc="-5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E36C09"/>
                </a:solidFill>
                <a:latin typeface="Calibri"/>
                <a:cs typeface="Calibri"/>
              </a:rPr>
              <a:t>statistics</a:t>
            </a:r>
            <a:r>
              <a:rPr sz="1800" b="1" spc="-25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E36C09"/>
                </a:solidFill>
                <a:latin typeface="Calibri"/>
                <a:cs typeface="Calibri"/>
              </a:rPr>
              <a:t>–</a:t>
            </a:r>
            <a:r>
              <a:rPr sz="1800" spc="-4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methods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used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to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determine something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about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population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on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basis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sample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2000"/>
              </a:lnSpc>
            </a:pPr>
            <a:fld id="{81D60167-4931-47E6-BA6A-407CBD079E47}" type="slidenum">
              <a:rPr spc="-50"/>
              <a:t>3</a:t>
            </a:fld>
            <a:endParaRPr spc="-50"/>
          </a:p>
        </p:txBody>
      </p:sp>
      <p:sp>
        <p:nvSpPr>
          <p:cNvPr id="7" name="object 7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5925" y="789685"/>
            <a:ext cx="8312784" cy="37719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260"/>
              </a:spcBef>
            </a:pPr>
            <a:r>
              <a:rPr sz="2000" b="1" spc="-10">
                <a:solidFill>
                  <a:srgbClr val="0070C0"/>
                </a:solidFill>
                <a:latin typeface="Calibri"/>
                <a:cs typeface="Calibri"/>
              </a:rPr>
              <a:t>Descriptive</a:t>
            </a:r>
            <a:r>
              <a:rPr sz="2000" b="1" spc="-5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spc="-10">
                <a:solidFill>
                  <a:srgbClr val="0070C0"/>
                </a:solidFill>
                <a:latin typeface="Calibri"/>
                <a:cs typeface="Calibri"/>
              </a:rPr>
              <a:t>statistics</a:t>
            </a:r>
            <a:r>
              <a:rPr sz="2000" b="1" spc="-3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are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methods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for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organizing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summarizing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12700" marR="205740" indent="1270">
              <a:lnSpc>
                <a:spcPts val="2160"/>
              </a:lnSpc>
              <a:spcBef>
                <a:spcPts val="430"/>
              </a:spcBef>
            </a:pPr>
            <a:r>
              <a:rPr sz="2000">
                <a:latin typeface="Calibri"/>
                <a:cs typeface="Calibri"/>
              </a:rPr>
              <a:t>For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example,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tables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or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graphs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are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used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organize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data,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descriptive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values </a:t>
            </a:r>
            <a:r>
              <a:rPr sz="2000">
                <a:latin typeface="Calibri"/>
                <a:cs typeface="Calibri"/>
              </a:rPr>
              <a:t>such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as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average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score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are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used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summarize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12700" marR="5080" indent="1270">
              <a:lnSpc>
                <a:spcPts val="2160"/>
              </a:lnSpc>
              <a:spcBef>
                <a:spcPts val="400"/>
              </a:spcBef>
            </a:pPr>
            <a:r>
              <a:rPr sz="2000">
                <a:latin typeface="Calibri"/>
                <a:cs typeface="Calibri"/>
              </a:rPr>
              <a:t>A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descriptive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value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for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population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called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b="1" spc="-20">
                <a:solidFill>
                  <a:srgbClr val="E36C09"/>
                </a:solidFill>
                <a:latin typeface="Calibri"/>
                <a:cs typeface="Calibri"/>
              </a:rPr>
              <a:t>parameter</a:t>
            </a:r>
            <a:r>
              <a:rPr sz="2000" b="1" spc="-35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descriptive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value </a:t>
            </a:r>
            <a:r>
              <a:rPr sz="2000">
                <a:latin typeface="Calibri"/>
                <a:cs typeface="Calibri"/>
              </a:rPr>
              <a:t>for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sample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called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b="1" spc="-10">
                <a:solidFill>
                  <a:srgbClr val="E36C09"/>
                </a:solidFill>
                <a:latin typeface="Calibri"/>
                <a:cs typeface="Calibri"/>
              </a:rPr>
              <a:t>statistic</a:t>
            </a:r>
            <a:r>
              <a:rPr sz="2000" spc="-10">
                <a:solidFill>
                  <a:srgbClr val="E36C09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584200">
              <a:lnSpc>
                <a:spcPct val="100000"/>
              </a:lnSpc>
              <a:spcBef>
                <a:spcPts val="320"/>
              </a:spcBef>
            </a:pPr>
            <a:r>
              <a:rPr sz="2000">
                <a:latin typeface="Calibri"/>
                <a:cs typeface="Calibri"/>
              </a:rPr>
              <a:t>Collect</a:t>
            </a:r>
            <a:r>
              <a:rPr sz="2000" spc="-95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1041400">
              <a:lnSpc>
                <a:spcPct val="100000"/>
              </a:lnSpc>
              <a:spcBef>
                <a:spcPts val="730"/>
              </a:spcBef>
            </a:pPr>
            <a:r>
              <a:rPr sz="1800">
                <a:latin typeface="Calibri"/>
                <a:cs typeface="Calibri"/>
              </a:rPr>
              <a:t>e.g.,</a:t>
            </a:r>
            <a:r>
              <a:rPr sz="1800" spc="-10">
                <a:latin typeface="Calibri"/>
                <a:cs typeface="Calibri"/>
              </a:rPr>
              <a:t> Survey</a:t>
            </a:r>
            <a:endParaRPr sz="1800">
              <a:latin typeface="Calibri"/>
              <a:cs typeface="Calibri"/>
            </a:endParaRPr>
          </a:p>
          <a:p>
            <a:pPr marL="584200">
              <a:lnSpc>
                <a:spcPct val="100000"/>
              </a:lnSpc>
              <a:spcBef>
                <a:spcPts val="640"/>
              </a:spcBef>
            </a:pPr>
            <a:r>
              <a:rPr sz="2000" spc="-10">
                <a:latin typeface="Calibri"/>
                <a:cs typeface="Calibri"/>
              </a:rPr>
              <a:t>Present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1041400">
              <a:lnSpc>
                <a:spcPct val="100000"/>
              </a:lnSpc>
              <a:spcBef>
                <a:spcPts val="725"/>
              </a:spcBef>
            </a:pPr>
            <a:r>
              <a:rPr sz="1800">
                <a:latin typeface="Calibri"/>
                <a:cs typeface="Calibri"/>
              </a:rPr>
              <a:t>e.g.,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25">
                <a:latin typeface="Calibri"/>
                <a:cs typeface="Calibri"/>
              </a:rPr>
              <a:t>Tables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and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graphs</a:t>
            </a:r>
            <a:endParaRPr sz="1800">
              <a:latin typeface="Calibri"/>
              <a:cs typeface="Calibri"/>
            </a:endParaRPr>
          </a:p>
          <a:p>
            <a:pPr marL="584200">
              <a:lnSpc>
                <a:spcPct val="100000"/>
              </a:lnSpc>
              <a:spcBef>
                <a:spcPts val="640"/>
              </a:spcBef>
            </a:pPr>
            <a:r>
              <a:rPr sz="2000" spc="-10">
                <a:latin typeface="Calibri"/>
                <a:cs typeface="Calibri"/>
              </a:rPr>
              <a:t>Summarize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584200">
              <a:lnSpc>
                <a:spcPct val="100000"/>
              </a:lnSpc>
              <a:spcBef>
                <a:spcPts val="730"/>
              </a:spcBef>
            </a:pPr>
            <a:r>
              <a:rPr sz="1800">
                <a:latin typeface="Calibri"/>
                <a:cs typeface="Calibri"/>
              </a:rPr>
              <a:t>e.g.,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Sample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mean</a:t>
            </a:r>
            <a:r>
              <a:rPr sz="1800" spc="-50">
                <a:latin typeface="Calibri"/>
                <a:cs typeface="Calibri"/>
              </a:rPr>
              <a:t> 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0"/>
              <a:t>Descriptive</a:t>
            </a:r>
            <a:r>
              <a:rPr spc="-114"/>
              <a:t> </a:t>
            </a:r>
            <a:r>
              <a:rPr spc="-10"/>
              <a:t>Statistics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429000" y="2419350"/>
            <a:ext cx="990600" cy="962025"/>
            <a:chOff x="3429000" y="2419350"/>
            <a:chExt cx="990600" cy="962025"/>
          </a:xfrm>
        </p:grpSpPr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429000" y="2419350"/>
              <a:ext cx="990599" cy="9620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962400" y="3048000"/>
              <a:ext cx="142874" cy="1428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038600" y="3200400"/>
              <a:ext cx="142874" cy="142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886200" y="2895600"/>
              <a:ext cx="142874" cy="142874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2971800" y="3257550"/>
            <a:ext cx="5643880" cy="1623695"/>
            <a:chOff x="2971800" y="3257550"/>
            <a:chExt cx="5643880" cy="1623695"/>
          </a:xfrm>
        </p:grpSpPr>
        <p:pic>
          <p:nvPicPr>
            <p:cNvPr id="10" name="object 10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971800" y="4095750"/>
              <a:ext cx="761999" cy="785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010400" y="3678237"/>
              <a:ext cx="1600200" cy="992505"/>
            </a:xfrm>
            <a:custGeom>
              <a:avLst/>
              <a:gdLst/>
              <a:ahLst/>
              <a:cxnLst/>
              <a:rect l="l" t="t" r="r" b="b"/>
              <a:pathLst>
                <a:path w="1600200" h="992503">
                  <a:moveTo>
                    <a:pt x="0" y="0"/>
                  </a:moveTo>
                  <a:lnTo>
                    <a:pt x="1588" y="990599"/>
                  </a:lnTo>
                </a:path>
                <a:path w="1600200" h="992503">
                  <a:moveTo>
                    <a:pt x="0" y="990599"/>
                  </a:moveTo>
                  <a:lnTo>
                    <a:pt x="1600199" y="99218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39000" y="4211637"/>
              <a:ext cx="152400" cy="457200"/>
            </a:xfrm>
            <a:custGeom>
              <a:avLst/>
              <a:gdLst/>
              <a:ahLst/>
              <a:cxnLst/>
              <a:rect l="l" t="t" r="r" b="b"/>
              <a:pathLst>
                <a:path w="152400" h="457200">
                  <a:moveTo>
                    <a:pt x="152399" y="457199"/>
                  </a:moveTo>
                  <a:lnTo>
                    <a:pt x="0" y="45719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571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39000" y="4211637"/>
              <a:ext cx="152400" cy="457200"/>
            </a:xfrm>
            <a:custGeom>
              <a:avLst/>
              <a:gdLst/>
              <a:ahLst/>
              <a:cxnLst/>
              <a:rect l="l" t="t" r="r" b="b"/>
              <a:pathLst>
                <a:path w="152400" h="457200">
                  <a:moveTo>
                    <a:pt x="0" y="0"/>
                  </a:moveTo>
                  <a:lnTo>
                    <a:pt x="152399" y="0"/>
                  </a:lnTo>
                  <a:lnTo>
                    <a:pt x="152399" y="457199"/>
                  </a:lnTo>
                  <a:lnTo>
                    <a:pt x="0" y="457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91400" y="4287837"/>
              <a:ext cx="152400" cy="381000"/>
            </a:xfrm>
            <a:custGeom>
              <a:avLst/>
              <a:gdLst/>
              <a:ahLst/>
              <a:cxnLst/>
              <a:rect l="l" t="t" r="r" b="b"/>
              <a:pathLst>
                <a:path w="152400" h="381000">
                  <a:moveTo>
                    <a:pt x="1523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809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91400" y="4287837"/>
              <a:ext cx="152400" cy="381000"/>
            </a:xfrm>
            <a:custGeom>
              <a:avLst/>
              <a:gdLst/>
              <a:ahLst/>
              <a:cxnLst/>
              <a:rect l="l" t="t" r="r" b="b"/>
              <a:pathLst>
                <a:path w="152400" h="381000">
                  <a:moveTo>
                    <a:pt x="0" y="0"/>
                  </a:moveTo>
                  <a:lnTo>
                    <a:pt x="152399" y="0"/>
                  </a:lnTo>
                  <a:lnTo>
                    <a:pt x="1523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43800" y="3983037"/>
              <a:ext cx="152400" cy="685800"/>
            </a:xfrm>
            <a:custGeom>
              <a:avLst/>
              <a:gdLst/>
              <a:ahLst/>
              <a:cxnLst/>
              <a:rect l="l" t="t" r="r" b="b"/>
              <a:pathLst>
                <a:path w="152400" h="685800">
                  <a:moveTo>
                    <a:pt x="152399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6857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43800" y="3983037"/>
              <a:ext cx="152400" cy="685800"/>
            </a:xfrm>
            <a:custGeom>
              <a:avLst/>
              <a:gdLst/>
              <a:ahLst/>
              <a:cxnLst/>
              <a:rect l="l" t="t" r="r" b="b"/>
              <a:pathLst>
                <a:path w="152400" h="685800">
                  <a:moveTo>
                    <a:pt x="0" y="0"/>
                  </a:moveTo>
                  <a:lnTo>
                    <a:pt x="152399" y="0"/>
                  </a:lnTo>
                  <a:lnTo>
                    <a:pt x="152399" y="685799"/>
                  </a:lnTo>
                  <a:lnTo>
                    <a:pt x="0" y="685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96200" y="4059237"/>
              <a:ext cx="152400" cy="609600"/>
            </a:xfrm>
            <a:custGeom>
              <a:avLst/>
              <a:gdLst/>
              <a:ahLst/>
              <a:cxnLst/>
              <a:rect l="l" t="t" r="r" b="b"/>
              <a:pathLst>
                <a:path w="152400" h="609600">
                  <a:moveTo>
                    <a:pt x="152399" y="609599"/>
                  </a:moveTo>
                  <a:lnTo>
                    <a:pt x="0" y="60959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6095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696200" y="4059237"/>
              <a:ext cx="152400" cy="609600"/>
            </a:xfrm>
            <a:custGeom>
              <a:avLst/>
              <a:gdLst/>
              <a:ahLst/>
              <a:cxnLst/>
              <a:rect l="l" t="t" r="r" b="b"/>
              <a:pathLst>
                <a:path w="152400" h="609600">
                  <a:moveTo>
                    <a:pt x="0" y="0"/>
                  </a:moveTo>
                  <a:lnTo>
                    <a:pt x="152399" y="0"/>
                  </a:lnTo>
                  <a:lnTo>
                    <a:pt x="1523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48600" y="4211637"/>
              <a:ext cx="152400" cy="457200"/>
            </a:xfrm>
            <a:custGeom>
              <a:avLst/>
              <a:gdLst/>
              <a:ahLst/>
              <a:cxnLst/>
              <a:rect l="l" t="t" r="r" b="b"/>
              <a:pathLst>
                <a:path w="152400" h="457200">
                  <a:moveTo>
                    <a:pt x="152399" y="457199"/>
                  </a:moveTo>
                  <a:lnTo>
                    <a:pt x="0" y="45719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571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48600" y="4211637"/>
              <a:ext cx="152400" cy="457200"/>
            </a:xfrm>
            <a:custGeom>
              <a:avLst/>
              <a:gdLst/>
              <a:ahLst/>
              <a:cxnLst/>
              <a:rect l="l" t="t" r="r" b="b"/>
              <a:pathLst>
                <a:path w="152400" h="457200">
                  <a:moveTo>
                    <a:pt x="0" y="0"/>
                  </a:moveTo>
                  <a:lnTo>
                    <a:pt x="152399" y="0"/>
                  </a:lnTo>
                  <a:lnTo>
                    <a:pt x="152399" y="457199"/>
                  </a:lnTo>
                  <a:lnTo>
                    <a:pt x="0" y="457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01000" y="4440237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152399" y="228599"/>
                  </a:moveTo>
                  <a:lnTo>
                    <a:pt x="0" y="22859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285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01000" y="4440237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399" y="0"/>
                  </a:lnTo>
                  <a:lnTo>
                    <a:pt x="152399" y="228599"/>
                  </a:lnTo>
                  <a:lnTo>
                    <a:pt x="0" y="228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86600" y="4440237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152399" y="228599"/>
                  </a:moveTo>
                  <a:lnTo>
                    <a:pt x="0" y="22859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285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86600" y="4440237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399" y="0"/>
                  </a:lnTo>
                  <a:lnTo>
                    <a:pt x="152399" y="228599"/>
                  </a:lnTo>
                  <a:lnTo>
                    <a:pt x="0" y="228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153400" y="4516437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399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52399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53400" y="4516437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399" y="0"/>
                  </a:lnTo>
                  <a:lnTo>
                    <a:pt x="152399" y="152399"/>
                  </a:lnTo>
                  <a:lnTo>
                    <a:pt x="0" y="152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4876800" y="3257550"/>
              <a:ext cx="1803399" cy="1274761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6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2000"/>
              </a:lnSpc>
            </a:pPr>
            <a:fld id="{81D60167-4931-47E6-BA6A-407CBD079E47}" type="slidenum">
              <a:rPr spc="-50"/>
              <a:t>4</a:t>
            </a:fld>
            <a:endParaRPr spc="-50"/>
          </a:p>
        </p:txBody>
      </p:sp>
      <p:sp>
        <p:nvSpPr>
          <p:cNvPr id="31" name="object 31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7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190750"/>
            <a:ext cx="9144000" cy="2952750"/>
            <a:chOff x="0" y="2190750"/>
            <a:chExt cx="9144000" cy="2952750"/>
          </a:xfrm>
        </p:grpSpPr>
        <p:sp>
          <p:nvSpPr>
            <p:cNvPr id="3" name="object 3"/>
            <p:cNvSpPr/>
            <p:nvPr/>
          </p:nvSpPr>
          <p:spPr>
            <a:xfrm>
              <a:off x="0" y="4888705"/>
              <a:ext cx="9144000" cy="255270"/>
            </a:xfrm>
            <a:custGeom>
              <a:avLst/>
              <a:gdLst/>
              <a:ahLst/>
              <a:cxnLst/>
              <a:rect l="l" t="t" r="r" b="b"/>
              <a:pathLst>
                <a:path w="9144000" h="255270">
                  <a:moveTo>
                    <a:pt x="9143999" y="254794"/>
                  </a:moveTo>
                  <a:lnTo>
                    <a:pt x="0" y="25479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4794"/>
                  </a:lnTo>
                  <a:close/>
                </a:path>
              </a:pathLst>
            </a:custGeom>
            <a:solidFill>
              <a:srgbClr val="538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172200" y="2190750"/>
              <a:ext cx="2971799" cy="295274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4608504"/>
              <a:ext cx="9144000" cy="273050"/>
            </a:xfrm>
            <a:custGeom>
              <a:avLst/>
              <a:gdLst/>
              <a:ahLst/>
              <a:cxnLst/>
              <a:rect l="l" t="t" r="r" b="b"/>
              <a:pathLst>
                <a:path w="9144000" h="273050">
                  <a:moveTo>
                    <a:pt x="9143999" y="272894"/>
                  </a:moveTo>
                  <a:lnTo>
                    <a:pt x="0" y="27289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72894"/>
                  </a:lnTo>
                  <a:close/>
                </a:path>
              </a:pathLst>
            </a:custGeom>
            <a:solidFill>
              <a:srgbClr val="CBDD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66675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20">
                <a:moveTo>
                  <a:pt x="9143999" y="45718"/>
                </a:moveTo>
                <a:lnTo>
                  <a:pt x="0" y="45718"/>
                </a:lnTo>
                <a:lnTo>
                  <a:pt x="0" y="0"/>
                </a:lnTo>
                <a:lnTo>
                  <a:pt x="9143999" y="0"/>
                </a:lnTo>
                <a:lnTo>
                  <a:pt x="9143999" y="45718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20"/>
              <a:t>Inferential</a:t>
            </a:r>
            <a:r>
              <a:rPr spc="-90"/>
              <a:t> </a:t>
            </a:r>
            <a:r>
              <a:rPr spc="-10"/>
              <a:t>Statistics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92661" y="835405"/>
            <a:ext cx="8814435" cy="4166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0385" marR="474980" indent="-30924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540385" algn="l"/>
              </a:tabLst>
            </a:pPr>
            <a:r>
              <a:rPr sz="1800" b="1" spc="-10">
                <a:solidFill>
                  <a:srgbClr val="0070C0"/>
                </a:solidFill>
                <a:latin typeface="Calibri"/>
                <a:cs typeface="Calibri"/>
              </a:rPr>
              <a:t>Inferential</a:t>
            </a:r>
            <a:r>
              <a:rPr sz="1800" b="1" spc="-6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0070C0"/>
                </a:solidFill>
                <a:latin typeface="Calibri"/>
                <a:cs typeface="Calibri"/>
              </a:rPr>
              <a:t>statistics</a:t>
            </a:r>
            <a:r>
              <a:rPr sz="1800" b="1" spc="-4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are</a:t>
            </a:r>
            <a:r>
              <a:rPr sz="1800" spc="-6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methods</a:t>
            </a:r>
            <a:r>
              <a:rPr sz="1800" spc="-6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for</a:t>
            </a:r>
            <a:r>
              <a:rPr sz="1800" spc="-6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using</a:t>
            </a:r>
            <a:r>
              <a:rPr sz="1800" spc="-6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sample</a:t>
            </a:r>
            <a:r>
              <a:rPr sz="1800" spc="-6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data</a:t>
            </a:r>
            <a:r>
              <a:rPr sz="1800" spc="-6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to</a:t>
            </a:r>
            <a:r>
              <a:rPr sz="1800" spc="-6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make</a:t>
            </a:r>
            <a:r>
              <a:rPr sz="1800" spc="-6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general</a:t>
            </a:r>
            <a:r>
              <a:rPr sz="1800" spc="-6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conclusions (inferences)</a:t>
            </a:r>
            <a:r>
              <a:rPr sz="1800" spc="-8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about</a:t>
            </a:r>
            <a:r>
              <a:rPr sz="1800" spc="-8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populations.</a:t>
            </a:r>
            <a:endParaRPr sz="1800">
              <a:latin typeface="Calibri"/>
              <a:cs typeface="Calibri"/>
            </a:endParaRPr>
          </a:p>
          <a:p>
            <a:pPr marL="540385" marR="5080" indent="-30924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540385" algn="l"/>
              </a:tabLst>
            </a:pPr>
            <a:r>
              <a:rPr sz="1800" spc="-10">
                <a:latin typeface="Calibri"/>
                <a:cs typeface="Calibri"/>
              </a:rPr>
              <a:t>Because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sample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is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typically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only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part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whole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population,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sample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data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provide </a:t>
            </a:r>
            <a:r>
              <a:rPr sz="1800">
                <a:latin typeface="Calibri"/>
                <a:cs typeface="Calibri"/>
              </a:rPr>
              <a:t>only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limited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information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about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population.</a:t>
            </a:r>
            <a:r>
              <a:rPr sz="1800" spc="3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As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result,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sample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statistics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are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generally imperfect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representatives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corresponding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population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parameters.</a:t>
            </a:r>
            <a:endParaRPr sz="1800">
              <a:latin typeface="Calibri"/>
              <a:cs typeface="Calibri"/>
            </a:endParaRPr>
          </a:p>
          <a:p>
            <a:pPr marL="584835" indent="-30861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584835" algn="l"/>
              </a:tabLst>
            </a:pPr>
            <a:r>
              <a:rPr sz="1800" spc="-10">
                <a:latin typeface="Calibri"/>
                <a:cs typeface="Calibri"/>
              </a:rPr>
              <a:t>Estimation</a:t>
            </a:r>
            <a:endParaRPr sz="1800">
              <a:latin typeface="Calibri"/>
              <a:cs typeface="Calibri"/>
            </a:endParaRPr>
          </a:p>
          <a:p>
            <a:pPr marL="984885" marR="2984500" indent="-299085">
              <a:lnSpc>
                <a:spcPct val="110000"/>
              </a:lnSpc>
              <a:spcBef>
                <a:spcPts val="360"/>
              </a:spcBef>
              <a:tabLst>
                <a:tab pos="984885" algn="l"/>
              </a:tabLst>
            </a:pPr>
            <a:r>
              <a:rPr sz="1800" spc="-50">
                <a:latin typeface="Arial MT"/>
                <a:cs typeface="Arial MT"/>
              </a:rPr>
              <a:t>–</a:t>
            </a:r>
            <a:r>
              <a:rPr sz="1800">
                <a:latin typeface="Arial MT"/>
                <a:cs typeface="Arial MT"/>
              </a:rPr>
              <a:t>	</a:t>
            </a:r>
            <a:r>
              <a:rPr sz="1800">
                <a:latin typeface="Calibri"/>
                <a:cs typeface="Calibri"/>
              </a:rPr>
              <a:t>e.g.,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Estimate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population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mean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weight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using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25">
                <a:latin typeface="Calibri"/>
                <a:cs typeface="Calibri"/>
              </a:rPr>
              <a:t>the </a:t>
            </a:r>
            <a:r>
              <a:rPr sz="1800">
                <a:latin typeface="Calibri"/>
                <a:cs typeface="Calibri"/>
              </a:rPr>
              <a:t>sample</a:t>
            </a:r>
            <a:r>
              <a:rPr sz="1800" spc="-7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mean</a:t>
            </a:r>
            <a:r>
              <a:rPr sz="1800" spc="-7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weight</a:t>
            </a:r>
            <a:endParaRPr sz="1800">
              <a:latin typeface="Calibri"/>
              <a:cs typeface="Calibri"/>
            </a:endParaRPr>
          </a:p>
          <a:p>
            <a:pPr marL="584835" indent="-30861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584835" algn="l"/>
              </a:tabLst>
            </a:pPr>
            <a:r>
              <a:rPr sz="1800" spc="-10">
                <a:latin typeface="Calibri"/>
                <a:cs typeface="Calibri"/>
              </a:rPr>
              <a:t>Hypothesis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testing</a:t>
            </a:r>
            <a:endParaRPr sz="1800">
              <a:latin typeface="Calibri"/>
              <a:cs typeface="Calibri"/>
            </a:endParaRPr>
          </a:p>
          <a:p>
            <a:pPr marL="984885" marR="2985135" indent="-299085">
              <a:lnSpc>
                <a:spcPct val="110000"/>
              </a:lnSpc>
              <a:spcBef>
                <a:spcPts val="360"/>
              </a:spcBef>
              <a:tabLst>
                <a:tab pos="984885" algn="l"/>
              </a:tabLst>
            </a:pPr>
            <a:r>
              <a:rPr sz="1800" spc="-50">
                <a:latin typeface="Arial MT"/>
                <a:cs typeface="Arial MT"/>
              </a:rPr>
              <a:t>–</a:t>
            </a:r>
            <a:r>
              <a:rPr sz="1800">
                <a:latin typeface="Arial MT"/>
                <a:cs typeface="Arial MT"/>
              </a:rPr>
              <a:t>	</a:t>
            </a:r>
            <a:r>
              <a:rPr sz="1800">
                <a:latin typeface="Calibri"/>
                <a:cs typeface="Calibri"/>
              </a:rPr>
              <a:t>e.g.,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40">
                <a:latin typeface="Calibri"/>
                <a:cs typeface="Calibri"/>
              </a:rPr>
              <a:t>Test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claim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that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population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mean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weight </a:t>
            </a:r>
            <a:r>
              <a:rPr sz="1800">
                <a:latin typeface="Calibri"/>
                <a:cs typeface="Calibri"/>
              </a:rPr>
              <a:t>is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70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 spc="-25">
                <a:latin typeface="Calibri"/>
                <a:cs typeface="Calibri"/>
              </a:rPr>
              <a:t>kg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800">
              <a:latin typeface="Calibri"/>
              <a:cs typeface="Calibri"/>
            </a:endParaRPr>
          </a:p>
          <a:p>
            <a:pPr marL="3565525" marR="59690" indent="-3553460">
              <a:lnSpc>
                <a:spcPct val="80000"/>
              </a:lnSpc>
              <a:spcBef>
                <a:spcPts val="5"/>
              </a:spcBef>
            </a:pPr>
            <a:r>
              <a:rPr sz="1400" b="1" spc="105">
                <a:solidFill>
                  <a:srgbClr val="0070C0"/>
                </a:solidFill>
                <a:latin typeface="Cambria"/>
                <a:cs typeface="Cambria"/>
              </a:rPr>
              <a:t>Inference</a:t>
            </a:r>
            <a:r>
              <a:rPr sz="1400" b="1" spc="8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1400" b="1">
                <a:latin typeface="Cambria"/>
                <a:cs typeface="Cambria"/>
              </a:rPr>
              <a:t>is</a:t>
            </a:r>
            <a:r>
              <a:rPr sz="1400" b="1" spc="85">
                <a:latin typeface="Cambria"/>
                <a:cs typeface="Cambria"/>
              </a:rPr>
              <a:t> </a:t>
            </a:r>
            <a:r>
              <a:rPr sz="1400" b="1" spc="80">
                <a:latin typeface="Cambria"/>
                <a:cs typeface="Cambria"/>
              </a:rPr>
              <a:t>the</a:t>
            </a:r>
            <a:r>
              <a:rPr sz="1400" b="1" spc="85">
                <a:latin typeface="Cambria"/>
                <a:cs typeface="Cambria"/>
              </a:rPr>
              <a:t> </a:t>
            </a:r>
            <a:r>
              <a:rPr sz="1400" b="1" spc="70">
                <a:latin typeface="Cambria"/>
                <a:cs typeface="Cambria"/>
              </a:rPr>
              <a:t>process</a:t>
            </a:r>
            <a:r>
              <a:rPr sz="1400" b="1" spc="90">
                <a:latin typeface="Cambria"/>
                <a:cs typeface="Cambria"/>
              </a:rPr>
              <a:t> </a:t>
            </a:r>
            <a:r>
              <a:rPr sz="1400" b="1" spc="135">
                <a:latin typeface="Cambria"/>
                <a:cs typeface="Cambria"/>
              </a:rPr>
              <a:t>of</a:t>
            </a:r>
            <a:r>
              <a:rPr sz="1400" b="1" spc="85">
                <a:latin typeface="Cambria"/>
                <a:cs typeface="Cambria"/>
              </a:rPr>
              <a:t> </a:t>
            </a:r>
            <a:r>
              <a:rPr sz="1400" b="1" spc="90">
                <a:latin typeface="Cambria"/>
                <a:cs typeface="Cambria"/>
              </a:rPr>
              <a:t>drawing</a:t>
            </a:r>
            <a:r>
              <a:rPr sz="1400" b="1" spc="70">
                <a:latin typeface="Cambria"/>
                <a:cs typeface="Cambria"/>
              </a:rPr>
              <a:t> </a:t>
            </a:r>
            <a:r>
              <a:rPr sz="1400" b="1" spc="100">
                <a:latin typeface="Cambria"/>
                <a:cs typeface="Cambria"/>
              </a:rPr>
              <a:t>conclusions</a:t>
            </a:r>
            <a:r>
              <a:rPr sz="1400" b="1" spc="90">
                <a:latin typeface="Cambria"/>
                <a:cs typeface="Cambria"/>
              </a:rPr>
              <a:t> </a:t>
            </a:r>
            <a:r>
              <a:rPr sz="1400" b="1" spc="75">
                <a:latin typeface="Cambria"/>
                <a:cs typeface="Cambria"/>
              </a:rPr>
              <a:t>or</a:t>
            </a:r>
            <a:r>
              <a:rPr sz="1400" b="1" spc="65">
                <a:latin typeface="Cambria"/>
                <a:cs typeface="Cambria"/>
              </a:rPr>
              <a:t> </a:t>
            </a:r>
            <a:r>
              <a:rPr sz="1400" b="1" spc="125">
                <a:latin typeface="Cambria"/>
                <a:cs typeface="Cambria"/>
              </a:rPr>
              <a:t>making</a:t>
            </a:r>
            <a:r>
              <a:rPr sz="1400" b="1" spc="75">
                <a:latin typeface="Cambria"/>
                <a:cs typeface="Cambria"/>
              </a:rPr>
              <a:t> </a:t>
            </a:r>
            <a:r>
              <a:rPr sz="1400" b="1" spc="85">
                <a:latin typeface="Cambria"/>
                <a:cs typeface="Cambria"/>
              </a:rPr>
              <a:t>decisions about </a:t>
            </a:r>
            <a:r>
              <a:rPr sz="1400" b="1" spc="50">
                <a:latin typeface="Cambria"/>
                <a:cs typeface="Cambria"/>
              </a:rPr>
              <a:t>a</a:t>
            </a:r>
            <a:r>
              <a:rPr sz="1400" b="1" spc="55">
                <a:latin typeface="Cambria"/>
                <a:cs typeface="Cambria"/>
              </a:rPr>
              <a:t> </a:t>
            </a:r>
            <a:r>
              <a:rPr sz="1400" b="1" spc="95">
                <a:solidFill>
                  <a:srgbClr val="E36C09"/>
                </a:solidFill>
                <a:latin typeface="Cambria"/>
                <a:cs typeface="Cambria"/>
              </a:rPr>
              <a:t>population</a:t>
            </a:r>
            <a:r>
              <a:rPr sz="1400" b="1" spc="85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1400" b="1" spc="65">
                <a:latin typeface="Cambria"/>
                <a:cs typeface="Cambria"/>
              </a:rPr>
              <a:t>based </a:t>
            </a:r>
            <a:r>
              <a:rPr sz="1400" b="1" spc="140">
                <a:latin typeface="Cambria"/>
                <a:cs typeface="Cambria"/>
              </a:rPr>
              <a:t>on</a:t>
            </a:r>
            <a:r>
              <a:rPr sz="1400" b="1" spc="60">
                <a:latin typeface="Cambria"/>
                <a:cs typeface="Cambria"/>
              </a:rPr>
              <a:t> </a:t>
            </a:r>
            <a:r>
              <a:rPr sz="1400" b="1" spc="100">
                <a:solidFill>
                  <a:srgbClr val="E36C09"/>
                </a:solidFill>
                <a:latin typeface="Cambria"/>
                <a:cs typeface="Cambria"/>
              </a:rPr>
              <a:t>sample</a:t>
            </a:r>
            <a:r>
              <a:rPr sz="1400" b="1" spc="65">
                <a:solidFill>
                  <a:srgbClr val="E36C09"/>
                </a:solidFill>
                <a:latin typeface="Cambria"/>
                <a:cs typeface="Cambria"/>
              </a:rPr>
              <a:t> </a:t>
            </a:r>
            <a:r>
              <a:rPr sz="1400" b="1" spc="40">
                <a:latin typeface="Cambria"/>
                <a:cs typeface="Cambria"/>
              </a:rPr>
              <a:t>results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2000"/>
              </a:lnSpc>
            </a:pPr>
            <a:fld id="{81D60167-4931-47E6-BA6A-407CBD079E47}" type="slidenum">
              <a:rPr spc="-50"/>
              <a:t>5</a:t>
            </a:fld>
            <a:endParaRPr spc="-50"/>
          </a:p>
        </p:txBody>
      </p:sp>
      <p:sp>
        <p:nvSpPr>
          <p:cNvPr id="12" name="object 12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0"/>
              <a:t>Definition</a:t>
            </a:r>
            <a:r>
              <a:rPr spc="-60"/>
              <a:t> </a:t>
            </a:r>
            <a:r>
              <a:rPr/>
              <a:t>to</a:t>
            </a:r>
            <a:r>
              <a:rPr spc="-60"/>
              <a:t> </a:t>
            </a:r>
            <a:r>
              <a:rPr/>
              <a:t>Basic</a:t>
            </a:r>
            <a:r>
              <a:rPr spc="-60"/>
              <a:t> </a:t>
            </a:r>
            <a:r>
              <a:rPr spc="-10"/>
              <a:t>terms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825" y="835405"/>
            <a:ext cx="8395335" cy="322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>
                <a:solidFill>
                  <a:srgbClr val="0070C0"/>
                </a:solidFill>
                <a:latin typeface="Calibri"/>
                <a:cs typeface="Calibri"/>
              </a:rPr>
              <a:t>Population</a:t>
            </a:r>
            <a:r>
              <a:rPr sz="1800" spc="-10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r>
              <a:rPr sz="1800" spc="-3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collection,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or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set,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individuals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or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objects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or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events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whose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properties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are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25">
                <a:latin typeface="Calibri"/>
                <a:cs typeface="Calibri"/>
              </a:rPr>
              <a:t>to </a:t>
            </a:r>
            <a:r>
              <a:rPr sz="1800">
                <a:latin typeface="Calibri"/>
                <a:cs typeface="Calibri"/>
              </a:rPr>
              <a:t>be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analyzed.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>
                <a:latin typeface="Calibri"/>
                <a:cs typeface="Calibri"/>
              </a:rPr>
              <a:t>Two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kinds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populations: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i="1">
                <a:solidFill>
                  <a:srgbClr val="E36C09"/>
                </a:solidFill>
                <a:latin typeface="Calibri"/>
                <a:cs typeface="Calibri"/>
              </a:rPr>
              <a:t>finite</a:t>
            </a:r>
            <a:r>
              <a:rPr sz="1800" i="1" spc="-25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or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i="1" spc="-10">
                <a:solidFill>
                  <a:srgbClr val="E36C09"/>
                </a:solidFill>
                <a:latin typeface="Calibri"/>
                <a:cs typeface="Calibri"/>
              </a:rPr>
              <a:t>infinite</a:t>
            </a:r>
            <a:r>
              <a:rPr sz="1800" spc="-10">
                <a:solidFill>
                  <a:srgbClr val="E36C09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1800" b="1">
                <a:solidFill>
                  <a:srgbClr val="0070C0"/>
                </a:solidFill>
                <a:latin typeface="Calibri"/>
                <a:cs typeface="Calibri"/>
              </a:rPr>
              <a:t>Sample</a:t>
            </a:r>
            <a:r>
              <a:rPr sz="1800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r>
              <a:rPr sz="1800" spc="-3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subset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population.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>
                <a:solidFill>
                  <a:srgbClr val="0070C0"/>
                </a:solidFill>
                <a:latin typeface="Calibri"/>
                <a:cs typeface="Calibri"/>
              </a:rPr>
              <a:t>Variable</a:t>
            </a:r>
            <a:r>
              <a:rPr sz="1800" spc="-10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r>
              <a:rPr sz="1800" spc="-3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characteristic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about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each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individual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element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population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or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sample.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800">
              <a:latin typeface="Calibri"/>
              <a:cs typeface="Calibri"/>
            </a:endParaRPr>
          </a:p>
          <a:p>
            <a:pPr marL="12700" marR="155575">
              <a:lnSpc>
                <a:spcPct val="100000"/>
              </a:lnSpc>
            </a:pPr>
            <a:r>
              <a:rPr sz="1800" b="1">
                <a:solidFill>
                  <a:srgbClr val="0070C0"/>
                </a:solidFill>
                <a:latin typeface="Calibri"/>
                <a:cs typeface="Calibri"/>
              </a:rPr>
              <a:t>Data</a:t>
            </a:r>
            <a:r>
              <a:rPr sz="1800" b="1" spc="-4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0070C0"/>
                </a:solidFill>
                <a:latin typeface="Calibri"/>
                <a:cs typeface="Calibri"/>
              </a:rPr>
              <a:t>(singular)</a:t>
            </a:r>
            <a:r>
              <a:rPr sz="1800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r>
              <a:rPr sz="1800" spc="-4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value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variable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associated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with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one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element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population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25">
                <a:latin typeface="Calibri"/>
                <a:cs typeface="Calibri"/>
              </a:rPr>
              <a:t>or </a:t>
            </a:r>
            <a:r>
              <a:rPr sz="1800">
                <a:latin typeface="Calibri"/>
                <a:cs typeface="Calibri"/>
              </a:rPr>
              <a:t>sample.</a:t>
            </a:r>
            <a:r>
              <a:rPr sz="1800" spc="3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This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value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may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be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25">
                <a:latin typeface="Calibri"/>
                <a:cs typeface="Calibri"/>
              </a:rPr>
              <a:t>number,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word,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or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symbol.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2000"/>
              </a:lnSpc>
            </a:pPr>
            <a:fld id="{81D60167-4931-47E6-BA6A-407CBD079E47}" type="slidenum">
              <a:rPr spc="-50"/>
              <a:t>6</a:t>
            </a:fld>
            <a:endParaRPr spc="-50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78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0"/>
              <a:t>Definition</a:t>
            </a:r>
            <a:r>
              <a:rPr spc="-60"/>
              <a:t> </a:t>
            </a:r>
            <a:r>
              <a:rPr/>
              <a:t>to</a:t>
            </a:r>
            <a:r>
              <a:rPr spc="-60"/>
              <a:t> </a:t>
            </a:r>
            <a:r>
              <a:rPr/>
              <a:t>Basic</a:t>
            </a:r>
            <a:r>
              <a:rPr spc="-60"/>
              <a:t> </a:t>
            </a:r>
            <a:r>
              <a:rPr spc="-10"/>
              <a:t>terms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825" y="835405"/>
            <a:ext cx="8347075" cy="3408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12775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0070C0"/>
                </a:solidFill>
                <a:latin typeface="Calibri"/>
                <a:cs typeface="Calibri"/>
              </a:rPr>
              <a:t>Data</a:t>
            </a:r>
            <a:r>
              <a:rPr sz="1800" b="1" spc="-5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0070C0"/>
                </a:solidFill>
                <a:latin typeface="Calibri"/>
                <a:cs typeface="Calibri"/>
              </a:rPr>
              <a:t>(plural)</a:t>
            </a:r>
            <a:r>
              <a:rPr sz="1800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r>
              <a:rPr sz="1800" spc="-4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set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values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collected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for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variable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from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each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elements belonging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to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sample.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b="1">
                <a:solidFill>
                  <a:srgbClr val="0070C0"/>
                </a:solidFill>
                <a:latin typeface="Calibri"/>
                <a:cs typeface="Calibri"/>
              </a:rPr>
              <a:t>Random</a:t>
            </a:r>
            <a:r>
              <a:rPr sz="1800" b="1" spc="-5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 b="1" spc="-20">
                <a:solidFill>
                  <a:srgbClr val="0070C0"/>
                </a:solidFill>
                <a:latin typeface="Calibri"/>
                <a:cs typeface="Calibri"/>
              </a:rPr>
              <a:t>Variable</a:t>
            </a:r>
            <a:r>
              <a:rPr sz="1800" spc="-20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r>
              <a:rPr sz="1800" spc="-20">
                <a:latin typeface="Calibri"/>
                <a:cs typeface="Calibri"/>
              </a:rPr>
              <a:t>Variable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are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placeholder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where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you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can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store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anything.It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can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number,or string,sentences.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>
                <a:solidFill>
                  <a:srgbClr val="0070C0"/>
                </a:solidFill>
                <a:latin typeface="Calibri"/>
                <a:cs typeface="Calibri"/>
              </a:rPr>
              <a:t>Experiment</a:t>
            </a:r>
            <a:r>
              <a:rPr sz="1800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r>
              <a:rPr sz="1800" spc="-4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planned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activity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whose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results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yield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set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>
                <a:solidFill>
                  <a:srgbClr val="0070C0"/>
                </a:solidFill>
                <a:latin typeface="Calibri"/>
                <a:cs typeface="Calibri"/>
              </a:rPr>
              <a:t>Parameter</a:t>
            </a:r>
            <a:r>
              <a:rPr sz="1800" spc="-10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r>
              <a:rPr sz="1800" spc="-4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numerical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value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summarizing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all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data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an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entire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population.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>
                <a:solidFill>
                  <a:srgbClr val="0070C0"/>
                </a:solidFill>
                <a:latin typeface="Calibri"/>
                <a:cs typeface="Calibri"/>
              </a:rPr>
              <a:t>Statistic</a:t>
            </a:r>
            <a:r>
              <a:rPr sz="1800" spc="-10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r>
              <a:rPr sz="1800" spc="-4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numerical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value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summarizing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sample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2000"/>
              </a:lnSpc>
            </a:pPr>
            <a:fld id="{81D60167-4931-47E6-BA6A-407CBD079E47}" type="slidenum">
              <a:rPr spc="-50"/>
              <a:t>7</a:t>
            </a:fld>
            <a:endParaRPr spc="-50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88705"/>
            <a:ext cx="9144000" cy="255270"/>
          </a:xfrm>
          <a:custGeom>
            <a:avLst/>
            <a:gdLst/>
            <a:ahLst/>
            <a:cxnLst/>
            <a:rect l="l" t="t" r="r" b="b"/>
            <a:pathLst>
              <a:path w="9144000" h="255270">
                <a:moveTo>
                  <a:pt x="9143999" y="254794"/>
                </a:moveTo>
                <a:lnTo>
                  <a:pt x="0" y="254794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4794"/>
                </a:lnTo>
                <a:close/>
              </a:path>
            </a:pathLst>
          </a:custGeom>
          <a:solidFill>
            <a:srgbClr val="538CD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538CD4"/>
                </a:solidFill>
              </a:rPr>
              <a:t>Examples</a:t>
            </a:r>
          </a:p>
        </p:txBody>
      </p:sp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666750"/>
            <a:ext cx="9143999" cy="406538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2000"/>
              </a:lnSpc>
            </a:pPr>
            <a:fld id="{81D60167-4931-47E6-BA6A-407CBD079E47}" type="slidenum">
              <a:rPr spc="-50"/>
              <a:t>8</a:t>
            </a:fld>
            <a:endParaRPr spc="-50"/>
          </a:p>
        </p:txBody>
      </p:sp>
      <p:sp>
        <p:nvSpPr>
          <p:cNvPr id="8" name="object 8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538CD4"/>
                </a:solidFill>
              </a:rPr>
              <a:t>Types</a:t>
            </a:r>
            <a:r>
              <a:rPr spc="-80">
                <a:solidFill>
                  <a:srgbClr val="538CD4"/>
                </a:solidFill>
              </a:rPr>
              <a:t> </a:t>
            </a:r>
            <a:r>
              <a:rPr>
                <a:solidFill>
                  <a:srgbClr val="538CD4"/>
                </a:solidFill>
              </a:rPr>
              <a:t>of</a:t>
            </a:r>
            <a:r>
              <a:rPr spc="-80">
                <a:solidFill>
                  <a:srgbClr val="538CD4"/>
                </a:solidFill>
              </a:rPr>
              <a:t> </a:t>
            </a:r>
            <a:r>
              <a:rPr spc="-20">
                <a:solidFill>
                  <a:srgbClr val="538CD4"/>
                </a:solidFill>
              </a:rPr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830509" y="951182"/>
            <a:ext cx="6637090" cy="323828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2000"/>
              </a:lnSpc>
            </a:pPr>
            <a:fld id="{81D60167-4931-47E6-BA6A-407CBD079E47}" type="slidenum">
              <a:rPr spc="-50"/>
              <a:t>9</a:t>
            </a:fld>
            <a:endParaRPr spc="-50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538CD4"/>
                </a:solidFill>
              </a:rPr>
              <a:t>Examples</a:t>
            </a:r>
            <a:r>
              <a:rPr spc="-75">
                <a:solidFill>
                  <a:srgbClr val="538CD4"/>
                </a:solidFill>
              </a:rPr>
              <a:t> </a:t>
            </a:r>
            <a:r>
              <a:rPr>
                <a:solidFill>
                  <a:srgbClr val="538CD4"/>
                </a:solidFill>
              </a:rPr>
              <a:t>of</a:t>
            </a:r>
            <a:r>
              <a:rPr spc="-75">
                <a:solidFill>
                  <a:srgbClr val="538CD4"/>
                </a:solidFill>
              </a:rPr>
              <a:t> </a:t>
            </a:r>
            <a:r>
              <a:rPr spc="-10">
                <a:solidFill>
                  <a:srgbClr val="538CD4"/>
                </a:solidFill>
              </a:rPr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038001"/>
            <a:ext cx="8256905" cy="326136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200"/>
              </a:lnSpc>
              <a:spcBef>
                <a:spcPts val="375"/>
              </a:spcBef>
            </a:pPr>
            <a:r>
              <a:rPr sz="2000" i="1">
                <a:solidFill>
                  <a:srgbClr val="E36C09"/>
                </a:solidFill>
                <a:latin typeface="Calibri"/>
                <a:cs typeface="Calibri"/>
              </a:rPr>
              <a:t>Example</a:t>
            </a:r>
            <a:r>
              <a:rPr sz="2000">
                <a:solidFill>
                  <a:srgbClr val="E36C09"/>
                </a:solidFill>
                <a:latin typeface="Calibri"/>
                <a:cs typeface="Calibri"/>
              </a:rPr>
              <a:t>:</a:t>
            </a:r>
            <a:r>
              <a:rPr sz="2000" spc="1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Identify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each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following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as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examples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qualitative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or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numerical variables:</a:t>
            </a:r>
            <a:endParaRPr sz="2000">
              <a:latin typeface="Calibri"/>
              <a:cs typeface="Calibri"/>
            </a:endParaRPr>
          </a:p>
          <a:p>
            <a:pPr marL="469900" marR="2085339" indent="-457200">
              <a:lnSpc>
                <a:spcPts val="2600"/>
              </a:lnSpc>
              <a:spcBef>
                <a:spcPts val="80"/>
              </a:spcBef>
              <a:buAutoNum type="arabicPeriod"/>
              <a:tabLst>
                <a:tab pos="469900" algn="l"/>
              </a:tabLst>
            </a:pPr>
            <a:r>
              <a:rPr sz="2000">
                <a:latin typeface="Calibri"/>
                <a:cs typeface="Calibri"/>
              </a:rPr>
              <a:t>The temperature in </a:t>
            </a:r>
            <a:r>
              <a:rPr sz="2000" spc="-10">
                <a:latin typeface="Calibri"/>
                <a:cs typeface="Calibri"/>
              </a:rPr>
              <a:t>Barrow,</a:t>
            </a:r>
            <a:r>
              <a:rPr sz="2000" spc="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Alaska at 12:00</a:t>
            </a:r>
            <a:r>
              <a:rPr sz="2000" spc="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pm on </a:t>
            </a:r>
            <a:r>
              <a:rPr sz="2000" spc="-25">
                <a:latin typeface="Calibri"/>
                <a:cs typeface="Calibri"/>
              </a:rPr>
              <a:t>any </a:t>
            </a:r>
            <a:r>
              <a:rPr sz="2000">
                <a:latin typeface="Calibri"/>
                <a:cs typeface="Calibri"/>
              </a:rPr>
              <a:t>given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day.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469265" algn="l"/>
              </a:tabLst>
            </a:pPr>
            <a:r>
              <a:rPr sz="2000">
                <a:latin typeface="Calibri"/>
                <a:cs typeface="Calibri"/>
              </a:rPr>
              <a:t>The</a:t>
            </a:r>
            <a:r>
              <a:rPr sz="2000" spc="2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model</a:t>
            </a:r>
            <a:r>
              <a:rPr sz="2000" spc="2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2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automobile.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04"/>
              </a:spcBef>
              <a:buAutoNum type="arabicPeriod"/>
              <a:tabLst>
                <a:tab pos="469265" algn="l"/>
              </a:tabLst>
            </a:pPr>
            <a:r>
              <a:rPr sz="2000">
                <a:latin typeface="Calibri"/>
                <a:cs typeface="Calibri"/>
              </a:rPr>
              <a:t>Whether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or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not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6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volt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lantern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battery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defective.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04"/>
              </a:spcBef>
              <a:buAutoNum type="arabicPeriod"/>
              <a:tabLst>
                <a:tab pos="469265" algn="l"/>
              </a:tabLst>
            </a:pPr>
            <a:r>
              <a:rPr sz="2000">
                <a:latin typeface="Calibri"/>
                <a:cs typeface="Calibri"/>
              </a:rPr>
              <a:t>The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weight</a:t>
            </a:r>
            <a:r>
              <a:rPr sz="2000" spc="2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2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2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lead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pencil.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04"/>
              </a:spcBef>
              <a:buAutoNum type="arabicPeriod"/>
              <a:tabLst>
                <a:tab pos="469265" algn="l"/>
              </a:tabLst>
            </a:pPr>
            <a:r>
              <a:rPr sz="2000">
                <a:latin typeface="Calibri"/>
                <a:cs typeface="Calibri"/>
              </a:rPr>
              <a:t>The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length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time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billed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for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long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distance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telephone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call.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04"/>
              </a:spcBef>
              <a:buAutoNum type="arabicPeriod"/>
              <a:tabLst>
                <a:tab pos="469265" algn="l"/>
              </a:tabLst>
            </a:pPr>
            <a:r>
              <a:rPr sz="2000">
                <a:latin typeface="Calibri"/>
                <a:cs typeface="Calibri"/>
              </a:rPr>
              <a:t>The brand</a:t>
            </a:r>
            <a:r>
              <a:rPr sz="2000" spc="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cereal</a:t>
            </a:r>
            <a:r>
              <a:rPr sz="2000" spc="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children</a:t>
            </a:r>
            <a:r>
              <a:rPr sz="2000" spc="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eat</a:t>
            </a:r>
            <a:r>
              <a:rPr sz="2000" spc="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for</a:t>
            </a:r>
            <a:r>
              <a:rPr sz="2000" spc="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breakfast.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04"/>
              </a:spcBef>
              <a:buAutoNum type="arabicPeriod"/>
              <a:tabLst>
                <a:tab pos="469265" algn="l"/>
              </a:tabLst>
            </a:pPr>
            <a:r>
              <a:rPr sz="2000">
                <a:latin typeface="Calibri"/>
                <a:cs typeface="Calibri"/>
              </a:rPr>
              <a:t>The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type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book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taken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out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library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by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adult.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10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538CD4"/>
                </a:solidFill>
              </a:rPr>
              <a:t>Examples</a:t>
            </a:r>
            <a:r>
              <a:rPr spc="-75">
                <a:solidFill>
                  <a:srgbClr val="538CD4"/>
                </a:solidFill>
              </a:rPr>
              <a:t> </a:t>
            </a:r>
            <a:r>
              <a:rPr>
                <a:solidFill>
                  <a:srgbClr val="538CD4"/>
                </a:solidFill>
              </a:rPr>
              <a:t>of</a:t>
            </a:r>
            <a:r>
              <a:rPr spc="-75">
                <a:solidFill>
                  <a:srgbClr val="538CD4"/>
                </a:solidFill>
              </a:rPr>
              <a:t> </a:t>
            </a:r>
            <a:r>
              <a:rPr spc="-10">
                <a:solidFill>
                  <a:srgbClr val="538CD4"/>
                </a:solidFill>
              </a:rPr>
              <a:t>variables</a:t>
            </a:r>
            <a:r>
              <a:rPr spc="-10">
                <a:solidFill>
                  <a:srgbClr val="538CD4"/>
                </a:solidFill>
                <a:latin typeface="Arial MT"/>
                <a:cs typeface="Arial MT"/>
              </a:rPr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6245" y="1018641"/>
            <a:ext cx="6391275" cy="3032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>
              <a:lnSpc>
                <a:spcPts val="2185"/>
              </a:lnSpc>
              <a:spcBef>
                <a:spcPts val="100"/>
              </a:spcBef>
            </a:pPr>
            <a:r>
              <a:rPr sz="1850" i="1" spc="-10">
                <a:solidFill>
                  <a:srgbClr val="E36C09"/>
                </a:solidFill>
                <a:latin typeface="Calibri"/>
                <a:cs typeface="Calibri"/>
              </a:rPr>
              <a:t>Example</a:t>
            </a:r>
            <a:r>
              <a:rPr sz="1850" spc="-10">
                <a:solidFill>
                  <a:srgbClr val="E36C09"/>
                </a:solidFill>
                <a:latin typeface="Calibri"/>
                <a:cs typeface="Calibri"/>
              </a:rPr>
              <a:t>:</a:t>
            </a:r>
            <a:r>
              <a:rPr sz="1850" spc="-5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Identify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each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of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the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following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as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examples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 spc="-25">
                <a:latin typeface="Calibri"/>
                <a:cs typeface="Calibri"/>
              </a:rPr>
              <a:t>of</a:t>
            </a:r>
            <a:endParaRPr sz="1850">
              <a:latin typeface="Calibri"/>
              <a:cs typeface="Calibri"/>
            </a:endParaRPr>
          </a:p>
          <a:p>
            <a:pPr marL="613410" indent="-600710">
              <a:lnSpc>
                <a:spcPts val="2185"/>
              </a:lnSpc>
              <a:buAutoNum type="arabicParenBoth"/>
              <a:tabLst>
                <a:tab pos="613410" algn="l"/>
              </a:tabLst>
            </a:pPr>
            <a:r>
              <a:rPr sz="1850" spc="-10">
                <a:latin typeface="Calibri"/>
                <a:cs typeface="Calibri"/>
              </a:rPr>
              <a:t>nominal,</a:t>
            </a:r>
            <a:r>
              <a:rPr sz="1850" spc="-45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(2)</a:t>
            </a:r>
            <a:r>
              <a:rPr sz="1850" spc="-45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ordinal,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(3)</a:t>
            </a:r>
            <a:r>
              <a:rPr sz="1850" spc="-45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discrete,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or</a:t>
            </a:r>
            <a:r>
              <a:rPr sz="1850" spc="-45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(4)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continuous</a:t>
            </a:r>
            <a:r>
              <a:rPr sz="1850" spc="-45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variables:</a:t>
            </a:r>
            <a:endParaRPr sz="1850">
              <a:latin typeface="Calibri"/>
              <a:cs typeface="Calibri"/>
            </a:endParaRPr>
          </a:p>
          <a:p>
            <a:pPr marL="613410" lvl="1" indent="-421640">
              <a:lnSpc>
                <a:spcPts val="2185"/>
              </a:lnSpc>
              <a:spcBef>
                <a:spcPts val="2070"/>
              </a:spcBef>
              <a:buFont typeface="Arial MT"/>
              <a:buChar char="•"/>
              <a:tabLst>
                <a:tab pos="613410" algn="l"/>
              </a:tabLst>
            </a:pPr>
            <a:r>
              <a:rPr sz="1850">
                <a:latin typeface="Calibri"/>
                <a:cs typeface="Calibri"/>
              </a:rPr>
              <a:t>The</a:t>
            </a:r>
            <a:r>
              <a:rPr sz="1850" spc="-55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length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of</a:t>
            </a:r>
            <a:r>
              <a:rPr sz="1850" spc="-55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time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until</a:t>
            </a:r>
            <a:r>
              <a:rPr sz="1850" spc="-55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a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pain</a:t>
            </a:r>
            <a:r>
              <a:rPr sz="1850" spc="-55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reliever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begins</a:t>
            </a:r>
            <a:r>
              <a:rPr sz="1850" spc="-55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to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work.</a:t>
            </a:r>
            <a:endParaRPr sz="1850">
              <a:latin typeface="Calibri"/>
              <a:cs typeface="Calibri"/>
            </a:endParaRPr>
          </a:p>
          <a:p>
            <a:pPr marL="613410" lvl="1" indent="-421640">
              <a:lnSpc>
                <a:spcPts val="2145"/>
              </a:lnSpc>
              <a:buFont typeface="Arial MT"/>
              <a:buChar char="•"/>
              <a:tabLst>
                <a:tab pos="613410" algn="l"/>
              </a:tabLst>
            </a:pPr>
            <a:r>
              <a:rPr sz="1850">
                <a:latin typeface="Calibri"/>
                <a:cs typeface="Calibri"/>
              </a:rPr>
              <a:t>The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number</a:t>
            </a:r>
            <a:r>
              <a:rPr sz="1850" spc="-45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of</a:t>
            </a:r>
            <a:r>
              <a:rPr sz="1850" spc="-45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chocolate</a:t>
            </a:r>
            <a:r>
              <a:rPr sz="1850" spc="-45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chips</a:t>
            </a:r>
            <a:r>
              <a:rPr sz="1850" spc="-45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in</a:t>
            </a:r>
            <a:r>
              <a:rPr sz="1850" spc="-45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a</a:t>
            </a:r>
            <a:r>
              <a:rPr sz="1850" spc="-45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cookie.</a:t>
            </a:r>
            <a:endParaRPr sz="1850">
              <a:latin typeface="Calibri"/>
              <a:cs typeface="Calibri"/>
            </a:endParaRPr>
          </a:p>
          <a:p>
            <a:pPr marL="613410" lvl="1" indent="-421640">
              <a:lnSpc>
                <a:spcPts val="2145"/>
              </a:lnSpc>
              <a:buFont typeface="Arial MT"/>
              <a:buChar char="•"/>
              <a:tabLst>
                <a:tab pos="613410" algn="l"/>
              </a:tabLst>
            </a:pPr>
            <a:r>
              <a:rPr sz="1850">
                <a:latin typeface="Calibri"/>
                <a:cs typeface="Calibri"/>
              </a:rPr>
              <a:t>The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number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of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colors</a:t>
            </a:r>
            <a:r>
              <a:rPr sz="1850" spc="-45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used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in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a</a:t>
            </a:r>
            <a:r>
              <a:rPr sz="1850" spc="-45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statistics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textbook.</a:t>
            </a:r>
            <a:endParaRPr sz="1850">
              <a:latin typeface="Calibri"/>
              <a:cs typeface="Calibri"/>
            </a:endParaRPr>
          </a:p>
          <a:p>
            <a:pPr marL="613410" lvl="1" indent="-421640">
              <a:lnSpc>
                <a:spcPts val="2145"/>
              </a:lnSpc>
              <a:buFont typeface="Arial MT"/>
              <a:buChar char="•"/>
              <a:tabLst>
                <a:tab pos="613410" algn="l"/>
              </a:tabLst>
            </a:pPr>
            <a:r>
              <a:rPr sz="1850">
                <a:latin typeface="Calibri"/>
                <a:cs typeface="Calibri"/>
              </a:rPr>
              <a:t>The</a:t>
            </a:r>
            <a:r>
              <a:rPr sz="1850" spc="-30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brand</a:t>
            </a:r>
            <a:r>
              <a:rPr sz="1850" spc="-3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of</a:t>
            </a:r>
            <a:r>
              <a:rPr sz="1850" spc="-30">
                <a:latin typeface="Calibri"/>
                <a:cs typeface="Calibri"/>
              </a:rPr>
              <a:t> </a:t>
            </a:r>
            <a:r>
              <a:rPr sz="1850" spc="-20">
                <a:latin typeface="Calibri"/>
                <a:cs typeface="Calibri"/>
              </a:rPr>
              <a:t>refrigerator</a:t>
            </a:r>
            <a:r>
              <a:rPr sz="1850" spc="-3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in</a:t>
            </a:r>
            <a:r>
              <a:rPr sz="1850" spc="-25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a</a:t>
            </a:r>
            <a:r>
              <a:rPr sz="1850" spc="-30">
                <a:latin typeface="Calibri"/>
                <a:cs typeface="Calibri"/>
              </a:rPr>
              <a:t> </a:t>
            </a:r>
            <a:r>
              <a:rPr sz="1850" spc="-20">
                <a:latin typeface="Calibri"/>
                <a:cs typeface="Calibri"/>
              </a:rPr>
              <a:t>home.</a:t>
            </a:r>
            <a:endParaRPr sz="1850">
              <a:latin typeface="Calibri"/>
              <a:cs typeface="Calibri"/>
            </a:endParaRPr>
          </a:p>
          <a:p>
            <a:pPr marL="613410" lvl="1" indent="-421640">
              <a:lnSpc>
                <a:spcPts val="2145"/>
              </a:lnSpc>
              <a:buFont typeface="Arial MT"/>
              <a:buChar char="•"/>
              <a:tabLst>
                <a:tab pos="613410" algn="l"/>
              </a:tabLst>
            </a:pPr>
            <a:r>
              <a:rPr sz="1850">
                <a:latin typeface="Calibri"/>
                <a:cs typeface="Calibri"/>
              </a:rPr>
              <a:t>The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overall</a:t>
            </a:r>
            <a:r>
              <a:rPr sz="1850" spc="-45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satisfaction</a:t>
            </a:r>
            <a:r>
              <a:rPr sz="1850" spc="-45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rating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of</a:t>
            </a:r>
            <a:r>
              <a:rPr sz="1850" spc="-45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a</a:t>
            </a:r>
            <a:r>
              <a:rPr sz="1850" spc="-45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new</a:t>
            </a:r>
            <a:r>
              <a:rPr sz="1850" spc="-50">
                <a:latin typeface="Calibri"/>
                <a:cs typeface="Calibri"/>
              </a:rPr>
              <a:t> </a:t>
            </a:r>
            <a:r>
              <a:rPr sz="1850" spc="-20">
                <a:latin typeface="Calibri"/>
                <a:cs typeface="Calibri"/>
              </a:rPr>
              <a:t>car.</a:t>
            </a:r>
            <a:endParaRPr sz="1850">
              <a:latin typeface="Calibri"/>
              <a:cs typeface="Calibri"/>
            </a:endParaRPr>
          </a:p>
          <a:p>
            <a:pPr marL="613410" lvl="1" indent="-421640">
              <a:lnSpc>
                <a:spcPts val="2145"/>
              </a:lnSpc>
              <a:buFont typeface="Arial MT"/>
              <a:buChar char="•"/>
              <a:tabLst>
                <a:tab pos="613410" algn="l"/>
              </a:tabLst>
            </a:pPr>
            <a:r>
              <a:rPr sz="1850">
                <a:latin typeface="Calibri"/>
                <a:cs typeface="Calibri"/>
              </a:rPr>
              <a:t>The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number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of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files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on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a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 spc="-20">
                <a:latin typeface="Calibri"/>
                <a:cs typeface="Calibri"/>
              </a:rPr>
              <a:t>computer’s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hard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disk.</a:t>
            </a:r>
            <a:endParaRPr sz="1850">
              <a:latin typeface="Calibri"/>
              <a:cs typeface="Calibri"/>
            </a:endParaRPr>
          </a:p>
          <a:p>
            <a:pPr marL="613410" lvl="1" indent="-421640">
              <a:lnSpc>
                <a:spcPts val="2145"/>
              </a:lnSpc>
              <a:buFont typeface="Arial MT"/>
              <a:buChar char="•"/>
              <a:tabLst>
                <a:tab pos="613410" algn="l"/>
              </a:tabLst>
            </a:pPr>
            <a:r>
              <a:rPr sz="1850">
                <a:latin typeface="Calibri"/>
                <a:cs typeface="Calibri"/>
              </a:rPr>
              <a:t>The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pH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level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of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the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water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in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a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swimming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pool.</a:t>
            </a:r>
            <a:endParaRPr sz="1850">
              <a:latin typeface="Calibri"/>
              <a:cs typeface="Calibri"/>
            </a:endParaRPr>
          </a:p>
          <a:p>
            <a:pPr marL="613410" lvl="1" indent="-421640">
              <a:lnSpc>
                <a:spcPts val="2185"/>
              </a:lnSpc>
              <a:buFont typeface="Arial MT"/>
              <a:buChar char="•"/>
              <a:tabLst>
                <a:tab pos="613410" algn="l"/>
              </a:tabLst>
            </a:pPr>
            <a:r>
              <a:rPr sz="1850">
                <a:latin typeface="Calibri"/>
                <a:cs typeface="Calibri"/>
              </a:rPr>
              <a:t>The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number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of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staples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in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>
                <a:latin typeface="Calibri"/>
                <a:cs typeface="Calibri"/>
              </a:rPr>
              <a:t>a</a:t>
            </a:r>
            <a:r>
              <a:rPr sz="1850" spc="-40">
                <a:latin typeface="Calibri"/>
                <a:cs typeface="Calibri"/>
              </a:rPr>
              <a:t> </a:t>
            </a:r>
            <a:r>
              <a:rPr sz="1850" spc="-10">
                <a:latin typeface="Calibri"/>
                <a:cs typeface="Calibri"/>
              </a:rPr>
              <a:t>stapler.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11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698" y="4912598"/>
            <a:ext cx="3429635" cy="16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/>
          <a:stretch>
            <a:fillRect/>
          </a:stretch>
        </p:blipFill>
        <p:spPr>
          <a:xfrm>
            <a:off x="494537" y="1080790"/>
            <a:ext cx="3416807" cy="30571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75113" y="1228677"/>
            <a:ext cx="37941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>
                <a:latin typeface="Calibri"/>
                <a:cs typeface="Calibri"/>
              </a:rPr>
              <a:t>Harnessing</a:t>
            </a:r>
            <a:r>
              <a:rPr sz="4400" b="1" spc="-50">
                <a:latin typeface="Calibri"/>
                <a:cs typeface="Calibri"/>
              </a:rPr>
              <a:t> </a:t>
            </a:r>
            <a:r>
              <a:rPr sz="4400" b="1" spc="-20">
                <a:latin typeface="Calibri"/>
                <a:cs typeface="Calibri"/>
              </a:rPr>
              <a:t>Data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60500" y="2280738"/>
            <a:ext cx="18224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>
                <a:solidFill>
                  <a:srgbClr val="888888"/>
                </a:solidFill>
                <a:latin typeface="Calibri"/>
                <a:cs typeface="Calibri"/>
              </a:rPr>
              <a:t>Module</a:t>
            </a:r>
            <a:r>
              <a:rPr sz="3200" spc="-7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3200" spc="-7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5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64489" y="4659868"/>
            <a:ext cx="154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887944"/>
            <a:ext cx="17049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00"/>
              </a:spcBef>
            </a:pPr>
            <a:r>
              <a:rPr sz="2800"/>
              <a:t>Steps</a:t>
            </a:r>
            <a:r>
              <a:rPr sz="2800" spc="-80"/>
              <a:t> </a:t>
            </a:r>
            <a:r>
              <a:rPr sz="2800"/>
              <a:t>Involved</a:t>
            </a:r>
            <a:r>
              <a:rPr sz="2800" spc="-75"/>
              <a:t> </a:t>
            </a:r>
            <a:r>
              <a:rPr sz="2800"/>
              <a:t>In</a:t>
            </a:r>
            <a:r>
              <a:rPr sz="2800" spc="-80"/>
              <a:t> </a:t>
            </a:r>
            <a:r>
              <a:rPr sz="2800" spc="-10"/>
              <a:t>Descriptive</a:t>
            </a:r>
            <a:r>
              <a:rPr sz="2800" spc="-75"/>
              <a:t> </a:t>
            </a:r>
            <a:r>
              <a:rPr sz="2800" spc="-10"/>
              <a:t>Statistics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81626" y="1102715"/>
            <a:ext cx="7406640" cy="188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 indent="-290830">
              <a:lnSpc>
                <a:spcPct val="100000"/>
              </a:lnSpc>
              <a:spcBef>
                <a:spcPts val="100"/>
              </a:spcBef>
              <a:buSzPct val="128571"/>
              <a:buFont typeface="Arial MT"/>
              <a:buChar char="•"/>
              <a:tabLst>
                <a:tab pos="303530" algn="l"/>
              </a:tabLst>
            </a:pPr>
            <a:r>
              <a:rPr sz="2100" spc="-10">
                <a:latin typeface="Calibri"/>
                <a:cs typeface="Calibri"/>
              </a:rPr>
              <a:t>Collecting</a:t>
            </a:r>
            <a:r>
              <a:rPr sz="2100" spc="-2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the</a:t>
            </a:r>
            <a:r>
              <a:rPr sz="2100" spc="-25">
                <a:latin typeface="Calibri"/>
                <a:cs typeface="Calibri"/>
              </a:rPr>
              <a:t> </a:t>
            </a:r>
            <a:r>
              <a:rPr sz="2100" spc="-20">
                <a:latin typeface="Calibri"/>
                <a:cs typeface="Calibri"/>
              </a:rPr>
              <a:t>data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0"/>
              </a:spcBef>
              <a:buFont typeface="Arial MT"/>
              <a:buChar char="•"/>
            </a:pPr>
            <a:endParaRPr sz="2100">
              <a:latin typeface="Calibri"/>
              <a:cs typeface="Calibri"/>
            </a:endParaRPr>
          </a:p>
          <a:p>
            <a:pPr marL="303530" indent="-290830">
              <a:lnSpc>
                <a:spcPct val="100000"/>
              </a:lnSpc>
              <a:spcBef>
                <a:spcPts val="5"/>
              </a:spcBef>
              <a:buSzPct val="128571"/>
              <a:buFont typeface="Arial MT"/>
              <a:buChar char="•"/>
              <a:tabLst>
                <a:tab pos="303530" algn="l"/>
              </a:tabLst>
            </a:pPr>
            <a:r>
              <a:rPr sz="2100" spc="-10">
                <a:latin typeface="Calibri"/>
                <a:cs typeface="Calibri"/>
              </a:rPr>
              <a:t>Presenting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the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data-</a:t>
            </a:r>
            <a:r>
              <a:rPr sz="2100">
                <a:latin typeface="Calibri"/>
                <a:cs typeface="Calibri"/>
              </a:rPr>
              <a:t>-&gt;Visualization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using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Matplotlib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and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Seaborn.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0"/>
              </a:spcBef>
              <a:buFont typeface="Arial MT"/>
              <a:buChar char="•"/>
            </a:pPr>
            <a:endParaRPr sz="2100">
              <a:latin typeface="Calibri"/>
              <a:cs typeface="Calibri"/>
            </a:endParaRPr>
          </a:p>
          <a:p>
            <a:pPr marL="303530" indent="-290830">
              <a:lnSpc>
                <a:spcPct val="100000"/>
              </a:lnSpc>
              <a:spcBef>
                <a:spcPts val="5"/>
              </a:spcBef>
              <a:buSzPct val="128571"/>
              <a:buFont typeface="Arial MT"/>
              <a:buChar char="•"/>
              <a:tabLst>
                <a:tab pos="303530" algn="l"/>
              </a:tabLst>
            </a:pPr>
            <a:r>
              <a:rPr sz="2100">
                <a:latin typeface="Calibri"/>
                <a:cs typeface="Calibri"/>
              </a:rPr>
              <a:t>Summarizing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the</a:t>
            </a:r>
            <a:r>
              <a:rPr sz="2100" spc="-40">
                <a:latin typeface="Calibri"/>
                <a:cs typeface="Calibri"/>
              </a:rPr>
              <a:t> </a:t>
            </a:r>
            <a:r>
              <a:rPr sz="2100" spc="-25">
                <a:latin typeface="Calibri"/>
                <a:cs typeface="Calibri"/>
              </a:rPr>
              <a:t>data-</a:t>
            </a:r>
            <a:r>
              <a:rPr sz="2100" spc="-20">
                <a:latin typeface="Calibri"/>
                <a:cs typeface="Calibri"/>
              </a:rPr>
              <a:t>-</a:t>
            </a:r>
            <a:r>
              <a:rPr sz="2100">
                <a:latin typeface="Calibri"/>
                <a:cs typeface="Calibri"/>
              </a:rPr>
              <a:t>&gt;Module</a:t>
            </a:r>
            <a:r>
              <a:rPr sz="2100" spc="-40">
                <a:latin typeface="Calibri"/>
                <a:cs typeface="Calibri"/>
              </a:rPr>
              <a:t> </a:t>
            </a:r>
            <a:r>
              <a:rPr sz="2100" spc="-50">
                <a:latin typeface="Calibri"/>
                <a:cs typeface="Calibri"/>
              </a:rPr>
              <a:t>3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13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78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/>
              <a:t>Making</a:t>
            </a:r>
            <a:r>
              <a:rPr spc="-55"/>
              <a:t> </a:t>
            </a:r>
            <a:r>
              <a:rPr/>
              <a:t>sense</a:t>
            </a:r>
            <a:r>
              <a:rPr spc="-60"/>
              <a:t> </a:t>
            </a:r>
            <a:r>
              <a:rPr/>
              <a:t>of</a:t>
            </a:r>
            <a:r>
              <a:rPr spc="-55"/>
              <a:t> </a:t>
            </a:r>
            <a:r>
              <a:rPr/>
              <a:t>the</a:t>
            </a:r>
            <a:r>
              <a:rPr spc="-55"/>
              <a:t> </a:t>
            </a:r>
            <a:r>
              <a:rPr spc="-2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062990"/>
            <a:ext cx="8061325" cy="2190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61950" algn="l"/>
                <a:tab pos="1306195" algn="l"/>
                <a:tab pos="2122805" algn="l"/>
                <a:tab pos="2483485" algn="l"/>
                <a:tab pos="3337560" algn="l"/>
                <a:tab pos="4038600" algn="l"/>
                <a:tab pos="4586605" algn="l"/>
                <a:tab pos="5911850" algn="l"/>
                <a:tab pos="6805930" algn="l"/>
                <a:tab pos="7498080" algn="l"/>
              </a:tabLst>
            </a:pPr>
            <a:r>
              <a:rPr sz="2000" spc="-50">
                <a:latin typeface="Calibri"/>
                <a:cs typeface="Calibri"/>
              </a:rPr>
              <a:t>A</a:t>
            </a:r>
            <a:r>
              <a:rPr sz="2000">
                <a:latin typeface="Calibri"/>
                <a:cs typeface="Calibri"/>
              </a:rPr>
              <a:t>	</a:t>
            </a:r>
            <a:r>
              <a:rPr sz="2000" spc="-10">
                <a:latin typeface="Calibri"/>
                <a:cs typeface="Calibri"/>
              </a:rPr>
              <a:t>sample</a:t>
            </a:r>
            <a:r>
              <a:rPr sz="2000">
                <a:latin typeface="Calibri"/>
                <a:cs typeface="Calibri"/>
              </a:rPr>
              <a:t>	</a:t>
            </a:r>
            <a:r>
              <a:rPr sz="2000" spc="-10">
                <a:latin typeface="Calibri"/>
                <a:cs typeface="Calibri"/>
              </a:rPr>
              <a:t>which</a:t>
            </a:r>
            <a:r>
              <a:rPr sz="2000">
                <a:latin typeface="Calibri"/>
                <a:cs typeface="Calibri"/>
              </a:rPr>
              <a:t>	</a:t>
            </a:r>
            <a:r>
              <a:rPr sz="2000" spc="-25">
                <a:latin typeface="Calibri"/>
                <a:cs typeface="Calibri"/>
              </a:rPr>
              <a:t>is</a:t>
            </a:r>
            <a:r>
              <a:rPr sz="2000">
                <a:latin typeface="Calibri"/>
                <a:cs typeface="Calibri"/>
              </a:rPr>
              <a:t>	</a:t>
            </a:r>
            <a:r>
              <a:rPr sz="2000" spc="-20">
                <a:latin typeface="Calibri"/>
                <a:cs typeface="Calibri"/>
              </a:rPr>
              <a:t>drawn</a:t>
            </a:r>
            <a:r>
              <a:rPr sz="2000">
                <a:latin typeface="Calibri"/>
                <a:cs typeface="Calibri"/>
              </a:rPr>
              <a:t>	</a:t>
            </a:r>
            <a:r>
              <a:rPr sz="2000" spc="-20">
                <a:latin typeface="Calibri"/>
                <a:cs typeface="Calibri"/>
              </a:rPr>
              <a:t>from</a:t>
            </a:r>
            <a:r>
              <a:rPr sz="2000">
                <a:latin typeface="Calibri"/>
                <a:cs typeface="Calibri"/>
              </a:rPr>
              <a:t>	</a:t>
            </a:r>
            <a:r>
              <a:rPr sz="2000" spc="-25">
                <a:latin typeface="Calibri"/>
                <a:cs typeface="Calibri"/>
              </a:rPr>
              <a:t>the</a:t>
            </a:r>
            <a:r>
              <a:rPr sz="2000">
                <a:latin typeface="Calibri"/>
                <a:cs typeface="Calibri"/>
              </a:rPr>
              <a:t>	</a:t>
            </a:r>
            <a:r>
              <a:rPr sz="2000" spc="-10">
                <a:latin typeface="Calibri"/>
                <a:cs typeface="Calibri"/>
              </a:rPr>
              <a:t>population</a:t>
            </a:r>
            <a:r>
              <a:rPr sz="2000">
                <a:latin typeface="Calibri"/>
                <a:cs typeface="Calibri"/>
              </a:rPr>
              <a:t>	</a:t>
            </a:r>
            <a:r>
              <a:rPr sz="2000" spc="-10">
                <a:latin typeface="Calibri"/>
                <a:cs typeface="Calibri"/>
              </a:rPr>
              <a:t>should</a:t>
            </a:r>
            <a:r>
              <a:rPr sz="2000">
                <a:latin typeface="Calibri"/>
                <a:cs typeface="Calibri"/>
              </a:rPr>
              <a:t>	</a:t>
            </a:r>
            <a:r>
              <a:rPr sz="2000" spc="-20">
                <a:latin typeface="Calibri"/>
                <a:cs typeface="Calibri"/>
              </a:rPr>
              <a:t>have</a:t>
            </a:r>
            <a:r>
              <a:rPr sz="2000">
                <a:latin typeface="Calibri"/>
                <a:cs typeface="Calibri"/>
              </a:rPr>
              <a:t>	</a:t>
            </a:r>
            <a:r>
              <a:rPr sz="2000" spc="-20">
                <a:latin typeface="Calibri"/>
                <a:cs typeface="Calibri"/>
              </a:rPr>
              <a:t>same characteristics</a:t>
            </a:r>
            <a:r>
              <a:rPr sz="2000" spc="-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as</a:t>
            </a:r>
            <a:r>
              <a:rPr sz="2000" spc="-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1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population.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Calibri"/>
              <a:cs typeface="Calibri"/>
            </a:endParaRPr>
          </a:p>
          <a:p>
            <a:pPr marL="127000">
              <a:lnSpc>
                <a:spcPct val="100000"/>
              </a:lnSpc>
            </a:pPr>
            <a:r>
              <a:rPr sz="1800" spc="-10">
                <a:latin typeface="Calibri"/>
                <a:cs typeface="Calibri"/>
              </a:rPr>
              <a:t>Sampling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can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25">
                <a:latin typeface="Calibri"/>
                <a:cs typeface="Calibri"/>
              </a:rPr>
              <a:t>be:</a:t>
            </a:r>
            <a:endParaRPr sz="1800">
              <a:latin typeface="Calibri"/>
              <a:cs typeface="Calibri"/>
            </a:endParaRPr>
          </a:p>
          <a:p>
            <a:pPr marL="469265" indent="-30861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469265" algn="l"/>
              </a:tabLst>
            </a:pPr>
            <a:r>
              <a:rPr sz="1800" b="1">
                <a:solidFill>
                  <a:srgbClr val="E36C09"/>
                </a:solidFill>
                <a:latin typeface="Calibri"/>
                <a:cs typeface="Calibri"/>
              </a:rPr>
              <a:t>with</a:t>
            </a:r>
            <a:r>
              <a:rPr sz="1800" b="1" spc="-5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E36C09"/>
                </a:solidFill>
                <a:latin typeface="Calibri"/>
                <a:cs typeface="Calibri"/>
              </a:rPr>
              <a:t>replacement</a:t>
            </a:r>
            <a:r>
              <a:rPr sz="1800">
                <a:solidFill>
                  <a:srgbClr val="E36C09"/>
                </a:solidFill>
                <a:latin typeface="Calibri"/>
                <a:cs typeface="Calibri"/>
              </a:rPr>
              <a:t>:</a:t>
            </a:r>
            <a:r>
              <a:rPr sz="1800" spc="-4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member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population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may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be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chosen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more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than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once</a:t>
            </a:r>
            <a:endParaRPr sz="1800">
              <a:latin typeface="Calibri"/>
              <a:cs typeface="Calibri"/>
            </a:endParaRPr>
          </a:p>
          <a:p>
            <a:pPr marL="469900" marR="408940" indent="-309245">
              <a:lnSpc>
                <a:spcPct val="100000"/>
              </a:lnSpc>
              <a:spcBef>
                <a:spcPts val="400"/>
              </a:spcBef>
              <a:buChar char="•"/>
              <a:tabLst>
                <a:tab pos="469900" algn="l"/>
                <a:tab pos="521334" algn="l"/>
              </a:tabLst>
            </a:pPr>
            <a:r>
              <a:rPr sz="1800">
                <a:latin typeface="Arial MT"/>
                <a:cs typeface="Arial MT"/>
              </a:rPr>
              <a:t>	</a:t>
            </a:r>
            <a:r>
              <a:rPr sz="1800" b="1">
                <a:solidFill>
                  <a:srgbClr val="E36C09"/>
                </a:solidFill>
                <a:latin typeface="Calibri"/>
                <a:cs typeface="Calibri"/>
              </a:rPr>
              <a:t>without</a:t>
            </a:r>
            <a:r>
              <a:rPr sz="1800" b="1" spc="-5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E36C09"/>
                </a:solidFill>
                <a:latin typeface="Calibri"/>
                <a:cs typeface="Calibri"/>
              </a:rPr>
              <a:t>replacement</a:t>
            </a:r>
            <a:r>
              <a:rPr sz="1800">
                <a:solidFill>
                  <a:srgbClr val="E36C09"/>
                </a:solidFill>
                <a:latin typeface="Calibri"/>
                <a:cs typeface="Calibri"/>
              </a:rPr>
              <a:t>:</a:t>
            </a:r>
            <a:r>
              <a:rPr sz="1800" spc="-4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member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population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may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be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chosen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only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once </a:t>
            </a:r>
            <a:r>
              <a:rPr sz="1800" spc="-10">
                <a:latin typeface="Calibri"/>
                <a:cs typeface="Calibri"/>
              </a:rPr>
              <a:t>(lottery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ticket)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14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/>
              <a:t>Collecting</a:t>
            </a:r>
            <a:r>
              <a:rPr spc="-125"/>
              <a:t> </a:t>
            </a:r>
            <a:r>
              <a:rPr/>
              <a:t>The</a:t>
            </a:r>
            <a:r>
              <a:rPr spc="-120"/>
              <a:t> </a:t>
            </a:r>
            <a:r>
              <a:rPr spc="-2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124" y="751822"/>
            <a:ext cx="8028940" cy="38493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325"/>
              </a:lnSpc>
              <a:spcBef>
                <a:spcPts val="130"/>
              </a:spcBef>
            </a:pPr>
            <a:r>
              <a:rPr sz="1950" b="1">
                <a:solidFill>
                  <a:srgbClr val="F69646"/>
                </a:solidFill>
                <a:latin typeface="Calibri"/>
                <a:cs typeface="Calibri"/>
              </a:rPr>
              <a:t>Step1:-</a:t>
            </a:r>
            <a:r>
              <a:rPr sz="1950">
                <a:latin typeface="Calibri"/>
                <a:cs typeface="Calibri"/>
              </a:rPr>
              <a:t>Define</a:t>
            </a:r>
            <a:r>
              <a:rPr sz="1950" spc="2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the</a:t>
            </a:r>
            <a:r>
              <a:rPr sz="1950" spc="2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object</a:t>
            </a:r>
            <a:r>
              <a:rPr sz="1950" spc="2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or</a:t>
            </a:r>
            <a:r>
              <a:rPr sz="1950" spc="2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aim</a:t>
            </a:r>
            <a:r>
              <a:rPr sz="1950" spc="2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of</a:t>
            </a:r>
            <a:r>
              <a:rPr sz="1950" spc="2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the</a:t>
            </a:r>
            <a:r>
              <a:rPr sz="1950" spc="25">
                <a:latin typeface="Calibri"/>
                <a:cs typeface="Calibri"/>
              </a:rPr>
              <a:t> </a:t>
            </a:r>
            <a:r>
              <a:rPr sz="1950" spc="-10">
                <a:latin typeface="Calibri"/>
                <a:cs typeface="Calibri"/>
              </a:rPr>
              <a:t>experiment.</a:t>
            </a:r>
            <a:endParaRPr sz="1950">
              <a:latin typeface="Calibri"/>
              <a:cs typeface="Calibri"/>
            </a:endParaRPr>
          </a:p>
          <a:p>
            <a:pPr marL="1321435">
              <a:lnSpc>
                <a:spcPts val="2325"/>
              </a:lnSpc>
            </a:pPr>
            <a:r>
              <a:rPr sz="1950">
                <a:latin typeface="Calibri"/>
                <a:cs typeface="Calibri"/>
              </a:rPr>
              <a:t>i.e</a:t>
            </a:r>
            <a:r>
              <a:rPr sz="1950" spc="43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Estimate the</a:t>
            </a:r>
            <a:r>
              <a:rPr sz="1950" spc="-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average life of</a:t>
            </a:r>
            <a:r>
              <a:rPr sz="1950" spc="-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electronic </a:t>
            </a:r>
            <a:r>
              <a:rPr sz="1950" spc="-10">
                <a:latin typeface="Calibri"/>
                <a:cs typeface="Calibri"/>
              </a:rPr>
              <a:t>component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10"/>
              </a:spcBef>
            </a:pPr>
            <a:endParaRPr sz="1950">
              <a:latin typeface="Calibri"/>
              <a:cs typeface="Calibri"/>
            </a:endParaRPr>
          </a:p>
          <a:p>
            <a:pPr marL="12700">
              <a:lnSpc>
                <a:spcPts val="2325"/>
              </a:lnSpc>
              <a:spcBef>
                <a:spcPts val="5"/>
              </a:spcBef>
            </a:pPr>
            <a:r>
              <a:rPr sz="1950" b="1">
                <a:solidFill>
                  <a:srgbClr val="F69646"/>
                </a:solidFill>
                <a:latin typeface="Calibri"/>
                <a:cs typeface="Calibri"/>
              </a:rPr>
              <a:t>Step2:-</a:t>
            </a:r>
            <a:r>
              <a:rPr sz="1950">
                <a:latin typeface="Calibri"/>
                <a:cs typeface="Calibri"/>
              </a:rPr>
              <a:t>Define</a:t>
            </a:r>
            <a:r>
              <a:rPr sz="1950" spc="2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the</a:t>
            </a:r>
            <a:r>
              <a:rPr sz="1950" spc="2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variable</a:t>
            </a:r>
            <a:r>
              <a:rPr sz="1950" spc="2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and</a:t>
            </a:r>
            <a:r>
              <a:rPr sz="1950" spc="2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population</a:t>
            </a:r>
            <a:r>
              <a:rPr sz="1950" spc="2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of</a:t>
            </a:r>
            <a:r>
              <a:rPr sz="1950" spc="30">
                <a:latin typeface="Calibri"/>
                <a:cs typeface="Calibri"/>
              </a:rPr>
              <a:t> </a:t>
            </a:r>
            <a:r>
              <a:rPr sz="1950" spc="-10">
                <a:latin typeface="Calibri"/>
                <a:cs typeface="Calibri"/>
              </a:rPr>
              <a:t>interest.</a:t>
            </a:r>
            <a:endParaRPr sz="1950">
              <a:latin typeface="Calibri"/>
              <a:cs typeface="Calibri"/>
            </a:endParaRPr>
          </a:p>
          <a:p>
            <a:pPr marL="1378585">
              <a:lnSpc>
                <a:spcPts val="2325"/>
              </a:lnSpc>
            </a:pPr>
            <a:r>
              <a:rPr sz="1950">
                <a:latin typeface="Calibri"/>
                <a:cs typeface="Calibri"/>
              </a:rPr>
              <a:t>i.e usage,power rating,battery life</a:t>
            </a:r>
            <a:r>
              <a:rPr sz="1950" spc="5">
                <a:latin typeface="Calibri"/>
                <a:cs typeface="Calibri"/>
              </a:rPr>
              <a:t> </a:t>
            </a:r>
            <a:r>
              <a:rPr sz="1950" spc="-25">
                <a:latin typeface="Calibri"/>
                <a:cs typeface="Calibri"/>
              </a:rPr>
              <a:t>etc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10"/>
              </a:spcBef>
            </a:pPr>
            <a:endParaRPr sz="1950">
              <a:latin typeface="Calibri"/>
              <a:cs typeface="Calibri"/>
            </a:endParaRPr>
          </a:p>
          <a:p>
            <a:pPr marR="626110" algn="r">
              <a:lnSpc>
                <a:spcPts val="2325"/>
              </a:lnSpc>
            </a:pPr>
            <a:r>
              <a:rPr sz="1950" b="1">
                <a:solidFill>
                  <a:srgbClr val="F69646"/>
                </a:solidFill>
                <a:latin typeface="Calibri"/>
                <a:cs typeface="Calibri"/>
              </a:rPr>
              <a:t>Step3:</a:t>
            </a:r>
            <a:r>
              <a:rPr sz="1950" b="1">
                <a:latin typeface="Calibri"/>
                <a:cs typeface="Calibri"/>
              </a:rPr>
              <a:t>-</a:t>
            </a:r>
            <a:r>
              <a:rPr sz="1950">
                <a:latin typeface="Calibri"/>
                <a:cs typeface="Calibri"/>
              </a:rPr>
              <a:t>Defining</a:t>
            </a:r>
            <a:r>
              <a:rPr sz="1950" spc="2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the</a:t>
            </a:r>
            <a:r>
              <a:rPr sz="1950" spc="2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data</a:t>
            </a:r>
            <a:r>
              <a:rPr sz="1950" spc="2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collection</a:t>
            </a:r>
            <a:r>
              <a:rPr sz="1950" spc="2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scheme</a:t>
            </a:r>
            <a:r>
              <a:rPr sz="1950" spc="2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and</a:t>
            </a:r>
            <a:r>
              <a:rPr sz="1950" spc="2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data</a:t>
            </a:r>
            <a:r>
              <a:rPr sz="1950" spc="2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measuring</a:t>
            </a:r>
            <a:r>
              <a:rPr sz="1950" spc="25">
                <a:latin typeface="Calibri"/>
                <a:cs typeface="Calibri"/>
              </a:rPr>
              <a:t> </a:t>
            </a:r>
            <a:r>
              <a:rPr sz="1950" spc="-10">
                <a:latin typeface="Calibri"/>
                <a:cs typeface="Calibri"/>
              </a:rPr>
              <a:t>scheme.</a:t>
            </a:r>
            <a:endParaRPr sz="1950">
              <a:latin typeface="Calibri"/>
              <a:cs typeface="Calibri"/>
            </a:endParaRPr>
          </a:p>
          <a:p>
            <a:pPr marR="599440" algn="r">
              <a:lnSpc>
                <a:spcPts val="2325"/>
              </a:lnSpc>
            </a:pPr>
            <a:r>
              <a:rPr sz="1950">
                <a:latin typeface="Calibri"/>
                <a:cs typeface="Calibri"/>
              </a:rPr>
              <a:t>i.e</a:t>
            </a:r>
            <a:r>
              <a:rPr sz="1950" spc="2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sampling</a:t>
            </a:r>
            <a:r>
              <a:rPr sz="1950" spc="2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procedure,sample</a:t>
            </a:r>
            <a:r>
              <a:rPr sz="1950" spc="2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size,data</a:t>
            </a:r>
            <a:r>
              <a:rPr sz="1950" spc="2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measuring</a:t>
            </a:r>
            <a:r>
              <a:rPr sz="1950" spc="20">
                <a:latin typeface="Calibri"/>
                <a:cs typeface="Calibri"/>
              </a:rPr>
              <a:t> </a:t>
            </a:r>
            <a:r>
              <a:rPr sz="1950" spc="-10">
                <a:latin typeface="Calibri"/>
                <a:cs typeface="Calibri"/>
              </a:rPr>
              <a:t>device.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10"/>
              </a:spcBef>
            </a:pP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950" b="1">
                <a:solidFill>
                  <a:srgbClr val="F69646"/>
                </a:solidFill>
                <a:latin typeface="Calibri"/>
                <a:cs typeface="Calibri"/>
              </a:rPr>
              <a:t>Step4:-</a:t>
            </a:r>
            <a:r>
              <a:rPr sz="1950">
                <a:latin typeface="Calibri"/>
                <a:cs typeface="Calibri"/>
              </a:rPr>
              <a:t>Defining</a:t>
            </a:r>
            <a:r>
              <a:rPr sz="1950" spc="1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the</a:t>
            </a:r>
            <a:r>
              <a:rPr sz="1950" spc="1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appropriate</a:t>
            </a:r>
            <a:r>
              <a:rPr sz="1950" spc="1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descriptive</a:t>
            </a:r>
            <a:r>
              <a:rPr sz="1950" spc="1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and</a:t>
            </a:r>
            <a:r>
              <a:rPr sz="1950" spc="1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inferential</a:t>
            </a:r>
            <a:r>
              <a:rPr sz="1950" spc="1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analysis</a:t>
            </a:r>
            <a:r>
              <a:rPr sz="1950" spc="15">
                <a:latin typeface="Calibri"/>
                <a:cs typeface="Calibri"/>
              </a:rPr>
              <a:t> </a:t>
            </a:r>
            <a:r>
              <a:rPr sz="1950" spc="-10">
                <a:latin typeface="Calibri"/>
                <a:cs typeface="Calibri"/>
              </a:rPr>
              <a:t>techniques</a:t>
            </a:r>
            <a:endParaRPr sz="19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15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00"/>
              </a:spcBef>
            </a:pPr>
            <a:r>
              <a:rPr sz="3600">
                <a:solidFill>
                  <a:srgbClr val="538CD4"/>
                </a:solidFill>
              </a:rPr>
              <a:t>Methods</a:t>
            </a:r>
            <a:r>
              <a:rPr sz="3600" spc="-40">
                <a:solidFill>
                  <a:srgbClr val="538CD4"/>
                </a:solidFill>
              </a:rPr>
              <a:t> </a:t>
            </a:r>
            <a:r>
              <a:rPr sz="3600">
                <a:solidFill>
                  <a:srgbClr val="538CD4"/>
                </a:solidFill>
              </a:rPr>
              <a:t>Used</a:t>
            </a:r>
            <a:r>
              <a:rPr sz="3600" spc="-35">
                <a:solidFill>
                  <a:srgbClr val="538CD4"/>
                </a:solidFill>
              </a:rPr>
              <a:t> </a:t>
            </a:r>
            <a:r>
              <a:rPr sz="3600" spc="-150">
                <a:solidFill>
                  <a:srgbClr val="538CD4"/>
                </a:solidFill>
              </a:rPr>
              <a:t>To</a:t>
            </a:r>
            <a:r>
              <a:rPr sz="3600" spc="-40">
                <a:solidFill>
                  <a:srgbClr val="538CD4"/>
                </a:solidFill>
              </a:rPr>
              <a:t> </a:t>
            </a:r>
            <a:r>
              <a:rPr sz="3600">
                <a:solidFill>
                  <a:srgbClr val="538CD4"/>
                </a:solidFill>
              </a:rPr>
              <a:t>Collect</a:t>
            </a:r>
            <a:r>
              <a:rPr sz="3600" spc="-35">
                <a:solidFill>
                  <a:srgbClr val="538CD4"/>
                </a:solidFill>
              </a:rPr>
              <a:t> </a:t>
            </a:r>
            <a:r>
              <a:rPr sz="3600" spc="-20">
                <a:solidFill>
                  <a:srgbClr val="538CD4"/>
                </a:solidFill>
              </a:rPr>
              <a:t>Data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93725" y="957833"/>
            <a:ext cx="838390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Experiment:</a:t>
            </a:r>
            <a:r>
              <a:rPr sz="1400" b="1" spc="-50">
                <a:solidFill>
                  <a:srgbClr val="F69646"/>
                </a:solidFill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investigator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controls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or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modifies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environment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and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observes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effect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on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variable </a:t>
            </a:r>
            <a:r>
              <a:rPr sz="1400">
                <a:latin typeface="Arial MT"/>
                <a:cs typeface="Arial MT"/>
              </a:rPr>
              <a:t>under</a:t>
            </a:r>
            <a:r>
              <a:rPr sz="1400" spc="-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study.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400">
              <a:latin typeface="Arial MT"/>
              <a:cs typeface="Arial MT"/>
            </a:endParaRPr>
          </a:p>
          <a:p>
            <a:pPr marL="12700" marR="445770">
              <a:lnSpc>
                <a:spcPct val="114999"/>
              </a:lnSpc>
            </a:pP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Survey</a:t>
            </a:r>
            <a:r>
              <a:rPr sz="1400">
                <a:solidFill>
                  <a:srgbClr val="F69646"/>
                </a:solidFill>
                <a:latin typeface="Arial MT"/>
                <a:cs typeface="Arial MT"/>
              </a:rPr>
              <a:t>:</a:t>
            </a:r>
            <a:r>
              <a:rPr sz="1400" spc="-25">
                <a:solidFill>
                  <a:srgbClr val="F69646"/>
                </a:solidFill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Data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are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obtained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by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sampling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some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population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interest.</a:t>
            </a:r>
            <a:r>
              <a:rPr sz="1400" spc="3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investigator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does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25">
                <a:latin typeface="Arial MT"/>
                <a:cs typeface="Arial MT"/>
              </a:rPr>
              <a:t>not </a:t>
            </a:r>
            <a:r>
              <a:rPr sz="1400">
                <a:latin typeface="Arial MT"/>
                <a:cs typeface="Arial MT"/>
              </a:rPr>
              <a:t>modify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0">
                <a:latin typeface="Arial MT"/>
                <a:cs typeface="Arial MT"/>
              </a:rPr>
              <a:t> environment.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400">
              <a:latin typeface="Arial MT"/>
              <a:cs typeface="Arial MT"/>
            </a:endParaRPr>
          </a:p>
          <a:p>
            <a:pPr marL="12700" marR="975360">
              <a:lnSpc>
                <a:spcPct val="114999"/>
              </a:lnSpc>
              <a:spcBef>
                <a:spcPts val="5"/>
              </a:spcBef>
            </a:pP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Census:</a:t>
            </a:r>
            <a:r>
              <a:rPr sz="1400" b="1" spc="-30">
                <a:solidFill>
                  <a:srgbClr val="F69646"/>
                </a:solidFill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A</a:t>
            </a:r>
            <a:r>
              <a:rPr sz="1400" spc="-9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100%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survey.</a:t>
            </a:r>
            <a:r>
              <a:rPr sz="1400" spc="34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Every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element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population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is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listed.</a:t>
            </a:r>
            <a:r>
              <a:rPr sz="1400" spc="34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Seldom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used: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difficult</a:t>
            </a:r>
            <a:r>
              <a:rPr sz="1400" spc="-25">
                <a:latin typeface="Arial MT"/>
                <a:cs typeface="Arial MT"/>
              </a:rPr>
              <a:t> and </a:t>
            </a:r>
            <a:r>
              <a:rPr sz="1400" spc="-10">
                <a:latin typeface="Arial MT"/>
                <a:cs typeface="Arial MT"/>
              </a:rPr>
              <a:t>time-</a:t>
            </a:r>
            <a:r>
              <a:rPr sz="1400">
                <a:latin typeface="Arial MT"/>
                <a:cs typeface="Arial MT"/>
              </a:rPr>
              <a:t>consuming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to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compile,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and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expensive.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400">
              <a:latin typeface="Arial MT"/>
              <a:cs typeface="Arial MT"/>
            </a:endParaRPr>
          </a:p>
          <a:p>
            <a:pPr marL="12700" marR="76200">
              <a:lnSpc>
                <a:spcPct val="114999"/>
              </a:lnSpc>
            </a:pP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Judgment</a:t>
            </a:r>
            <a:r>
              <a:rPr sz="1400" b="1" spc="-20">
                <a:solidFill>
                  <a:srgbClr val="F69646"/>
                </a:solidFill>
                <a:latin typeface="Arial"/>
                <a:cs typeface="Arial"/>
              </a:rPr>
              <a:t> </a:t>
            </a: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Samples:</a:t>
            </a:r>
            <a:r>
              <a:rPr sz="1400" b="1" spc="-20">
                <a:solidFill>
                  <a:srgbClr val="F69646"/>
                </a:solidFill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It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non-probability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sampling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technique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in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which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sample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members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are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chosen </a:t>
            </a:r>
            <a:r>
              <a:rPr sz="1400">
                <a:latin typeface="Arial MT"/>
                <a:cs typeface="Arial MT"/>
              </a:rPr>
              <a:t>only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on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basis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researcher's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knowledge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and</a:t>
            </a:r>
            <a:r>
              <a:rPr sz="1400" spc="-10">
                <a:latin typeface="Arial MT"/>
                <a:cs typeface="Arial MT"/>
              </a:rPr>
              <a:t> judgment.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400">
              <a:latin typeface="Arial MT"/>
              <a:cs typeface="Arial MT"/>
            </a:endParaRPr>
          </a:p>
          <a:p>
            <a:pPr marL="12700" marR="10160">
              <a:lnSpc>
                <a:spcPct val="114999"/>
              </a:lnSpc>
            </a:pP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Probability</a:t>
            </a:r>
            <a:r>
              <a:rPr sz="1400" b="1" spc="-30">
                <a:solidFill>
                  <a:srgbClr val="F69646"/>
                </a:solidFill>
                <a:latin typeface="Arial"/>
                <a:cs typeface="Arial"/>
              </a:rPr>
              <a:t> </a:t>
            </a: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Samples:</a:t>
            </a:r>
            <a:r>
              <a:rPr sz="1400" b="1" spc="-15">
                <a:solidFill>
                  <a:srgbClr val="F69646"/>
                </a:solidFill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Samples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in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which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elements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to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be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selected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are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drawn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on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basis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probability. </a:t>
            </a:r>
            <a:r>
              <a:rPr sz="1400">
                <a:latin typeface="Arial MT"/>
                <a:cs typeface="Arial MT"/>
              </a:rPr>
              <a:t>Each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element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in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population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has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certain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probability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being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selected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as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part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sample.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16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00"/>
              </a:spcBef>
            </a:pPr>
            <a:r>
              <a:rPr sz="3600">
                <a:solidFill>
                  <a:srgbClr val="538CD4"/>
                </a:solidFill>
              </a:rPr>
              <a:t>Types</a:t>
            </a:r>
            <a:r>
              <a:rPr sz="3600" spc="-114">
                <a:solidFill>
                  <a:srgbClr val="538CD4"/>
                </a:solidFill>
              </a:rPr>
              <a:t> </a:t>
            </a:r>
            <a:r>
              <a:rPr sz="3600">
                <a:solidFill>
                  <a:srgbClr val="538CD4"/>
                </a:solidFill>
              </a:rPr>
              <a:t>Of</a:t>
            </a:r>
            <a:r>
              <a:rPr sz="3600" spc="-114">
                <a:solidFill>
                  <a:srgbClr val="538CD4"/>
                </a:solidFill>
              </a:rPr>
              <a:t> </a:t>
            </a:r>
            <a:r>
              <a:rPr sz="3600" spc="-10">
                <a:solidFill>
                  <a:srgbClr val="538CD4"/>
                </a:solidFill>
              </a:rPr>
              <a:t>Sampling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0" y="835079"/>
            <a:ext cx="8699500" cy="4308475"/>
            <a:chOff x="0" y="835079"/>
            <a:chExt cx="8699500" cy="4308475"/>
          </a:xfrm>
        </p:grpSpPr>
        <p:pic>
          <p:nvPicPr>
            <p:cNvPr id="4" name="object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47261" y="835079"/>
              <a:ext cx="8251644" cy="43084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4887966"/>
              <a:ext cx="1016235" cy="25553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17</a:t>
            </a:fld>
            <a:endParaRPr spc="-25"/>
          </a:p>
        </p:txBody>
      </p:sp>
      <p:sp>
        <p:nvSpPr>
          <p:cNvPr id="7" name="object 7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57060" y="4932394"/>
            <a:ext cx="221996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75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400" b="1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0"/>
              <a:t>Probability</a:t>
            </a:r>
            <a:r>
              <a:rPr spc="-110"/>
              <a:t> </a:t>
            </a:r>
            <a:r>
              <a:rPr spc="-10"/>
              <a:t>Sampling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5125" y="837863"/>
            <a:ext cx="8498205" cy="35991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indent="-19621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08915" algn="l"/>
              </a:tabLst>
            </a:pP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Simple</a:t>
            </a:r>
            <a:r>
              <a:rPr sz="1400" b="1" spc="-35">
                <a:solidFill>
                  <a:srgbClr val="F69646"/>
                </a:solidFill>
                <a:latin typeface="Arial"/>
                <a:cs typeface="Arial"/>
              </a:rPr>
              <a:t> </a:t>
            </a: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Random</a:t>
            </a:r>
            <a:r>
              <a:rPr sz="1400" b="1" spc="-20">
                <a:solidFill>
                  <a:srgbClr val="F69646"/>
                </a:solidFill>
                <a:latin typeface="Arial"/>
                <a:cs typeface="Arial"/>
              </a:rPr>
              <a:t> </a:t>
            </a: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sampling</a:t>
            </a:r>
            <a:r>
              <a:rPr sz="1400" b="1" spc="-10">
                <a:solidFill>
                  <a:srgbClr val="F69646"/>
                </a:solidFill>
                <a:latin typeface="Arial"/>
                <a:cs typeface="Arial"/>
              </a:rPr>
              <a:t> </a:t>
            </a:r>
            <a:r>
              <a:rPr sz="1400" spc="-10">
                <a:latin typeface="Arial MT"/>
                <a:cs typeface="Arial MT"/>
              </a:rPr>
              <a:t>:-</a:t>
            </a:r>
            <a:r>
              <a:rPr sz="1400">
                <a:latin typeface="Arial MT"/>
                <a:cs typeface="Arial MT"/>
              </a:rPr>
              <a:t>each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sample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same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size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has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an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equal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chance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being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selected.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F69646"/>
              </a:buClr>
              <a:buFont typeface="Arial"/>
              <a:buAutoNum type="arabicPeriod"/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5"/>
              </a:spcBef>
              <a:buClr>
                <a:srgbClr val="F69646"/>
              </a:buClr>
              <a:buFont typeface="Arial"/>
              <a:buAutoNum type="arabicPeriod"/>
            </a:pPr>
            <a:endParaRPr sz="1400">
              <a:latin typeface="Arial MT"/>
              <a:cs typeface="Arial MT"/>
            </a:endParaRPr>
          </a:p>
          <a:p>
            <a:pPr marL="12700" marR="200025" indent="196215">
              <a:lnSpc>
                <a:spcPct val="105000"/>
              </a:lnSpc>
              <a:buAutoNum type="arabicPeriod"/>
              <a:tabLst>
                <a:tab pos="208915" algn="l"/>
              </a:tabLst>
            </a:pP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Stratified</a:t>
            </a:r>
            <a:r>
              <a:rPr sz="1400" b="1" spc="-25">
                <a:solidFill>
                  <a:srgbClr val="F69646"/>
                </a:solidFill>
                <a:latin typeface="Arial"/>
                <a:cs typeface="Arial"/>
              </a:rPr>
              <a:t> </a:t>
            </a: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Sampling</a:t>
            </a:r>
            <a:r>
              <a:rPr sz="1400" b="1" spc="-5">
                <a:solidFill>
                  <a:srgbClr val="F69646"/>
                </a:solidFill>
                <a:latin typeface="Arial"/>
                <a:cs typeface="Arial"/>
              </a:rPr>
              <a:t> </a:t>
            </a:r>
            <a:r>
              <a:rPr sz="1400" spc="-10">
                <a:latin typeface="Arial MT"/>
                <a:cs typeface="Arial MT"/>
              </a:rPr>
              <a:t>:-</a:t>
            </a:r>
            <a:r>
              <a:rPr sz="1400">
                <a:latin typeface="Arial MT"/>
                <a:cs typeface="Arial MT"/>
              </a:rPr>
              <a:t>divide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population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into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groups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called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strata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and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then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take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sample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from</a:t>
            </a:r>
            <a:r>
              <a:rPr sz="1400" spc="-20">
                <a:latin typeface="Arial MT"/>
                <a:cs typeface="Arial MT"/>
              </a:rPr>
              <a:t> each </a:t>
            </a:r>
            <a:r>
              <a:rPr sz="1400" spc="-10">
                <a:latin typeface="Arial MT"/>
                <a:cs typeface="Arial MT"/>
              </a:rPr>
              <a:t>stratum.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F69646"/>
              </a:buClr>
              <a:buFont typeface="Arial"/>
              <a:buAutoNum type="arabicPeriod"/>
            </a:pPr>
            <a:endParaRPr sz="1400">
              <a:latin typeface="Arial MT"/>
              <a:cs typeface="Arial MT"/>
            </a:endParaRPr>
          </a:p>
          <a:p>
            <a:pPr marL="12700" marR="133350" indent="196215">
              <a:lnSpc>
                <a:spcPct val="105000"/>
              </a:lnSpc>
              <a:buAutoNum type="arabicPeriod"/>
              <a:tabLst>
                <a:tab pos="208915" algn="l"/>
              </a:tabLst>
            </a:pP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Cluster</a:t>
            </a:r>
            <a:r>
              <a:rPr sz="1400" b="1" spc="-30">
                <a:solidFill>
                  <a:srgbClr val="F69646"/>
                </a:solidFill>
                <a:latin typeface="Arial"/>
                <a:cs typeface="Arial"/>
              </a:rPr>
              <a:t> </a:t>
            </a: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sampling</a:t>
            </a:r>
            <a:r>
              <a:rPr sz="1400" b="1" spc="-10">
                <a:solidFill>
                  <a:srgbClr val="F69646"/>
                </a:solidFill>
                <a:latin typeface="Arial"/>
                <a:cs typeface="Arial"/>
              </a:rPr>
              <a:t> </a:t>
            </a:r>
            <a:r>
              <a:rPr sz="1400" spc="-10">
                <a:latin typeface="Arial MT"/>
                <a:cs typeface="Arial MT"/>
              </a:rPr>
              <a:t>:-</a:t>
            </a:r>
            <a:r>
              <a:rPr sz="1400">
                <a:latin typeface="Arial MT"/>
                <a:cs typeface="Arial MT"/>
              </a:rPr>
              <a:t>divide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population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into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strata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and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then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randomly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select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some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strata.</a:t>
            </a:r>
            <a:r>
              <a:rPr sz="1400" spc="-9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All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25">
                <a:latin typeface="Arial MT"/>
                <a:cs typeface="Arial MT"/>
              </a:rPr>
              <a:t>the </a:t>
            </a:r>
            <a:r>
              <a:rPr sz="1400">
                <a:latin typeface="Arial MT"/>
                <a:cs typeface="Arial MT"/>
              </a:rPr>
              <a:t>members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from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these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strata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are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in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cluster</a:t>
            </a:r>
            <a:r>
              <a:rPr sz="1400" spc="-10">
                <a:latin typeface="Arial MT"/>
                <a:cs typeface="Arial MT"/>
              </a:rPr>
              <a:t> sample.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F69646"/>
              </a:buClr>
              <a:buFont typeface="Arial"/>
              <a:buAutoNum type="arabicPeriod"/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Clr>
                <a:srgbClr val="F69646"/>
              </a:buClr>
              <a:buFont typeface="Arial"/>
              <a:buAutoNum type="arabicPeriod"/>
            </a:pPr>
            <a:endParaRPr sz="1400">
              <a:latin typeface="Arial MT"/>
              <a:cs typeface="Arial MT"/>
            </a:endParaRPr>
          </a:p>
          <a:p>
            <a:pPr marL="12700" marR="5080" indent="196215">
              <a:lnSpc>
                <a:spcPct val="105000"/>
              </a:lnSpc>
              <a:buAutoNum type="arabicPeriod"/>
              <a:tabLst>
                <a:tab pos="208915" algn="l"/>
              </a:tabLst>
            </a:pP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Systematic</a:t>
            </a:r>
            <a:r>
              <a:rPr sz="1400" b="1" spc="-20">
                <a:solidFill>
                  <a:srgbClr val="F69646"/>
                </a:solidFill>
                <a:latin typeface="Arial"/>
                <a:cs typeface="Arial"/>
              </a:rPr>
              <a:t> </a:t>
            </a: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sampling</a:t>
            </a:r>
            <a:r>
              <a:rPr sz="1400" b="1" spc="-10">
                <a:solidFill>
                  <a:srgbClr val="F69646"/>
                </a:solidFill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:-randomly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select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starting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point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and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take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every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n-</a:t>
            </a:r>
            <a:r>
              <a:rPr sz="1400">
                <a:latin typeface="Arial MT"/>
                <a:cs typeface="Arial MT"/>
              </a:rPr>
              <a:t>th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piece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data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from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listing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25">
                <a:latin typeface="Arial MT"/>
                <a:cs typeface="Arial MT"/>
              </a:rPr>
              <a:t>of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population.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Clr>
                <a:srgbClr val="F69646"/>
              </a:buClr>
              <a:buFont typeface="Arial"/>
              <a:buAutoNum type="arabicPeriod"/>
            </a:pPr>
            <a:endParaRPr sz="1400">
              <a:latin typeface="Arial MT"/>
              <a:cs typeface="Arial MT"/>
            </a:endParaRPr>
          </a:p>
          <a:p>
            <a:pPr marL="12700" marR="212725" indent="196215" algn="just">
              <a:lnSpc>
                <a:spcPct val="105000"/>
              </a:lnSpc>
              <a:spcBef>
                <a:spcPts val="5"/>
              </a:spcBef>
              <a:buAutoNum type="arabicPeriod"/>
              <a:tabLst>
                <a:tab pos="208915" algn="l"/>
              </a:tabLst>
            </a:pP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Multistage</a:t>
            </a:r>
            <a:r>
              <a:rPr sz="1400" b="1" spc="-25">
                <a:solidFill>
                  <a:srgbClr val="F69646"/>
                </a:solidFill>
                <a:latin typeface="Arial"/>
                <a:cs typeface="Arial"/>
              </a:rPr>
              <a:t> </a:t>
            </a:r>
            <a:r>
              <a:rPr sz="1400" b="1">
                <a:solidFill>
                  <a:srgbClr val="F69646"/>
                </a:solidFill>
                <a:latin typeface="Arial"/>
                <a:cs typeface="Arial"/>
              </a:rPr>
              <a:t>Random</a:t>
            </a:r>
            <a:r>
              <a:rPr sz="1400" b="1" spc="-20">
                <a:solidFill>
                  <a:srgbClr val="F69646"/>
                </a:solidFill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:-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divide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population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into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clusters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and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select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some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clusters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at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first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stage.</a:t>
            </a:r>
            <a:r>
              <a:rPr sz="1400" spc="-85">
                <a:latin typeface="Arial MT"/>
                <a:cs typeface="Arial MT"/>
              </a:rPr>
              <a:t> </a:t>
            </a:r>
            <a:r>
              <a:rPr sz="1400" spc="-25">
                <a:latin typeface="Arial MT"/>
                <a:cs typeface="Arial MT"/>
              </a:rPr>
              <a:t>At </a:t>
            </a:r>
            <a:r>
              <a:rPr sz="1400">
                <a:latin typeface="Arial MT"/>
                <a:cs typeface="Arial MT"/>
              </a:rPr>
              <a:t>each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subsequent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stage,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you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further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divide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up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those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selected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clusters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into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smaller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clusters,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and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repeat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25">
                <a:latin typeface="Arial MT"/>
                <a:cs typeface="Arial MT"/>
              </a:rPr>
              <a:t>the </a:t>
            </a:r>
            <a:r>
              <a:rPr sz="1400">
                <a:latin typeface="Arial MT"/>
                <a:cs typeface="Arial MT"/>
              </a:rPr>
              <a:t>process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until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you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get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desired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sample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size.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18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/>
              <a:t>Sampling</a:t>
            </a:r>
            <a:r>
              <a:rPr spc="-160"/>
              <a:t> </a:t>
            </a:r>
            <a:r>
              <a:rPr spc="-1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4025" y="1063497"/>
            <a:ext cx="8243570" cy="242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900" i="1">
                <a:solidFill>
                  <a:srgbClr val="E36C09"/>
                </a:solidFill>
                <a:latin typeface="Calibri"/>
                <a:cs typeface="Calibri"/>
              </a:rPr>
              <a:t>Example</a:t>
            </a:r>
            <a:r>
              <a:rPr sz="1900">
                <a:solidFill>
                  <a:srgbClr val="E36C09"/>
                </a:solidFill>
                <a:latin typeface="Calibri"/>
                <a:cs typeface="Calibri"/>
              </a:rPr>
              <a:t>:</a:t>
            </a:r>
            <a:r>
              <a:rPr sz="1900" spc="-45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An</a:t>
            </a:r>
            <a:r>
              <a:rPr sz="1900" spc="-4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employer</a:t>
            </a:r>
            <a:r>
              <a:rPr sz="1900" spc="-4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is</a:t>
            </a:r>
            <a:r>
              <a:rPr sz="1900" spc="-45">
                <a:latin typeface="Calibri"/>
                <a:cs typeface="Calibri"/>
              </a:rPr>
              <a:t> </a:t>
            </a:r>
            <a:r>
              <a:rPr sz="1900" spc="-20">
                <a:latin typeface="Calibri"/>
                <a:cs typeface="Calibri"/>
              </a:rPr>
              <a:t>interested</a:t>
            </a:r>
            <a:r>
              <a:rPr sz="1900" spc="-4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in</a:t>
            </a:r>
            <a:r>
              <a:rPr sz="1900" spc="-4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the</a:t>
            </a:r>
            <a:r>
              <a:rPr sz="1900" spc="-4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time</a:t>
            </a:r>
            <a:r>
              <a:rPr sz="1900" spc="-4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it</a:t>
            </a:r>
            <a:r>
              <a:rPr sz="1900" spc="-4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takes</a:t>
            </a:r>
            <a:r>
              <a:rPr sz="1900" spc="-4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each</a:t>
            </a:r>
            <a:r>
              <a:rPr sz="1900" spc="-40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employee</a:t>
            </a:r>
            <a:r>
              <a:rPr sz="1900" spc="-4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to</a:t>
            </a:r>
            <a:r>
              <a:rPr sz="1900" spc="-4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commute </a:t>
            </a:r>
            <a:r>
              <a:rPr sz="1900">
                <a:latin typeface="Calibri"/>
                <a:cs typeface="Calibri"/>
              </a:rPr>
              <a:t>to</a:t>
            </a:r>
            <a:r>
              <a:rPr sz="1900" spc="-4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work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each</a:t>
            </a:r>
            <a:r>
              <a:rPr sz="1900" spc="-4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morning.</a:t>
            </a:r>
            <a:r>
              <a:rPr sz="1900" spc="36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A</a:t>
            </a:r>
            <a:r>
              <a:rPr sz="1900" spc="-4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random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sample</a:t>
            </a:r>
            <a:r>
              <a:rPr sz="1900" spc="-4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of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35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employees</a:t>
            </a:r>
            <a:r>
              <a:rPr sz="1900" spc="-4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will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be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selected</a:t>
            </a:r>
            <a:r>
              <a:rPr sz="1900" spc="-4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and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their </a:t>
            </a:r>
            <a:r>
              <a:rPr sz="1900">
                <a:latin typeface="Calibri"/>
                <a:cs typeface="Calibri"/>
              </a:rPr>
              <a:t>commuting</a:t>
            </a:r>
            <a:r>
              <a:rPr sz="1900" spc="-5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time</a:t>
            </a:r>
            <a:r>
              <a:rPr sz="1900" spc="-5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will</a:t>
            </a:r>
            <a:r>
              <a:rPr sz="1900" spc="-4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be</a:t>
            </a:r>
            <a:r>
              <a:rPr sz="1900" spc="-50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recorded.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900">
                <a:latin typeface="Calibri"/>
                <a:cs typeface="Calibri"/>
              </a:rPr>
              <a:t>There</a:t>
            </a:r>
            <a:r>
              <a:rPr sz="1900" spc="-6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are</a:t>
            </a:r>
            <a:r>
              <a:rPr sz="1900" spc="-6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2712</a:t>
            </a:r>
            <a:r>
              <a:rPr sz="1900" spc="-60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employees.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1900">
                <a:latin typeface="Calibri"/>
                <a:cs typeface="Calibri"/>
              </a:rPr>
              <a:t>Each</a:t>
            </a:r>
            <a:r>
              <a:rPr sz="1900" spc="-4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employee</a:t>
            </a:r>
            <a:r>
              <a:rPr sz="1900" spc="-4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is</a:t>
            </a:r>
            <a:r>
              <a:rPr sz="1900" spc="-4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numbered:</a:t>
            </a:r>
            <a:r>
              <a:rPr sz="1900" spc="-4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0001,</a:t>
            </a:r>
            <a:r>
              <a:rPr sz="1900" spc="-4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0002,</a:t>
            </a:r>
            <a:r>
              <a:rPr sz="1900" spc="-4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0003,</a:t>
            </a:r>
            <a:r>
              <a:rPr sz="1900" spc="-4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etc.</a:t>
            </a:r>
            <a:r>
              <a:rPr sz="1900" spc="-4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up</a:t>
            </a:r>
            <a:r>
              <a:rPr sz="1900" spc="-4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to</a:t>
            </a:r>
            <a:r>
              <a:rPr sz="1900" spc="-4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2712.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900">
                <a:latin typeface="Calibri"/>
                <a:cs typeface="Calibri"/>
              </a:rPr>
              <a:t>Using</a:t>
            </a:r>
            <a:r>
              <a:rPr sz="1900" spc="-40">
                <a:latin typeface="Calibri"/>
                <a:cs typeface="Calibri"/>
              </a:rPr>
              <a:t> </a:t>
            </a:r>
            <a:r>
              <a:rPr sz="1900" spc="-30">
                <a:latin typeface="Calibri"/>
                <a:cs typeface="Calibri"/>
              </a:rPr>
              <a:t>four-</a:t>
            </a:r>
            <a:r>
              <a:rPr sz="1900">
                <a:latin typeface="Calibri"/>
                <a:cs typeface="Calibri"/>
              </a:rPr>
              <a:t>digit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random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numbers,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a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sample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is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identified: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1315,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0987,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1125,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 spc="-20">
                <a:latin typeface="Calibri"/>
                <a:cs typeface="Calibri"/>
              </a:rPr>
              <a:t>etc.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19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4800600" y="819150"/>
            <a:ext cx="4158736" cy="393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/>
              <a:t>Sampling</a:t>
            </a:r>
            <a:r>
              <a:rPr spc="-160"/>
              <a:t> </a:t>
            </a:r>
            <a:r>
              <a:rPr spc="-10"/>
              <a:t>Error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5425" y="834390"/>
            <a:ext cx="5334635" cy="36404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6835" indent="-3048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>
                <a:latin typeface="Calibri"/>
                <a:cs typeface="Calibri"/>
              </a:rPr>
              <a:t>The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discrepancy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between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sample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statistic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 spc="-25">
                <a:latin typeface="Calibri"/>
                <a:cs typeface="Calibri"/>
              </a:rPr>
              <a:t>and </a:t>
            </a:r>
            <a:r>
              <a:rPr sz="2000">
                <a:latin typeface="Calibri"/>
                <a:cs typeface="Calibri"/>
              </a:rPr>
              <a:t>its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population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parameter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called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b="1" spc="-10">
                <a:solidFill>
                  <a:srgbClr val="E36C09"/>
                </a:solidFill>
                <a:latin typeface="Calibri"/>
                <a:cs typeface="Calibri"/>
              </a:rPr>
              <a:t>sampling error</a:t>
            </a:r>
            <a:r>
              <a:rPr sz="2000" spc="-10">
                <a:solidFill>
                  <a:srgbClr val="E36C09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5600" marR="5080" indent="-304800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>
                <a:latin typeface="Calibri"/>
                <a:cs typeface="Calibri"/>
              </a:rPr>
              <a:t>Defining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measuring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sampling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error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large </a:t>
            </a:r>
            <a:r>
              <a:rPr sz="2000">
                <a:latin typeface="Calibri"/>
                <a:cs typeface="Calibri"/>
              </a:rPr>
              <a:t>part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inferential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statistics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>
                <a:latin typeface="Calibri"/>
                <a:cs typeface="Calibri"/>
              </a:rPr>
              <a:t>Figure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 spc="-25">
                <a:latin typeface="Calibri"/>
                <a:cs typeface="Calibri"/>
              </a:rPr>
              <a:t>1.2</a:t>
            </a:r>
            <a:endParaRPr sz="1400">
              <a:latin typeface="Calibri"/>
              <a:cs typeface="Calibri"/>
            </a:endParaRPr>
          </a:p>
          <a:p>
            <a:pPr marL="12700" marR="948690">
              <a:lnSpc>
                <a:spcPct val="100000"/>
              </a:lnSpc>
            </a:pPr>
            <a:r>
              <a:rPr sz="1400">
                <a:latin typeface="Calibri"/>
                <a:cs typeface="Calibri"/>
              </a:rPr>
              <a:t>A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demonstration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of</a:t>
            </a:r>
            <a:r>
              <a:rPr sz="1400" spc="-10">
                <a:latin typeface="Calibri"/>
                <a:cs typeface="Calibri"/>
              </a:rPr>
              <a:t> sampling </a:t>
            </a:r>
            <a:r>
              <a:rPr sz="1400" spc="-30">
                <a:latin typeface="Calibri"/>
                <a:cs typeface="Calibri"/>
              </a:rPr>
              <a:t>error.</a:t>
            </a:r>
            <a:r>
              <a:rPr sz="1400" spc="-10">
                <a:latin typeface="Calibri"/>
                <a:cs typeface="Calibri"/>
              </a:rPr>
              <a:t> Two samples </a:t>
            </a:r>
            <a:r>
              <a:rPr sz="1400" spc="-25">
                <a:latin typeface="Calibri"/>
                <a:cs typeface="Calibri"/>
              </a:rPr>
              <a:t>are</a:t>
            </a:r>
            <a:r>
              <a:rPr sz="1400" spc="50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selected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from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the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same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population.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Notice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that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the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sample statistics</a:t>
            </a:r>
            <a:r>
              <a:rPr sz="1400" spc="-4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are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different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from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one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sample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to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another,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and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all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of </a:t>
            </a:r>
            <a:r>
              <a:rPr sz="1400">
                <a:latin typeface="Calibri"/>
                <a:cs typeface="Calibri"/>
              </a:rPr>
              <a:t>the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sample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statistics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are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different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from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the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corresponding population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parameters.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The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natural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differences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that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exist,</a:t>
            </a:r>
            <a:r>
              <a:rPr sz="1400" spc="-25">
                <a:latin typeface="Calibri"/>
                <a:cs typeface="Calibri"/>
              </a:rPr>
              <a:t> by </a:t>
            </a:r>
            <a:r>
              <a:rPr sz="1400" spc="-10">
                <a:latin typeface="Calibri"/>
                <a:cs typeface="Calibri"/>
              </a:rPr>
              <a:t>chance,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between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sample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statistic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and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population parameter</a:t>
            </a:r>
            <a:r>
              <a:rPr sz="1400" spc="-5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are</a:t>
            </a:r>
            <a:r>
              <a:rPr sz="1400" spc="-5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called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E36C09"/>
                </a:solidFill>
                <a:latin typeface="Calibri"/>
                <a:cs typeface="Calibri"/>
              </a:rPr>
              <a:t>sampling</a:t>
            </a:r>
            <a:r>
              <a:rPr sz="1400" spc="-5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E36C09"/>
                </a:solidFill>
                <a:latin typeface="Calibri"/>
                <a:cs typeface="Calibri"/>
              </a:rPr>
              <a:t>error.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20</a:t>
            </a:fld>
            <a:endParaRPr spc="-25"/>
          </a:p>
        </p:txBody>
      </p:sp>
      <p:sp>
        <p:nvSpPr>
          <p:cNvPr id="7" name="object 7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698" y="4912598"/>
            <a:ext cx="3429635" cy="16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/>
          <a:stretch>
            <a:fillRect/>
          </a:stretch>
        </p:blipFill>
        <p:spPr>
          <a:xfrm>
            <a:off x="494537" y="1080790"/>
            <a:ext cx="3416807" cy="30571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44438" y="1264440"/>
            <a:ext cx="42513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b="1">
                <a:latin typeface="Calibri"/>
                <a:cs typeface="Calibri"/>
              </a:rPr>
              <a:t>Exploratory</a:t>
            </a:r>
            <a:r>
              <a:rPr sz="3950" b="1" spc="-204">
                <a:latin typeface="Calibri"/>
                <a:cs typeface="Calibri"/>
              </a:rPr>
              <a:t> </a:t>
            </a:r>
            <a:r>
              <a:rPr sz="3950" b="1" spc="-10">
                <a:latin typeface="Calibri"/>
                <a:cs typeface="Calibri"/>
              </a:rPr>
              <a:t>Analysis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60500" y="2280738"/>
            <a:ext cx="18224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>
                <a:solidFill>
                  <a:srgbClr val="888888"/>
                </a:solidFill>
                <a:latin typeface="Calibri"/>
                <a:cs typeface="Calibri"/>
              </a:rPr>
              <a:t>Module</a:t>
            </a:r>
            <a:r>
              <a:rPr sz="3200" spc="-7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3200" spc="-7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5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64489" y="4659868"/>
            <a:ext cx="154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887944"/>
            <a:ext cx="17049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88705"/>
            <a:ext cx="9144000" cy="255270"/>
          </a:xfrm>
          <a:custGeom>
            <a:avLst/>
            <a:gdLst/>
            <a:ahLst/>
            <a:cxnLst/>
            <a:rect l="l" t="t" r="r" b="b"/>
            <a:pathLst>
              <a:path w="9144000" h="255270">
                <a:moveTo>
                  <a:pt x="9143999" y="254794"/>
                </a:moveTo>
                <a:lnTo>
                  <a:pt x="0" y="254794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4794"/>
                </a:lnTo>
                <a:close/>
              </a:path>
            </a:pathLst>
          </a:custGeom>
          <a:solidFill>
            <a:srgbClr val="538C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303" y="1778746"/>
            <a:ext cx="7237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>
                <a:solidFill>
                  <a:srgbClr val="538CD4"/>
                </a:solidFill>
              </a:rPr>
              <a:t>Measures</a:t>
            </a:r>
            <a:r>
              <a:rPr sz="4400" spc="-145">
                <a:solidFill>
                  <a:srgbClr val="538CD4"/>
                </a:solidFill>
              </a:rPr>
              <a:t> </a:t>
            </a:r>
            <a:r>
              <a:rPr sz="4400">
                <a:solidFill>
                  <a:srgbClr val="538CD4"/>
                </a:solidFill>
              </a:rPr>
              <a:t>of</a:t>
            </a:r>
            <a:r>
              <a:rPr sz="4400" spc="-140">
                <a:solidFill>
                  <a:srgbClr val="538CD4"/>
                </a:solidFill>
              </a:rPr>
              <a:t> </a:t>
            </a:r>
            <a:r>
              <a:rPr sz="4400" spc="-10">
                <a:solidFill>
                  <a:srgbClr val="538CD4"/>
                </a:solidFill>
              </a:rPr>
              <a:t>Central</a:t>
            </a:r>
            <a:r>
              <a:rPr sz="4400" spc="-145">
                <a:solidFill>
                  <a:srgbClr val="538CD4"/>
                </a:solidFill>
              </a:rPr>
              <a:t> </a:t>
            </a:r>
            <a:r>
              <a:rPr sz="4400" spc="-10">
                <a:solidFill>
                  <a:srgbClr val="538CD4"/>
                </a:solidFill>
              </a:rPr>
              <a:t>Tendencies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531225" y="4875789"/>
            <a:ext cx="28257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000" spc="-25">
                <a:solidFill>
                  <a:srgbClr val="FFFFFF"/>
                </a:solidFill>
                <a:latin typeface="Calibri"/>
                <a:cs typeface="Calibri"/>
              </a:rPr>
              <a:t>24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675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20">
                <a:moveTo>
                  <a:pt x="9143999" y="45718"/>
                </a:moveTo>
                <a:lnTo>
                  <a:pt x="0" y="45718"/>
                </a:lnTo>
                <a:lnTo>
                  <a:pt x="0" y="0"/>
                </a:lnTo>
                <a:lnTo>
                  <a:pt x="9143999" y="0"/>
                </a:lnTo>
                <a:lnTo>
                  <a:pt x="9143999" y="45718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1080">
              <a:lnSpc>
                <a:spcPct val="100000"/>
              </a:lnSpc>
              <a:spcBef>
                <a:spcPts val="100"/>
              </a:spcBef>
            </a:pPr>
            <a:r>
              <a:rPr spc="-10"/>
              <a:t>Central</a:t>
            </a:r>
            <a:r>
              <a:rPr spc="-130"/>
              <a:t> </a:t>
            </a:r>
            <a:r>
              <a:rPr spc="-30"/>
              <a:t>Tendency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4525" y="1209295"/>
            <a:ext cx="774509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>
                <a:latin typeface="Calibri"/>
                <a:cs typeface="Calibri"/>
              </a:rPr>
              <a:t>The</a:t>
            </a:r>
            <a:r>
              <a:rPr sz="3200" spc="-80">
                <a:latin typeface="Calibri"/>
                <a:cs typeface="Calibri"/>
              </a:rPr>
              <a:t> </a:t>
            </a:r>
            <a:r>
              <a:rPr sz="3200" spc="-10">
                <a:latin typeface="Calibri"/>
                <a:cs typeface="Calibri"/>
              </a:rPr>
              <a:t>property</a:t>
            </a:r>
            <a:r>
              <a:rPr sz="3200" spc="-75">
                <a:latin typeface="Calibri"/>
                <a:cs typeface="Calibri"/>
              </a:rPr>
              <a:t> </a:t>
            </a:r>
            <a:r>
              <a:rPr sz="3200">
                <a:latin typeface="Calibri"/>
                <a:cs typeface="Calibri"/>
              </a:rPr>
              <a:t>of</a:t>
            </a:r>
            <a:r>
              <a:rPr sz="3200" spc="-80">
                <a:latin typeface="Calibri"/>
                <a:cs typeface="Calibri"/>
              </a:rPr>
              <a:t> </a:t>
            </a:r>
            <a:r>
              <a:rPr sz="3200">
                <a:latin typeface="Calibri"/>
                <a:cs typeface="Calibri"/>
              </a:rPr>
              <a:t>data</a:t>
            </a:r>
            <a:r>
              <a:rPr sz="3200" spc="-75">
                <a:latin typeface="Calibri"/>
                <a:cs typeface="Calibri"/>
              </a:rPr>
              <a:t> </a:t>
            </a:r>
            <a:r>
              <a:rPr sz="3200">
                <a:latin typeface="Calibri"/>
                <a:cs typeface="Calibri"/>
              </a:rPr>
              <a:t>being</a:t>
            </a:r>
            <a:r>
              <a:rPr sz="3200" spc="-80">
                <a:latin typeface="Calibri"/>
                <a:cs typeface="Calibri"/>
              </a:rPr>
              <a:t> </a:t>
            </a:r>
            <a:r>
              <a:rPr sz="3200" spc="-25">
                <a:latin typeface="Calibri"/>
                <a:cs typeface="Calibri"/>
              </a:rPr>
              <a:t>concentrated</a:t>
            </a:r>
            <a:r>
              <a:rPr sz="3200" spc="-75">
                <a:latin typeface="Calibri"/>
                <a:cs typeface="Calibri"/>
              </a:rPr>
              <a:t> </a:t>
            </a:r>
            <a:r>
              <a:rPr sz="3200">
                <a:latin typeface="Calibri"/>
                <a:cs typeface="Calibri"/>
              </a:rPr>
              <a:t>in</a:t>
            </a:r>
            <a:r>
              <a:rPr sz="3200" spc="-80">
                <a:latin typeface="Calibri"/>
                <a:cs typeface="Calibri"/>
              </a:rPr>
              <a:t> </a:t>
            </a:r>
            <a:r>
              <a:rPr sz="3200" spc="-25">
                <a:latin typeface="Calibri"/>
                <a:cs typeface="Calibri"/>
              </a:rPr>
              <a:t>the </a:t>
            </a:r>
            <a:r>
              <a:rPr sz="3200" spc="-10">
                <a:latin typeface="Calibri"/>
                <a:cs typeface="Calibri"/>
              </a:rPr>
              <a:t>centre.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35803" y="4875768"/>
            <a:ext cx="28257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000" spc="-25">
                <a:solidFill>
                  <a:srgbClr val="FFFFFF"/>
                </a:solidFill>
                <a:latin typeface="Calibri"/>
                <a:cs typeface="Calibri"/>
              </a:rPr>
              <a:t>23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0225" y="123451"/>
            <a:ext cx="43764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>
                <a:solidFill>
                  <a:srgbClr val="538CD4"/>
                </a:solidFill>
              </a:rPr>
              <a:t>Measures</a:t>
            </a:r>
            <a:r>
              <a:rPr sz="2800" spc="-70">
                <a:solidFill>
                  <a:srgbClr val="538CD4"/>
                </a:solidFill>
              </a:rPr>
              <a:t> </a:t>
            </a:r>
            <a:r>
              <a:rPr sz="2800">
                <a:solidFill>
                  <a:srgbClr val="538CD4"/>
                </a:solidFill>
              </a:rPr>
              <a:t>of</a:t>
            </a:r>
            <a:r>
              <a:rPr sz="2800" spc="-70">
                <a:solidFill>
                  <a:srgbClr val="538CD4"/>
                </a:solidFill>
              </a:rPr>
              <a:t> </a:t>
            </a:r>
            <a:r>
              <a:rPr sz="2800">
                <a:solidFill>
                  <a:srgbClr val="538CD4"/>
                </a:solidFill>
              </a:rPr>
              <a:t>Central</a:t>
            </a:r>
            <a:r>
              <a:rPr sz="2800" spc="-70">
                <a:solidFill>
                  <a:srgbClr val="538CD4"/>
                </a:solidFill>
              </a:rPr>
              <a:t> </a:t>
            </a:r>
            <a:r>
              <a:rPr sz="2800" spc="-10">
                <a:solidFill>
                  <a:srgbClr val="538CD4"/>
                </a:solidFill>
              </a:rPr>
              <a:t>Tendency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91180" y="1128015"/>
            <a:ext cx="1571625" cy="173228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94005" algn="l"/>
              </a:tabLst>
            </a:pPr>
            <a:r>
              <a:rPr sz="3200" spc="-20">
                <a:latin typeface="Calibri"/>
                <a:cs typeface="Calibri"/>
              </a:rPr>
              <a:t>Mean</a:t>
            </a:r>
            <a:endParaRPr sz="3200">
              <a:latin typeface="Calibri"/>
              <a:cs typeface="Calibri"/>
            </a:endParaRPr>
          </a:p>
          <a:p>
            <a:pPr marL="294005" indent="-28130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94005" algn="l"/>
              </a:tabLst>
            </a:pPr>
            <a:r>
              <a:rPr sz="3200" spc="-10">
                <a:latin typeface="Calibri"/>
                <a:cs typeface="Calibri"/>
              </a:rPr>
              <a:t>Median</a:t>
            </a:r>
            <a:endParaRPr sz="3200">
              <a:latin typeface="Calibri"/>
              <a:cs typeface="Calibri"/>
            </a:endParaRPr>
          </a:p>
          <a:p>
            <a:pPr marL="294005" indent="-28130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94005" algn="l"/>
              </a:tabLst>
            </a:pPr>
            <a:r>
              <a:rPr sz="3200" spc="-20">
                <a:latin typeface="Calibri"/>
                <a:cs typeface="Calibri"/>
              </a:rPr>
              <a:t>Mode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635803" y="4875768"/>
            <a:ext cx="28257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000" spc="-25">
                <a:solidFill>
                  <a:srgbClr val="FFFFFF"/>
                </a:solidFill>
                <a:latin typeface="Calibri"/>
                <a:cs typeface="Calibri"/>
              </a:rPr>
              <a:t>24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675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20">
                <a:moveTo>
                  <a:pt x="9143999" y="45718"/>
                </a:moveTo>
                <a:lnTo>
                  <a:pt x="0" y="45718"/>
                </a:lnTo>
                <a:lnTo>
                  <a:pt x="0" y="0"/>
                </a:lnTo>
                <a:lnTo>
                  <a:pt x="9143999" y="0"/>
                </a:lnTo>
                <a:lnTo>
                  <a:pt x="9143999" y="45718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>
                <a:solidFill>
                  <a:srgbClr val="538CD4"/>
                </a:solidFill>
              </a:rPr>
              <a:t>Mean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1675" y="2245022"/>
            <a:ext cx="63677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700">
                <a:latin typeface="Calibri"/>
                <a:cs typeface="Calibri"/>
              </a:rPr>
              <a:t>The</a:t>
            </a:r>
            <a:r>
              <a:rPr sz="2700" spc="-4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mean</a:t>
            </a:r>
            <a:r>
              <a:rPr sz="2700" spc="-4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is</a:t>
            </a:r>
            <a:r>
              <a:rPr sz="2700" spc="-3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the</a:t>
            </a:r>
            <a:r>
              <a:rPr sz="2700" spc="-40">
                <a:latin typeface="Calibri"/>
                <a:cs typeface="Calibri"/>
              </a:rPr>
              <a:t> </a:t>
            </a:r>
            <a:r>
              <a:rPr sz="2700" spc="-10">
                <a:latin typeface="Calibri"/>
                <a:cs typeface="Calibri"/>
              </a:rPr>
              <a:t>average</a:t>
            </a:r>
            <a:r>
              <a:rPr sz="2700" spc="-4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of</a:t>
            </a:r>
            <a:r>
              <a:rPr sz="2700" spc="-4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all</a:t>
            </a:r>
            <a:r>
              <a:rPr sz="2700" spc="-3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numbers</a:t>
            </a:r>
            <a:r>
              <a:rPr sz="2700" spc="-4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and</a:t>
            </a:r>
            <a:r>
              <a:rPr sz="2700" spc="-40">
                <a:latin typeface="Calibri"/>
                <a:cs typeface="Calibri"/>
              </a:rPr>
              <a:t> </a:t>
            </a:r>
            <a:r>
              <a:rPr sz="2700" spc="-25">
                <a:latin typeface="Calibri"/>
                <a:cs typeface="Calibri"/>
              </a:rPr>
              <a:t>is </a:t>
            </a:r>
            <a:r>
              <a:rPr sz="2700">
                <a:latin typeface="Calibri"/>
                <a:cs typeface="Calibri"/>
              </a:rPr>
              <a:t>sometimes</a:t>
            </a:r>
            <a:r>
              <a:rPr sz="2700" spc="-5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called</a:t>
            </a:r>
            <a:r>
              <a:rPr sz="2700" spc="-4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the</a:t>
            </a:r>
            <a:r>
              <a:rPr sz="2700" spc="-4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arithmetic</a:t>
            </a:r>
            <a:r>
              <a:rPr sz="2700" spc="-45">
                <a:latin typeface="Calibri"/>
                <a:cs typeface="Calibri"/>
              </a:rPr>
              <a:t> </a:t>
            </a:r>
            <a:r>
              <a:rPr sz="2700" spc="-10">
                <a:latin typeface="Calibri"/>
                <a:cs typeface="Calibri"/>
              </a:rPr>
              <a:t>mean.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25</a:t>
            </a:fld>
            <a:endParaRPr spc="-25"/>
          </a:p>
        </p:txBody>
      </p:sp>
      <p:sp>
        <p:nvSpPr>
          <p:cNvPr id="8" name="object 8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538CD4"/>
                </a:solidFill>
              </a:rPr>
              <a:t>Median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2048011"/>
            <a:ext cx="787209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700">
                <a:latin typeface="Calibri"/>
                <a:cs typeface="Calibri"/>
              </a:rPr>
              <a:t>The</a:t>
            </a:r>
            <a:r>
              <a:rPr sz="2700" spc="-40">
                <a:latin typeface="Calibri"/>
                <a:cs typeface="Calibri"/>
              </a:rPr>
              <a:t> </a:t>
            </a:r>
            <a:r>
              <a:rPr sz="2700" spc="-10">
                <a:latin typeface="Calibri"/>
                <a:cs typeface="Calibri"/>
              </a:rPr>
              <a:t>statistical</a:t>
            </a:r>
            <a:r>
              <a:rPr sz="2700" spc="-2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median</a:t>
            </a:r>
            <a:r>
              <a:rPr sz="2700" spc="-2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is</a:t>
            </a:r>
            <a:r>
              <a:rPr sz="2700" spc="-2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the</a:t>
            </a:r>
            <a:r>
              <a:rPr sz="2700" spc="-2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middle</a:t>
            </a:r>
            <a:r>
              <a:rPr sz="2700" spc="-2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number</a:t>
            </a:r>
            <a:r>
              <a:rPr sz="2700" spc="-2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in</a:t>
            </a:r>
            <a:r>
              <a:rPr sz="2700" spc="-25">
                <a:latin typeface="Calibri"/>
                <a:cs typeface="Calibri"/>
              </a:rPr>
              <a:t> </a:t>
            </a:r>
            <a:r>
              <a:rPr sz="2700" spc="-50">
                <a:latin typeface="Calibri"/>
                <a:cs typeface="Calibri"/>
              </a:rPr>
              <a:t>a </a:t>
            </a:r>
            <a:r>
              <a:rPr sz="2700">
                <a:latin typeface="Calibri"/>
                <a:cs typeface="Calibri"/>
              </a:rPr>
              <a:t>sequence</a:t>
            </a:r>
            <a:r>
              <a:rPr sz="2700" spc="-5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of</a:t>
            </a:r>
            <a:r>
              <a:rPr sz="2700" spc="-4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numbers.</a:t>
            </a:r>
            <a:r>
              <a:rPr sz="2700" spc="-50">
                <a:latin typeface="Calibri"/>
                <a:cs typeface="Calibri"/>
              </a:rPr>
              <a:t> </a:t>
            </a:r>
            <a:r>
              <a:rPr sz="2700" spc="-110">
                <a:latin typeface="Calibri"/>
                <a:cs typeface="Calibri"/>
              </a:rPr>
              <a:t>To</a:t>
            </a:r>
            <a:r>
              <a:rPr sz="2700" spc="-4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find</a:t>
            </a:r>
            <a:r>
              <a:rPr sz="2700" spc="-5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the</a:t>
            </a:r>
            <a:r>
              <a:rPr sz="2700" spc="-4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median,</a:t>
            </a:r>
            <a:r>
              <a:rPr sz="2700" spc="-50">
                <a:latin typeface="Calibri"/>
                <a:cs typeface="Calibri"/>
              </a:rPr>
              <a:t> </a:t>
            </a:r>
            <a:r>
              <a:rPr sz="2700" spc="-10">
                <a:latin typeface="Calibri"/>
                <a:cs typeface="Calibri"/>
              </a:rPr>
              <a:t>organize</a:t>
            </a:r>
            <a:r>
              <a:rPr sz="2700" spc="-45">
                <a:latin typeface="Calibri"/>
                <a:cs typeface="Calibri"/>
              </a:rPr>
              <a:t> </a:t>
            </a:r>
            <a:r>
              <a:rPr sz="2700" spc="-20">
                <a:latin typeface="Calibri"/>
                <a:cs typeface="Calibri"/>
              </a:rPr>
              <a:t>each </a:t>
            </a:r>
            <a:r>
              <a:rPr sz="2700">
                <a:latin typeface="Calibri"/>
                <a:cs typeface="Calibri"/>
              </a:rPr>
              <a:t>number</a:t>
            </a:r>
            <a:r>
              <a:rPr sz="2700" spc="-3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in</a:t>
            </a:r>
            <a:r>
              <a:rPr sz="2700" spc="-3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order</a:t>
            </a:r>
            <a:r>
              <a:rPr sz="2700" spc="-3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by</a:t>
            </a:r>
            <a:r>
              <a:rPr sz="2700" spc="-3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size;</a:t>
            </a:r>
            <a:r>
              <a:rPr sz="2700" spc="-3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the</a:t>
            </a:r>
            <a:r>
              <a:rPr sz="2700" spc="-3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number</a:t>
            </a:r>
            <a:r>
              <a:rPr sz="2700" spc="-3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in</a:t>
            </a:r>
            <a:r>
              <a:rPr sz="2700" spc="-2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the</a:t>
            </a:r>
            <a:r>
              <a:rPr sz="2700" spc="-3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middle</a:t>
            </a:r>
            <a:r>
              <a:rPr sz="2700" spc="-3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is</a:t>
            </a:r>
            <a:r>
              <a:rPr sz="2700" spc="-30">
                <a:latin typeface="Calibri"/>
                <a:cs typeface="Calibri"/>
              </a:rPr>
              <a:t> </a:t>
            </a:r>
            <a:r>
              <a:rPr sz="2700" spc="-25">
                <a:latin typeface="Calibri"/>
                <a:cs typeface="Calibri"/>
              </a:rPr>
              <a:t>the </a:t>
            </a:r>
            <a:r>
              <a:rPr sz="2700" spc="-10">
                <a:latin typeface="Calibri"/>
                <a:cs typeface="Calibri"/>
              </a:rPr>
              <a:t>median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26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675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20">
                <a:moveTo>
                  <a:pt x="9143999" y="45718"/>
                </a:moveTo>
                <a:lnTo>
                  <a:pt x="0" y="45718"/>
                </a:lnTo>
                <a:lnTo>
                  <a:pt x="0" y="0"/>
                </a:lnTo>
                <a:lnTo>
                  <a:pt x="9143999" y="0"/>
                </a:lnTo>
                <a:lnTo>
                  <a:pt x="9143999" y="45718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>
                <a:solidFill>
                  <a:srgbClr val="4F81BD"/>
                </a:solidFill>
              </a:rPr>
              <a:t>Mode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0225" y="2459491"/>
            <a:ext cx="78593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700">
                <a:latin typeface="Calibri"/>
                <a:cs typeface="Calibri"/>
              </a:rPr>
              <a:t>The</a:t>
            </a:r>
            <a:r>
              <a:rPr sz="2700" spc="-4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mode</a:t>
            </a:r>
            <a:r>
              <a:rPr sz="2700" spc="-3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is</a:t>
            </a:r>
            <a:r>
              <a:rPr sz="2700" spc="-3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the</a:t>
            </a:r>
            <a:r>
              <a:rPr sz="2700" spc="-4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number</a:t>
            </a:r>
            <a:r>
              <a:rPr sz="2700" spc="-3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that</a:t>
            </a:r>
            <a:r>
              <a:rPr sz="2700" spc="-3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occurs</a:t>
            </a:r>
            <a:r>
              <a:rPr sz="2700" spc="-4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most</a:t>
            </a:r>
            <a:r>
              <a:rPr sz="2700" spc="-3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often</a:t>
            </a:r>
            <a:r>
              <a:rPr sz="2700" spc="-35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within</a:t>
            </a:r>
            <a:r>
              <a:rPr sz="2700" spc="-40">
                <a:latin typeface="Calibri"/>
                <a:cs typeface="Calibri"/>
              </a:rPr>
              <a:t> </a:t>
            </a:r>
            <a:r>
              <a:rPr sz="2700" spc="-50">
                <a:latin typeface="Calibri"/>
                <a:cs typeface="Calibri"/>
              </a:rPr>
              <a:t>a </a:t>
            </a:r>
            <a:r>
              <a:rPr sz="2700">
                <a:latin typeface="Calibri"/>
                <a:cs typeface="Calibri"/>
              </a:rPr>
              <a:t>set</a:t>
            </a:r>
            <a:r>
              <a:rPr sz="2700" spc="-30">
                <a:latin typeface="Calibri"/>
                <a:cs typeface="Calibri"/>
              </a:rPr>
              <a:t> </a:t>
            </a:r>
            <a:r>
              <a:rPr sz="2700">
                <a:latin typeface="Calibri"/>
                <a:cs typeface="Calibri"/>
              </a:rPr>
              <a:t>of</a:t>
            </a:r>
            <a:r>
              <a:rPr sz="2700" spc="-30">
                <a:latin typeface="Calibri"/>
                <a:cs typeface="Calibri"/>
              </a:rPr>
              <a:t> </a:t>
            </a:r>
            <a:r>
              <a:rPr sz="2700" spc="-10">
                <a:latin typeface="Calibri"/>
                <a:cs typeface="Calibri"/>
              </a:rPr>
              <a:t>numbers.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27</a:t>
            </a:fld>
            <a:endParaRPr spc="-25"/>
          </a:p>
        </p:txBody>
      </p:sp>
      <p:sp>
        <p:nvSpPr>
          <p:cNvPr id="8" name="object 8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88705"/>
            <a:ext cx="9144000" cy="255270"/>
          </a:xfrm>
          <a:custGeom>
            <a:avLst/>
            <a:gdLst/>
            <a:ahLst/>
            <a:cxnLst/>
            <a:rect l="l" t="t" r="r" b="b"/>
            <a:pathLst>
              <a:path w="9144000" h="255270">
                <a:moveTo>
                  <a:pt x="9143999" y="254794"/>
                </a:moveTo>
                <a:lnTo>
                  <a:pt x="0" y="254794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4794"/>
                </a:lnTo>
                <a:close/>
              </a:path>
            </a:pathLst>
          </a:custGeom>
          <a:solidFill>
            <a:srgbClr val="538C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7698" y="4912598"/>
            <a:ext cx="3429635" cy="16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65954" y="1814509"/>
            <a:ext cx="740537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>
                <a:solidFill>
                  <a:srgbClr val="4F81BD"/>
                </a:solidFill>
              </a:rPr>
              <a:t>Measure</a:t>
            </a:r>
            <a:r>
              <a:rPr sz="3950" spc="-60">
                <a:solidFill>
                  <a:srgbClr val="4F81BD"/>
                </a:solidFill>
              </a:rPr>
              <a:t> </a:t>
            </a:r>
            <a:r>
              <a:rPr sz="3950">
                <a:solidFill>
                  <a:srgbClr val="4F81BD"/>
                </a:solidFill>
              </a:rPr>
              <a:t>of</a:t>
            </a:r>
            <a:r>
              <a:rPr sz="3950" spc="-50">
                <a:solidFill>
                  <a:srgbClr val="4F81BD"/>
                </a:solidFill>
              </a:rPr>
              <a:t> </a:t>
            </a:r>
            <a:r>
              <a:rPr sz="3950">
                <a:solidFill>
                  <a:srgbClr val="4F81BD"/>
                </a:solidFill>
              </a:rPr>
              <a:t>Spread</a:t>
            </a:r>
            <a:r>
              <a:rPr sz="3950" spc="-50">
                <a:solidFill>
                  <a:srgbClr val="4F81BD"/>
                </a:solidFill>
              </a:rPr>
              <a:t> </a:t>
            </a:r>
            <a:r>
              <a:rPr sz="3950">
                <a:solidFill>
                  <a:srgbClr val="4F81BD"/>
                </a:solidFill>
              </a:rPr>
              <a:t>/</a:t>
            </a:r>
            <a:r>
              <a:rPr sz="3950" spc="-50">
                <a:solidFill>
                  <a:srgbClr val="4F81BD"/>
                </a:solidFill>
              </a:rPr>
              <a:t> </a:t>
            </a:r>
            <a:r>
              <a:rPr sz="3950">
                <a:solidFill>
                  <a:srgbClr val="4F81BD"/>
                </a:solidFill>
              </a:rPr>
              <a:t>Data</a:t>
            </a:r>
            <a:r>
              <a:rPr sz="3950" spc="-50">
                <a:solidFill>
                  <a:srgbClr val="4F81BD"/>
                </a:solidFill>
              </a:rPr>
              <a:t> </a:t>
            </a:r>
            <a:r>
              <a:rPr sz="3950" spc="-10">
                <a:solidFill>
                  <a:srgbClr val="4F81BD"/>
                </a:solidFill>
              </a:rPr>
              <a:t>Variability</a:t>
            </a:r>
            <a:endParaRPr sz="3950"/>
          </a:p>
        </p:txBody>
      </p:sp>
      <p:sp>
        <p:nvSpPr>
          <p:cNvPr id="5" name="object 5"/>
          <p:cNvSpPr txBox="1"/>
          <p:nvPr/>
        </p:nvSpPr>
        <p:spPr>
          <a:xfrm>
            <a:off x="8764489" y="4659868"/>
            <a:ext cx="154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675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20">
                <a:moveTo>
                  <a:pt x="9143999" y="45718"/>
                </a:moveTo>
                <a:lnTo>
                  <a:pt x="0" y="45718"/>
                </a:lnTo>
                <a:lnTo>
                  <a:pt x="0" y="0"/>
                </a:lnTo>
                <a:lnTo>
                  <a:pt x="9143999" y="0"/>
                </a:lnTo>
                <a:lnTo>
                  <a:pt x="9143999" y="45718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0225" y="90939"/>
            <a:ext cx="4192904" cy="366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>
                <a:solidFill>
                  <a:srgbClr val="4F81BD"/>
                </a:solidFill>
                <a:latin typeface="Calibri"/>
                <a:cs typeface="Calibri"/>
              </a:rPr>
              <a:t>Range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3200">
              <a:latin typeface="Calibri"/>
              <a:cs typeface="Calibri"/>
            </a:endParaRPr>
          </a:p>
          <a:p>
            <a:pPr marL="323215" marR="5080">
              <a:lnSpc>
                <a:spcPct val="100000"/>
              </a:lnSpc>
            </a:pPr>
            <a:r>
              <a:rPr sz="3200">
                <a:latin typeface="Calibri"/>
                <a:cs typeface="Calibri"/>
              </a:rPr>
              <a:t>The</a:t>
            </a:r>
            <a:r>
              <a:rPr sz="3200" spc="-90">
                <a:latin typeface="Calibri"/>
                <a:cs typeface="Calibri"/>
              </a:rPr>
              <a:t> </a:t>
            </a:r>
            <a:r>
              <a:rPr sz="3200">
                <a:latin typeface="Calibri"/>
                <a:cs typeface="Calibri"/>
              </a:rPr>
              <a:t>range</a:t>
            </a:r>
            <a:r>
              <a:rPr sz="3200" spc="-85">
                <a:latin typeface="Calibri"/>
                <a:cs typeface="Calibri"/>
              </a:rPr>
              <a:t> </a:t>
            </a:r>
            <a:r>
              <a:rPr sz="3200">
                <a:latin typeface="Calibri"/>
                <a:cs typeface="Calibri"/>
              </a:rPr>
              <a:t>is</a:t>
            </a:r>
            <a:r>
              <a:rPr sz="3200" spc="-85">
                <a:latin typeface="Calibri"/>
                <a:cs typeface="Calibri"/>
              </a:rPr>
              <a:t> </a:t>
            </a:r>
            <a:r>
              <a:rPr sz="3200" spc="-25">
                <a:latin typeface="Calibri"/>
                <a:cs typeface="Calibri"/>
              </a:rPr>
              <a:t>the </a:t>
            </a:r>
            <a:r>
              <a:rPr sz="3200" spc="-10">
                <a:latin typeface="Calibri"/>
                <a:cs typeface="Calibri"/>
              </a:rPr>
              <a:t>difference</a:t>
            </a:r>
            <a:r>
              <a:rPr sz="3200" spc="-135">
                <a:latin typeface="Calibri"/>
                <a:cs typeface="Calibri"/>
              </a:rPr>
              <a:t> </a:t>
            </a:r>
            <a:r>
              <a:rPr sz="3200">
                <a:latin typeface="Calibri"/>
                <a:cs typeface="Calibri"/>
              </a:rPr>
              <a:t>between</a:t>
            </a:r>
            <a:r>
              <a:rPr sz="3200" spc="-135">
                <a:latin typeface="Calibri"/>
                <a:cs typeface="Calibri"/>
              </a:rPr>
              <a:t> </a:t>
            </a:r>
            <a:r>
              <a:rPr sz="3200" spc="-25">
                <a:latin typeface="Calibri"/>
                <a:cs typeface="Calibri"/>
              </a:rPr>
              <a:t>the </a:t>
            </a:r>
            <a:r>
              <a:rPr sz="3200">
                <a:latin typeface="Calibri"/>
                <a:cs typeface="Calibri"/>
              </a:rPr>
              <a:t>highest</a:t>
            </a:r>
            <a:r>
              <a:rPr sz="3200" spc="-114">
                <a:latin typeface="Calibri"/>
                <a:cs typeface="Calibri"/>
              </a:rPr>
              <a:t> </a:t>
            </a:r>
            <a:r>
              <a:rPr sz="3200">
                <a:latin typeface="Calibri"/>
                <a:cs typeface="Calibri"/>
              </a:rPr>
              <a:t>and</a:t>
            </a:r>
            <a:r>
              <a:rPr sz="3200" spc="-114">
                <a:latin typeface="Calibri"/>
                <a:cs typeface="Calibri"/>
              </a:rPr>
              <a:t> </a:t>
            </a:r>
            <a:r>
              <a:rPr sz="3200" spc="-10">
                <a:latin typeface="Calibri"/>
                <a:cs typeface="Calibri"/>
              </a:rPr>
              <a:t>lowest </a:t>
            </a:r>
            <a:r>
              <a:rPr sz="3200">
                <a:latin typeface="Calibri"/>
                <a:cs typeface="Calibri"/>
              </a:rPr>
              <a:t>values</a:t>
            </a:r>
            <a:r>
              <a:rPr sz="3200" spc="-85">
                <a:latin typeface="Calibri"/>
                <a:cs typeface="Calibri"/>
              </a:rPr>
              <a:t> </a:t>
            </a:r>
            <a:r>
              <a:rPr sz="3200">
                <a:latin typeface="Calibri"/>
                <a:cs typeface="Calibri"/>
              </a:rPr>
              <a:t>within</a:t>
            </a:r>
            <a:r>
              <a:rPr sz="3200" spc="-85">
                <a:latin typeface="Calibri"/>
                <a:cs typeface="Calibri"/>
              </a:rPr>
              <a:t> </a:t>
            </a:r>
            <a:r>
              <a:rPr sz="3200">
                <a:latin typeface="Calibri"/>
                <a:cs typeface="Calibri"/>
              </a:rPr>
              <a:t>a</a:t>
            </a:r>
            <a:r>
              <a:rPr sz="3200" spc="-80">
                <a:latin typeface="Calibri"/>
                <a:cs typeface="Calibri"/>
              </a:rPr>
              <a:t> </a:t>
            </a:r>
            <a:r>
              <a:rPr sz="3200">
                <a:latin typeface="Calibri"/>
                <a:cs typeface="Calibri"/>
              </a:rPr>
              <a:t>set</a:t>
            </a:r>
            <a:r>
              <a:rPr sz="3200" spc="-85">
                <a:latin typeface="Calibri"/>
                <a:cs typeface="Calibri"/>
              </a:rPr>
              <a:t> </a:t>
            </a:r>
            <a:r>
              <a:rPr sz="3200" spc="-25">
                <a:latin typeface="Calibri"/>
                <a:cs typeface="Calibri"/>
              </a:rPr>
              <a:t>of </a:t>
            </a:r>
            <a:r>
              <a:rPr sz="3200" spc="-10">
                <a:latin typeface="Calibri"/>
                <a:cs typeface="Calibri"/>
              </a:rPr>
              <a:t>numbers.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6312898" y="1084671"/>
            <a:ext cx="1733550" cy="3162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29</a:t>
            </a:fld>
            <a:endParaRPr spc="-25"/>
          </a:p>
        </p:txBody>
      </p:sp>
      <p:sp>
        <p:nvSpPr>
          <p:cNvPr id="8" name="object 8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77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z="2500" b="1" spc="-10">
                <a:solidFill>
                  <a:srgbClr val="538CD4"/>
                </a:solidFill>
                <a:latin typeface="Calibri"/>
                <a:cs typeface="Calibri"/>
              </a:rPr>
              <a:t>Interquartile</a:t>
            </a:r>
            <a:r>
              <a:rPr sz="2500" b="1" spc="-80">
                <a:solidFill>
                  <a:srgbClr val="538CD4"/>
                </a:solidFill>
                <a:latin typeface="Calibri"/>
                <a:cs typeface="Calibri"/>
              </a:rPr>
              <a:t> </a:t>
            </a:r>
            <a:r>
              <a:rPr sz="2500" b="1">
                <a:solidFill>
                  <a:srgbClr val="538CD4"/>
                </a:solidFill>
                <a:latin typeface="Calibri"/>
                <a:cs typeface="Calibri"/>
              </a:rPr>
              <a:t>Range</a:t>
            </a:r>
            <a:r>
              <a:rPr sz="2500" b="1" spc="-75">
                <a:solidFill>
                  <a:srgbClr val="538CD4"/>
                </a:solidFill>
                <a:latin typeface="Calibri"/>
                <a:cs typeface="Calibri"/>
              </a:rPr>
              <a:t> </a:t>
            </a:r>
            <a:r>
              <a:rPr sz="2500" b="1" spc="-10">
                <a:solidFill>
                  <a:srgbClr val="538CD4"/>
                </a:solidFill>
                <a:latin typeface="Calibri"/>
                <a:cs typeface="Calibri"/>
              </a:rPr>
              <a:t>(IQR)Range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822" y="1238110"/>
            <a:ext cx="3907790" cy="2549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6705">
              <a:lnSpc>
                <a:spcPct val="114999"/>
              </a:lnSpc>
              <a:spcBef>
                <a:spcPts val="100"/>
              </a:spcBef>
            </a:pPr>
            <a:r>
              <a:rPr sz="2400">
                <a:latin typeface="Calibri"/>
                <a:cs typeface="Calibri"/>
              </a:rPr>
              <a:t>The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interquartile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range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the </a:t>
            </a:r>
            <a:r>
              <a:rPr sz="2400">
                <a:latin typeface="Calibri"/>
                <a:cs typeface="Calibri"/>
              </a:rPr>
              <a:t>middle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half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14999"/>
              </a:lnSpc>
            </a:pPr>
            <a:r>
              <a:rPr sz="2400">
                <a:latin typeface="Calibri"/>
                <a:cs typeface="Calibri"/>
              </a:rPr>
              <a:t>Mathematically</a:t>
            </a:r>
            <a:r>
              <a:rPr sz="2400" spc="-105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the </a:t>
            </a:r>
            <a:r>
              <a:rPr sz="2400" spc="-20">
                <a:latin typeface="Calibri"/>
                <a:cs typeface="Calibri"/>
              </a:rPr>
              <a:t>interquartile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range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includes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the </a:t>
            </a:r>
            <a:r>
              <a:rPr sz="2400">
                <a:latin typeface="Calibri"/>
                <a:cs typeface="Calibri"/>
              </a:rPr>
              <a:t>50%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data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points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that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fall </a:t>
            </a:r>
            <a:r>
              <a:rPr sz="2400">
                <a:latin typeface="Calibri"/>
                <a:cs typeface="Calibri"/>
              </a:rPr>
              <a:t>between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Q1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Q3.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398" y="903100"/>
            <a:ext cx="3162299" cy="36385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30</a:t>
            </a:fld>
            <a:endParaRPr spc="-25"/>
          </a:p>
        </p:txBody>
      </p:sp>
      <p:sp>
        <p:nvSpPr>
          <p:cNvPr id="7" name="object 7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78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4F81BD"/>
                </a:solidFill>
              </a:rPr>
              <a:t>Standard</a:t>
            </a:r>
            <a:r>
              <a:rPr spc="-135">
                <a:solidFill>
                  <a:srgbClr val="4F81BD"/>
                </a:solidFill>
              </a:rPr>
              <a:t> </a:t>
            </a:r>
            <a:r>
              <a:rPr spc="-10">
                <a:solidFill>
                  <a:srgbClr val="4F81BD"/>
                </a:solidFill>
              </a:rPr>
              <a:t>Deviation</a:t>
            </a:r>
            <a:r>
              <a:rPr spc="-130">
                <a:solidFill>
                  <a:srgbClr val="4F81BD"/>
                </a:solidFill>
              </a:rPr>
              <a:t> </a:t>
            </a:r>
            <a:r>
              <a:rPr spc="-25">
                <a:solidFill>
                  <a:srgbClr val="4F81BD"/>
                </a:solidFill>
              </a:rPr>
              <a:t>(</a:t>
            </a:r>
            <a:r>
              <a:rPr b="1" spc="-25">
                <a:solidFill>
                  <a:srgbClr val="4F81BD"/>
                </a:solidFill>
                <a:latin typeface="Arial"/>
                <a:cs typeface="Arial"/>
              </a:rPr>
              <a:t>σ</a:t>
            </a:r>
            <a:r>
              <a:rPr b="1" spc="-25">
                <a:solidFill>
                  <a:srgbClr val="4F81BD"/>
                </a:solidFill>
                <a:latin typeface="Calibri"/>
                <a:cs typeface="Calibri"/>
              </a:rPr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1675" y="953208"/>
            <a:ext cx="376936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latin typeface="Calibri"/>
                <a:cs typeface="Calibri"/>
              </a:rPr>
              <a:t>Standard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Deviation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(SD)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50">
                <a:latin typeface="Calibri"/>
                <a:cs typeface="Calibri"/>
              </a:rPr>
              <a:t>a </a:t>
            </a:r>
            <a:r>
              <a:rPr sz="2400" spc="-10">
                <a:latin typeface="Calibri"/>
                <a:cs typeface="Calibri"/>
              </a:rPr>
              <a:t>measure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that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used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to </a:t>
            </a:r>
            <a:r>
              <a:rPr sz="2400">
                <a:latin typeface="Calibri"/>
                <a:cs typeface="Calibri"/>
              </a:rPr>
              <a:t>quantify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amount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of </a:t>
            </a:r>
            <a:r>
              <a:rPr sz="2400">
                <a:latin typeface="Calibri"/>
                <a:cs typeface="Calibri"/>
              </a:rPr>
              <a:t>variation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or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dispersion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set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data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values.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5064500" y="1298250"/>
            <a:ext cx="2752724" cy="1657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31</a:t>
            </a:fld>
            <a:endParaRPr spc="-25"/>
          </a:p>
        </p:txBody>
      </p:sp>
      <p:sp>
        <p:nvSpPr>
          <p:cNvPr id="7" name="object 7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78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4F81BD"/>
                </a:solidFill>
              </a:rPr>
              <a:t>Standard</a:t>
            </a:r>
            <a:r>
              <a:rPr spc="-135">
                <a:solidFill>
                  <a:srgbClr val="4F81BD"/>
                </a:solidFill>
              </a:rPr>
              <a:t> </a:t>
            </a:r>
            <a:r>
              <a:rPr spc="-10">
                <a:solidFill>
                  <a:srgbClr val="4F81BD"/>
                </a:solidFill>
              </a:rPr>
              <a:t>Deviation</a:t>
            </a:r>
            <a:r>
              <a:rPr spc="-130">
                <a:solidFill>
                  <a:srgbClr val="4F81BD"/>
                </a:solidFill>
              </a:rPr>
              <a:t> </a:t>
            </a:r>
            <a:r>
              <a:rPr spc="-25">
                <a:solidFill>
                  <a:srgbClr val="4F81BD"/>
                </a:solidFill>
              </a:rPr>
              <a:t>(</a:t>
            </a:r>
            <a:r>
              <a:rPr b="1" spc="-25">
                <a:solidFill>
                  <a:srgbClr val="4F81BD"/>
                </a:solidFill>
                <a:latin typeface="Arial"/>
                <a:cs typeface="Arial"/>
              </a:rPr>
              <a:t>σ</a:t>
            </a:r>
            <a:r>
              <a:rPr b="1" spc="-25">
                <a:solidFill>
                  <a:srgbClr val="4F81BD"/>
                </a:solidFill>
                <a:latin typeface="Calibri"/>
                <a:cs typeface="Calibri"/>
              </a:rPr>
              <a:t>)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2134434" y="1486314"/>
            <a:ext cx="4618654" cy="26514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/>
          <a:stretch>
            <a:fillRect/>
          </a:stretch>
        </p:blipFill>
        <p:spPr>
          <a:xfrm>
            <a:off x="26121" y="4887603"/>
            <a:ext cx="1014488" cy="2558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32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4F81BD"/>
                </a:solidFill>
              </a:rPr>
              <a:t>Variance(</a:t>
            </a:r>
            <a:r>
              <a:rPr b="1" spc="-10">
                <a:solidFill>
                  <a:srgbClr val="4F81BD"/>
                </a:solidFill>
                <a:latin typeface="Arial"/>
                <a:cs typeface="Arial"/>
              </a:rPr>
              <a:t>σ</a:t>
            </a:r>
            <a:r>
              <a:rPr sz="3150" b="1" spc="-15" baseline="31746">
                <a:solidFill>
                  <a:srgbClr val="4F81BD"/>
                </a:solidFill>
                <a:latin typeface="Calibri"/>
                <a:cs typeface="Calibri"/>
              </a:rPr>
              <a:t>2</a:t>
            </a:r>
            <a:r>
              <a:rPr sz="3200" b="1" spc="-10">
                <a:solidFill>
                  <a:srgbClr val="4F81BD"/>
                </a:solidFill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675" y="953167"/>
            <a:ext cx="3656965" cy="308991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85"/>
              </a:spcBef>
            </a:pPr>
            <a:r>
              <a:rPr sz="2400" spc="-10">
                <a:latin typeface="Calibri"/>
                <a:cs typeface="Calibri"/>
              </a:rPr>
              <a:t>Variance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average </a:t>
            </a:r>
            <a:r>
              <a:rPr sz="2400">
                <a:latin typeface="Calibri"/>
                <a:cs typeface="Calibri"/>
              </a:rPr>
              <a:t>squared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difference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the </a:t>
            </a:r>
            <a:r>
              <a:rPr sz="2400">
                <a:latin typeface="Calibri"/>
                <a:cs typeface="Calibri"/>
              </a:rPr>
              <a:t>values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from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mean.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Unlike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previous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measures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of </a:t>
            </a:r>
            <a:r>
              <a:rPr sz="2400" spc="-20">
                <a:latin typeface="Calibri"/>
                <a:cs typeface="Calibri"/>
              </a:rPr>
              <a:t>variability,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variance </a:t>
            </a:r>
            <a:r>
              <a:rPr sz="2400">
                <a:latin typeface="Calibri"/>
                <a:cs typeface="Calibri"/>
              </a:rPr>
              <a:t>includes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all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values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</a:t>
            </a:r>
            <a:r>
              <a:rPr sz="2400" spc="-25">
                <a:latin typeface="Calibri"/>
                <a:cs typeface="Calibri"/>
              </a:rPr>
              <a:t> the </a:t>
            </a:r>
            <a:r>
              <a:rPr sz="2400">
                <a:latin typeface="Calibri"/>
                <a:cs typeface="Calibri"/>
              </a:rPr>
              <a:t>calculation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by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comparing </a:t>
            </a:r>
            <a:r>
              <a:rPr sz="2400">
                <a:latin typeface="Calibri"/>
                <a:cs typeface="Calibri"/>
              </a:rPr>
              <a:t>each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value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mean.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4859825" y="1049071"/>
            <a:ext cx="1809749" cy="952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5164625" y="2412020"/>
            <a:ext cx="1504949" cy="7810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33</a:t>
            </a:fld>
            <a:endParaRPr spc="-25"/>
          </a:p>
        </p:txBody>
      </p:sp>
      <p:sp>
        <p:nvSpPr>
          <p:cNvPr id="8" name="object 8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0225" y="90939"/>
            <a:ext cx="167258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4F81BD"/>
                </a:solidFill>
              </a:rPr>
              <a:t>Percentile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8902" y="845911"/>
            <a:ext cx="7379970" cy="10083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05435" marR="5080" indent="-293370" algn="just">
              <a:lnSpc>
                <a:spcPts val="2380"/>
              </a:lnSpc>
              <a:spcBef>
                <a:spcPts val="675"/>
              </a:spcBef>
              <a:buFont typeface="Arial MT"/>
              <a:buChar char="•"/>
              <a:tabLst>
                <a:tab pos="307975" algn="l"/>
              </a:tabLst>
            </a:pPr>
            <a:r>
              <a:rPr sz="2450">
                <a:latin typeface="Calibri"/>
                <a:cs typeface="Calibri"/>
              </a:rPr>
              <a:t>A percentile</a:t>
            </a:r>
            <a:r>
              <a:rPr sz="2450" spc="1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(or</a:t>
            </a:r>
            <a:r>
              <a:rPr sz="2450" spc="1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a</a:t>
            </a:r>
            <a:r>
              <a:rPr sz="2450" spc="1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centile)</a:t>
            </a:r>
            <a:r>
              <a:rPr sz="2450" spc="1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is</a:t>
            </a:r>
            <a:r>
              <a:rPr sz="2450" spc="1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a</a:t>
            </a:r>
            <a:r>
              <a:rPr sz="2450" spc="1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measure</a:t>
            </a:r>
            <a:r>
              <a:rPr sz="2450" spc="15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used</a:t>
            </a:r>
            <a:r>
              <a:rPr sz="2450" spc="1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in</a:t>
            </a:r>
            <a:r>
              <a:rPr sz="2450" spc="10">
                <a:latin typeface="Calibri"/>
                <a:cs typeface="Calibri"/>
              </a:rPr>
              <a:t> </a:t>
            </a:r>
            <a:r>
              <a:rPr sz="2450" spc="-10">
                <a:latin typeface="Calibri"/>
                <a:cs typeface="Calibri"/>
              </a:rPr>
              <a:t>statistics 	</a:t>
            </a:r>
            <a:r>
              <a:rPr sz="2450">
                <a:latin typeface="Calibri"/>
                <a:cs typeface="Calibri"/>
              </a:rPr>
              <a:t>indicating</a:t>
            </a:r>
            <a:r>
              <a:rPr sz="2450" spc="-1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the</a:t>
            </a:r>
            <a:r>
              <a:rPr sz="2450" spc="5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value</a:t>
            </a:r>
            <a:r>
              <a:rPr sz="2450" spc="1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below</a:t>
            </a:r>
            <a:r>
              <a:rPr sz="2450" spc="-5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which</a:t>
            </a:r>
            <a:r>
              <a:rPr sz="2450" spc="1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a</a:t>
            </a:r>
            <a:r>
              <a:rPr sz="2450" spc="5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given</a:t>
            </a:r>
            <a:r>
              <a:rPr sz="2450" spc="5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percentage</a:t>
            </a:r>
            <a:r>
              <a:rPr sz="2450" spc="10">
                <a:latin typeface="Calibri"/>
                <a:cs typeface="Calibri"/>
              </a:rPr>
              <a:t> </a:t>
            </a:r>
            <a:r>
              <a:rPr sz="2450" spc="-25">
                <a:latin typeface="Calibri"/>
                <a:cs typeface="Calibri"/>
              </a:rPr>
              <a:t>of 	</a:t>
            </a:r>
            <a:r>
              <a:rPr sz="2450">
                <a:latin typeface="Calibri"/>
                <a:cs typeface="Calibri"/>
              </a:rPr>
              <a:t>observations</a:t>
            </a:r>
            <a:r>
              <a:rPr sz="2450" spc="1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in</a:t>
            </a:r>
            <a:r>
              <a:rPr sz="2450" spc="2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a</a:t>
            </a:r>
            <a:r>
              <a:rPr sz="2450" spc="15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group</a:t>
            </a:r>
            <a:r>
              <a:rPr sz="2450" spc="2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of</a:t>
            </a:r>
            <a:r>
              <a:rPr sz="2450" spc="2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observations</a:t>
            </a:r>
            <a:r>
              <a:rPr sz="2450" spc="20">
                <a:latin typeface="Calibri"/>
                <a:cs typeface="Calibri"/>
              </a:rPr>
              <a:t> </a:t>
            </a:r>
            <a:r>
              <a:rPr sz="2450" spc="-10">
                <a:latin typeface="Calibri"/>
                <a:cs typeface="Calibri"/>
              </a:rPr>
              <a:t>fall.</a:t>
            </a:r>
            <a:endParaRPr sz="24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2049481" y="2293516"/>
            <a:ext cx="4351318" cy="21823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26121" y="4887603"/>
            <a:ext cx="1014488" cy="25589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34</a:t>
            </a:fld>
            <a:endParaRPr spc="-25"/>
          </a:p>
        </p:txBody>
      </p:sp>
      <p:sp>
        <p:nvSpPr>
          <p:cNvPr id="7" name="object 7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675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20">
                <a:moveTo>
                  <a:pt x="9143999" y="45718"/>
                </a:moveTo>
                <a:lnTo>
                  <a:pt x="0" y="45718"/>
                </a:lnTo>
                <a:lnTo>
                  <a:pt x="0" y="0"/>
                </a:lnTo>
                <a:lnTo>
                  <a:pt x="9143999" y="0"/>
                </a:lnTo>
                <a:lnTo>
                  <a:pt x="9143999" y="45718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4F81BD"/>
                </a:solidFill>
              </a:rPr>
              <a:t>Distributions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0225" y="918155"/>
            <a:ext cx="6665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latin typeface="Calibri"/>
                <a:cs typeface="Calibri"/>
              </a:rPr>
              <a:t>The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graphical</a:t>
            </a:r>
            <a:r>
              <a:rPr sz="1800" spc="-20">
                <a:latin typeface="Calibri"/>
                <a:cs typeface="Calibri"/>
              </a:rPr>
              <a:t> representation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all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observations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is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known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as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distributio</a:t>
            </a:r>
            <a:r>
              <a:rPr sz="1400" spc="-10">
                <a:latin typeface="Calibri"/>
                <a:cs typeface="Calibri"/>
              </a:rPr>
              <a:t>n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2656138" y="1481263"/>
            <a:ext cx="6190192" cy="314898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35</a:t>
            </a:fld>
            <a:endParaRPr spc="-25"/>
          </a:p>
        </p:txBody>
      </p:sp>
      <p:sp>
        <p:nvSpPr>
          <p:cNvPr id="9" name="object 9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78" rIns="0" bIns="0" rtlCol="0">
            <a:spAutoFit/>
          </a:bodyPr>
          <a:lstStyle/>
          <a:p>
            <a:pPr marL="1225550">
              <a:lnSpc>
                <a:spcPct val="100000"/>
              </a:lnSpc>
              <a:spcBef>
                <a:spcPts val="100"/>
              </a:spcBef>
            </a:pPr>
            <a:r>
              <a:rPr>
                <a:solidFill>
                  <a:srgbClr val="4F81BD"/>
                </a:solidFill>
              </a:rPr>
              <a:t>Normal</a:t>
            </a:r>
            <a:r>
              <a:rPr spc="-130">
                <a:solidFill>
                  <a:srgbClr val="4F81BD"/>
                </a:solidFill>
              </a:rPr>
              <a:t> </a:t>
            </a:r>
            <a:r>
              <a:rPr spc="-10">
                <a:solidFill>
                  <a:srgbClr val="4F81BD"/>
                </a:solidFill>
              </a:rPr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400" y="982996"/>
            <a:ext cx="768223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Normal</a:t>
            </a:r>
            <a:r>
              <a:rPr sz="1300" spc="-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spc="-10">
                <a:solidFill>
                  <a:srgbClr val="111111"/>
                </a:solidFill>
                <a:latin typeface="Arial MT"/>
                <a:cs typeface="Arial MT"/>
              </a:rPr>
              <a:t>distribution,</a:t>
            </a:r>
            <a:r>
              <a:rPr sz="13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also</a:t>
            </a:r>
            <a:r>
              <a:rPr sz="1300" spc="-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known</a:t>
            </a:r>
            <a:r>
              <a:rPr sz="13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as</a:t>
            </a:r>
            <a:r>
              <a:rPr sz="13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300" spc="-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spc="-10">
                <a:solidFill>
                  <a:srgbClr val="111111"/>
                </a:solidFill>
                <a:latin typeface="Arial MT"/>
                <a:cs typeface="Arial MT"/>
              </a:rPr>
              <a:t>Gaussian</a:t>
            </a:r>
            <a:r>
              <a:rPr sz="13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spc="-10">
                <a:solidFill>
                  <a:srgbClr val="111111"/>
                </a:solidFill>
                <a:latin typeface="Arial MT"/>
                <a:cs typeface="Arial MT"/>
              </a:rPr>
              <a:t>distribution,</a:t>
            </a:r>
            <a:r>
              <a:rPr sz="1300" spc="-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is</a:t>
            </a:r>
            <a:r>
              <a:rPr sz="13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a</a:t>
            </a:r>
            <a:r>
              <a:rPr sz="130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probability</a:t>
            </a:r>
            <a:r>
              <a:rPr sz="13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spc="-10">
                <a:solidFill>
                  <a:srgbClr val="111111"/>
                </a:solidFill>
                <a:latin typeface="Arial MT"/>
                <a:cs typeface="Arial MT"/>
              </a:rPr>
              <a:t>distribution</a:t>
            </a:r>
            <a:r>
              <a:rPr sz="1300" spc="-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that</a:t>
            </a:r>
            <a:r>
              <a:rPr sz="13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is</a:t>
            </a:r>
            <a:r>
              <a:rPr sz="13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spc="-10">
                <a:solidFill>
                  <a:srgbClr val="111111"/>
                </a:solidFill>
                <a:latin typeface="Arial MT"/>
                <a:cs typeface="Arial MT"/>
              </a:rPr>
              <a:t>symmetric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about</a:t>
            </a:r>
            <a:r>
              <a:rPr sz="130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30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mean,</a:t>
            </a:r>
            <a:r>
              <a:rPr sz="130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showing</a:t>
            </a:r>
            <a:r>
              <a:rPr sz="1300" spc="-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that</a:t>
            </a:r>
            <a:r>
              <a:rPr sz="130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r>
              <a:rPr sz="130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near</a:t>
            </a:r>
            <a:r>
              <a:rPr sz="130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300" spc="-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mean</a:t>
            </a:r>
            <a:r>
              <a:rPr sz="130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are</a:t>
            </a:r>
            <a:r>
              <a:rPr sz="130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more</a:t>
            </a:r>
            <a:r>
              <a:rPr sz="130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frequent</a:t>
            </a:r>
            <a:r>
              <a:rPr sz="1300" spc="-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in</a:t>
            </a:r>
            <a:r>
              <a:rPr sz="130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spc="-10">
                <a:solidFill>
                  <a:srgbClr val="111111"/>
                </a:solidFill>
                <a:latin typeface="Arial MT"/>
                <a:cs typeface="Arial MT"/>
              </a:rPr>
              <a:t>occurrence</a:t>
            </a:r>
            <a:r>
              <a:rPr sz="130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than</a:t>
            </a:r>
            <a:r>
              <a:rPr sz="130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r>
              <a:rPr sz="1300" spc="-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far</a:t>
            </a:r>
            <a:r>
              <a:rPr sz="130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>
                <a:solidFill>
                  <a:srgbClr val="111111"/>
                </a:solidFill>
                <a:latin typeface="Arial MT"/>
                <a:cs typeface="Arial MT"/>
              </a:rPr>
              <a:t>from</a:t>
            </a:r>
            <a:r>
              <a:rPr sz="130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spc="-25">
                <a:solidFill>
                  <a:srgbClr val="111111"/>
                </a:solidFill>
                <a:latin typeface="Arial MT"/>
                <a:cs typeface="Arial MT"/>
              </a:rPr>
              <a:t>the </a:t>
            </a:r>
            <a:r>
              <a:rPr sz="1300" spc="-10">
                <a:solidFill>
                  <a:srgbClr val="111111"/>
                </a:solidFill>
                <a:latin typeface="Arial MT"/>
                <a:cs typeface="Arial MT"/>
              </a:rPr>
              <a:t>mean.</a:t>
            </a:r>
            <a:endParaRPr sz="13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2661875" y="1907475"/>
            <a:ext cx="3664091" cy="18002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36</a:t>
            </a:fld>
            <a:endParaRPr spc="-25"/>
          </a:p>
        </p:txBody>
      </p:sp>
      <p:sp>
        <p:nvSpPr>
          <p:cNvPr id="7" name="object 7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78" rIns="0" bIns="0" rtlCol="0">
            <a:spAutoFit/>
          </a:bodyPr>
          <a:lstStyle/>
          <a:p>
            <a:pPr marL="1049655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4F81BD"/>
                </a:solidFill>
              </a:rPr>
              <a:t>Types</a:t>
            </a:r>
            <a:r>
              <a:rPr spc="-95">
                <a:solidFill>
                  <a:srgbClr val="4F81BD"/>
                </a:solidFill>
              </a:rPr>
              <a:t> </a:t>
            </a:r>
            <a:r>
              <a:rPr>
                <a:solidFill>
                  <a:srgbClr val="4F81BD"/>
                </a:solidFill>
              </a:rPr>
              <a:t>Of</a:t>
            </a:r>
            <a:r>
              <a:rPr spc="-95">
                <a:solidFill>
                  <a:srgbClr val="4F81BD"/>
                </a:solidFill>
              </a:rPr>
              <a:t> </a:t>
            </a:r>
            <a:r>
              <a:rPr spc="-10">
                <a:solidFill>
                  <a:srgbClr val="4F81BD"/>
                </a:solidFill>
              </a:rPr>
              <a:t>Distributions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354791"/>
            <a:ext cx="8817585" cy="46145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/>
          <a:stretch>
            <a:fillRect/>
          </a:stretch>
        </p:blipFill>
        <p:spPr>
          <a:xfrm>
            <a:off x="26121" y="4887603"/>
            <a:ext cx="1014488" cy="2558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37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78" rIns="0" bIns="0" rtlCol="0">
            <a:spAutoFit/>
          </a:bodyPr>
          <a:lstStyle/>
          <a:p>
            <a:pPr marL="681990">
              <a:lnSpc>
                <a:spcPct val="100000"/>
              </a:lnSpc>
              <a:spcBef>
                <a:spcPts val="100"/>
              </a:spcBef>
            </a:pPr>
            <a:r>
              <a:rPr>
                <a:solidFill>
                  <a:srgbClr val="4F81BD"/>
                </a:solidFill>
              </a:rPr>
              <a:t>Properties</a:t>
            </a:r>
            <a:r>
              <a:rPr spc="-90">
                <a:solidFill>
                  <a:srgbClr val="4F81BD"/>
                </a:solidFill>
              </a:rPr>
              <a:t> </a:t>
            </a:r>
            <a:r>
              <a:rPr>
                <a:solidFill>
                  <a:srgbClr val="4F81BD"/>
                </a:solidFill>
              </a:rPr>
              <a:t>Of</a:t>
            </a:r>
            <a:r>
              <a:rPr spc="-90">
                <a:solidFill>
                  <a:srgbClr val="4F81BD"/>
                </a:solidFill>
              </a:rPr>
              <a:t> </a:t>
            </a:r>
            <a:r>
              <a:rPr>
                <a:solidFill>
                  <a:srgbClr val="4F81BD"/>
                </a:solidFill>
              </a:rPr>
              <a:t>Normal</a:t>
            </a:r>
            <a:r>
              <a:rPr spc="-90">
                <a:solidFill>
                  <a:srgbClr val="4F81BD"/>
                </a:solidFill>
              </a:rPr>
              <a:t> </a:t>
            </a:r>
            <a:r>
              <a:rPr spc="-10">
                <a:solidFill>
                  <a:srgbClr val="4F81BD"/>
                </a:solidFill>
              </a:rPr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0576" y="930926"/>
            <a:ext cx="4224655" cy="260223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463550" indent="-450850">
              <a:lnSpc>
                <a:spcPct val="100000"/>
              </a:lnSpc>
              <a:spcBef>
                <a:spcPts val="475"/>
              </a:spcBef>
              <a:buAutoNum type="arabicPeriod"/>
              <a:tabLst>
                <a:tab pos="463550" algn="l"/>
              </a:tabLst>
            </a:pPr>
            <a:r>
              <a:rPr sz="2100">
                <a:latin typeface="Arial MT"/>
                <a:cs typeface="Arial MT"/>
              </a:rPr>
              <a:t>Empirical</a:t>
            </a:r>
            <a:r>
              <a:rPr sz="2100" spc="-45">
                <a:latin typeface="Arial MT"/>
                <a:cs typeface="Arial MT"/>
              </a:rPr>
              <a:t> </a:t>
            </a:r>
            <a:r>
              <a:rPr sz="2100" spc="-20">
                <a:latin typeface="Arial MT"/>
                <a:cs typeface="Arial MT"/>
              </a:rPr>
              <a:t>Rule</a:t>
            </a:r>
            <a:endParaRPr sz="2100">
              <a:latin typeface="Arial MT"/>
              <a:cs typeface="Arial MT"/>
            </a:endParaRPr>
          </a:p>
          <a:p>
            <a:pPr marL="463550" indent="-450850">
              <a:lnSpc>
                <a:spcPct val="100000"/>
              </a:lnSpc>
              <a:spcBef>
                <a:spcPts val="380"/>
              </a:spcBef>
              <a:buAutoNum type="arabicPeriod"/>
              <a:tabLst>
                <a:tab pos="463550" algn="l"/>
              </a:tabLst>
            </a:pPr>
            <a:r>
              <a:rPr sz="2100">
                <a:latin typeface="Arial MT"/>
                <a:cs typeface="Arial MT"/>
              </a:rPr>
              <a:t>Distortion</a:t>
            </a:r>
            <a:r>
              <a:rPr sz="2100" spc="-30">
                <a:latin typeface="Arial MT"/>
                <a:cs typeface="Arial MT"/>
              </a:rPr>
              <a:t> </a:t>
            </a:r>
            <a:r>
              <a:rPr sz="2100">
                <a:latin typeface="Arial MT"/>
                <a:cs typeface="Arial MT"/>
              </a:rPr>
              <a:t>in</a:t>
            </a:r>
            <a:r>
              <a:rPr sz="2100" spc="-30">
                <a:latin typeface="Arial MT"/>
                <a:cs typeface="Arial MT"/>
              </a:rPr>
              <a:t> </a:t>
            </a:r>
            <a:r>
              <a:rPr sz="2100">
                <a:latin typeface="Arial MT"/>
                <a:cs typeface="Arial MT"/>
              </a:rPr>
              <a:t>Normal</a:t>
            </a:r>
            <a:r>
              <a:rPr sz="2100" spc="-30">
                <a:latin typeface="Arial MT"/>
                <a:cs typeface="Arial MT"/>
              </a:rPr>
              <a:t> </a:t>
            </a:r>
            <a:r>
              <a:rPr sz="2100" spc="-10">
                <a:latin typeface="Arial MT"/>
                <a:cs typeface="Arial MT"/>
              </a:rPr>
              <a:t>Distribution</a:t>
            </a:r>
            <a:endParaRPr sz="2100">
              <a:latin typeface="Arial MT"/>
              <a:cs typeface="Arial MT"/>
            </a:endParaRPr>
          </a:p>
          <a:p>
            <a:pPr marL="463550" indent="-450850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463550" algn="l"/>
              </a:tabLst>
            </a:pPr>
            <a:r>
              <a:rPr sz="2100">
                <a:latin typeface="Arial MT"/>
                <a:cs typeface="Arial MT"/>
              </a:rPr>
              <a:t>Central</a:t>
            </a:r>
            <a:r>
              <a:rPr sz="2100" spc="-35">
                <a:latin typeface="Arial MT"/>
                <a:cs typeface="Arial MT"/>
              </a:rPr>
              <a:t> </a:t>
            </a:r>
            <a:r>
              <a:rPr sz="2100">
                <a:latin typeface="Arial MT"/>
                <a:cs typeface="Arial MT"/>
              </a:rPr>
              <a:t>Limit</a:t>
            </a:r>
            <a:r>
              <a:rPr sz="2100" spc="-65">
                <a:latin typeface="Arial MT"/>
                <a:cs typeface="Arial MT"/>
              </a:rPr>
              <a:t> </a:t>
            </a:r>
            <a:r>
              <a:rPr sz="2100" spc="-10">
                <a:latin typeface="Arial MT"/>
                <a:cs typeface="Arial MT"/>
              </a:rPr>
              <a:t>Theorem</a:t>
            </a:r>
            <a:endParaRPr sz="2100">
              <a:latin typeface="Arial MT"/>
              <a:cs typeface="Arial MT"/>
            </a:endParaRPr>
          </a:p>
          <a:p>
            <a:pPr marL="463550" indent="-450850">
              <a:lnSpc>
                <a:spcPct val="100000"/>
              </a:lnSpc>
              <a:spcBef>
                <a:spcPts val="380"/>
              </a:spcBef>
              <a:buAutoNum type="arabicPeriod"/>
              <a:tabLst>
                <a:tab pos="463550" algn="l"/>
              </a:tabLst>
            </a:pPr>
            <a:r>
              <a:rPr sz="2100">
                <a:latin typeface="Arial MT"/>
                <a:cs typeface="Arial MT"/>
              </a:rPr>
              <a:t>Standard</a:t>
            </a:r>
            <a:r>
              <a:rPr sz="2100" spc="-35">
                <a:latin typeface="Arial MT"/>
                <a:cs typeface="Arial MT"/>
              </a:rPr>
              <a:t> </a:t>
            </a:r>
            <a:r>
              <a:rPr sz="2100">
                <a:latin typeface="Arial MT"/>
                <a:cs typeface="Arial MT"/>
              </a:rPr>
              <a:t>Normal</a:t>
            </a:r>
            <a:r>
              <a:rPr sz="2100" spc="-35">
                <a:latin typeface="Arial MT"/>
                <a:cs typeface="Arial MT"/>
              </a:rPr>
              <a:t> </a:t>
            </a:r>
            <a:r>
              <a:rPr sz="2100" spc="-10">
                <a:latin typeface="Arial MT"/>
                <a:cs typeface="Arial MT"/>
              </a:rPr>
              <a:t>Distribution</a:t>
            </a:r>
            <a:endParaRPr sz="2100">
              <a:latin typeface="Arial MT"/>
              <a:cs typeface="Arial MT"/>
            </a:endParaRPr>
          </a:p>
          <a:p>
            <a:pPr marL="463550" indent="-450850">
              <a:lnSpc>
                <a:spcPct val="100000"/>
              </a:lnSpc>
              <a:spcBef>
                <a:spcPts val="380"/>
              </a:spcBef>
              <a:buAutoNum type="arabicPeriod"/>
              <a:tabLst>
                <a:tab pos="463550" algn="l"/>
              </a:tabLst>
            </a:pPr>
            <a:r>
              <a:rPr sz="2100" spc="-10">
                <a:latin typeface="Arial MT"/>
                <a:cs typeface="Arial MT"/>
              </a:rPr>
              <a:t>Outliers</a:t>
            </a:r>
            <a:endParaRPr sz="2100">
              <a:latin typeface="Arial MT"/>
              <a:cs typeface="Arial MT"/>
            </a:endParaRPr>
          </a:p>
          <a:p>
            <a:pPr marL="463550" indent="-450850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463550" algn="l"/>
              </a:tabLst>
            </a:pPr>
            <a:r>
              <a:rPr sz="2100">
                <a:latin typeface="Arial MT"/>
                <a:cs typeface="Arial MT"/>
              </a:rPr>
              <a:t>QQ</a:t>
            </a:r>
            <a:r>
              <a:rPr sz="2100" spc="-45">
                <a:latin typeface="Arial MT"/>
                <a:cs typeface="Arial MT"/>
              </a:rPr>
              <a:t> </a:t>
            </a:r>
            <a:r>
              <a:rPr sz="2100" spc="-20">
                <a:latin typeface="Arial MT"/>
                <a:cs typeface="Arial MT"/>
              </a:rPr>
              <a:t>plot</a:t>
            </a:r>
            <a:endParaRPr sz="2100">
              <a:latin typeface="Arial MT"/>
              <a:cs typeface="Arial MT"/>
            </a:endParaRPr>
          </a:p>
          <a:p>
            <a:pPr marL="463550" indent="-450850">
              <a:lnSpc>
                <a:spcPct val="100000"/>
              </a:lnSpc>
              <a:spcBef>
                <a:spcPts val="380"/>
              </a:spcBef>
              <a:buAutoNum type="arabicPeriod"/>
              <a:tabLst>
                <a:tab pos="463550" algn="l"/>
              </a:tabLst>
            </a:pPr>
            <a:r>
              <a:rPr sz="2100">
                <a:latin typeface="Arial MT"/>
                <a:cs typeface="Arial MT"/>
              </a:rPr>
              <a:t>Log,Sqrt,Boxcox</a:t>
            </a:r>
            <a:r>
              <a:rPr sz="2100" spc="-5">
                <a:latin typeface="Arial MT"/>
                <a:cs typeface="Arial MT"/>
              </a:rPr>
              <a:t> </a:t>
            </a:r>
            <a:r>
              <a:rPr sz="2100" spc="-10">
                <a:latin typeface="Arial MT"/>
                <a:cs typeface="Arial MT"/>
              </a:rPr>
              <a:t>transformation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38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1691639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4F81BD"/>
                </a:solidFill>
              </a:rPr>
              <a:t>Empirical</a:t>
            </a:r>
            <a:r>
              <a:rPr spc="-105">
                <a:solidFill>
                  <a:srgbClr val="4F81BD"/>
                </a:solidFill>
              </a:rPr>
              <a:t> </a:t>
            </a:r>
            <a:r>
              <a:rPr spc="-20">
                <a:solidFill>
                  <a:srgbClr val="4F81BD"/>
                </a:solidFill>
              </a:rPr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03800" y="3548974"/>
            <a:ext cx="1374775" cy="176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0"/>
              </a:lnSpc>
            </a:pPr>
            <a:r>
              <a:rPr sz="1350">
                <a:latin typeface="Calibri"/>
                <a:cs typeface="Calibri"/>
              </a:rPr>
              <a:t>he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mean.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(1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 spc="-10">
                <a:latin typeface="Calibri"/>
                <a:cs typeface="Calibri"/>
              </a:rPr>
              <a:t>Sigma)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607" y="1174426"/>
            <a:ext cx="7634605" cy="32315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28930" marR="5080" indent="-287020">
              <a:lnSpc>
                <a:spcPts val="3200"/>
              </a:lnSpc>
              <a:spcBef>
                <a:spcPts val="500"/>
              </a:spcBef>
              <a:buFont typeface="Arial MT"/>
              <a:buChar char="•"/>
              <a:tabLst>
                <a:tab pos="328930" algn="l"/>
              </a:tabLst>
            </a:pPr>
            <a:r>
              <a:rPr sz="2950">
                <a:latin typeface="Calibri"/>
                <a:cs typeface="Calibri"/>
              </a:rPr>
              <a:t>The</a:t>
            </a:r>
            <a:r>
              <a:rPr sz="2950" spc="-60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empirical</a:t>
            </a:r>
            <a:r>
              <a:rPr sz="2950" spc="-45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rule</a:t>
            </a:r>
            <a:r>
              <a:rPr sz="2950" spc="-50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states</a:t>
            </a:r>
            <a:r>
              <a:rPr sz="2950" spc="-45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that</a:t>
            </a:r>
            <a:r>
              <a:rPr sz="2950" spc="-55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for</a:t>
            </a:r>
            <a:r>
              <a:rPr sz="2950" spc="-45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a</a:t>
            </a:r>
            <a:r>
              <a:rPr sz="2950" spc="-45">
                <a:latin typeface="Calibri"/>
                <a:cs typeface="Calibri"/>
              </a:rPr>
              <a:t> </a:t>
            </a:r>
            <a:r>
              <a:rPr sz="2950" spc="-10">
                <a:latin typeface="Calibri"/>
                <a:cs typeface="Calibri"/>
              </a:rPr>
              <a:t>normal </a:t>
            </a:r>
            <a:r>
              <a:rPr sz="2950">
                <a:latin typeface="Calibri"/>
                <a:cs typeface="Calibri"/>
              </a:rPr>
              <a:t>distribution,</a:t>
            </a:r>
            <a:r>
              <a:rPr sz="2950" spc="-40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nearly</a:t>
            </a:r>
            <a:r>
              <a:rPr sz="2950" spc="-35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all</a:t>
            </a:r>
            <a:r>
              <a:rPr sz="2950" spc="-40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of</a:t>
            </a:r>
            <a:r>
              <a:rPr sz="2950" spc="-35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the</a:t>
            </a:r>
            <a:r>
              <a:rPr sz="2950" spc="-35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data</a:t>
            </a:r>
            <a:r>
              <a:rPr sz="2950" spc="-40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will</a:t>
            </a:r>
            <a:r>
              <a:rPr sz="2950" spc="-35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fall</a:t>
            </a:r>
            <a:r>
              <a:rPr sz="2950" spc="-35">
                <a:latin typeface="Calibri"/>
                <a:cs typeface="Calibri"/>
              </a:rPr>
              <a:t> </a:t>
            </a:r>
            <a:r>
              <a:rPr sz="2950" spc="-10">
                <a:latin typeface="Calibri"/>
                <a:cs typeface="Calibri"/>
              </a:rPr>
              <a:t>within </a:t>
            </a:r>
            <a:r>
              <a:rPr sz="2950">
                <a:latin typeface="Calibri"/>
                <a:cs typeface="Calibri"/>
              </a:rPr>
              <a:t>three</a:t>
            </a:r>
            <a:r>
              <a:rPr sz="2950" spc="-65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standard</a:t>
            </a:r>
            <a:r>
              <a:rPr sz="2950" spc="-50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deviations</a:t>
            </a:r>
            <a:r>
              <a:rPr sz="2950" spc="-50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of</a:t>
            </a:r>
            <a:r>
              <a:rPr sz="2950" spc="-50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the</a:t>
            </a:r>
            <a:r>
              <a:rPr sz="2950" spc="-50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mean.</a:t>
            </a:r>
            <a:r>
              <a:rPr sz="2950" spc="-50">
                <a:latin typeface="Calibri"/>
                <a:cs typeface="Calibri"/>
              </a:rPr>
              <a:t> </a:t>
            </a:r>
            <a:r>
              <a:rPr sz="2950" spc="-25">
                <a:latin typeface="Calibri"/>
                <a:cs typeface="Calibri"/>
              </a:rPr>
              <a:t>The </a:t>
            </a:r>
            <a:r>
              <a:rPr sz="2950">
                <a:latin typeface="Calibri"/>
                <a:cs typeface="Calibri"/>
              </a:rPr>
              <a:t>empirical</a:t>
            </a:r>
            <a:r>
              <a:rPr sz="2950" spc="-55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rule</a:t>
            </a:r>
            <a:r>
              <a:rPr sz="2950" spc="-55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can</a:t>
            </a:r>
            <a:r>
              <a:rPr sz="2950" spc="-50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be</a:t>
            </a:r>
            <a:r>
              <a:rPr sz="2950" spc="-55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broken</a:t>
            </a:r>
            <a:r>
              <a:rPr sz="2950" spc="-50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down</a:t>
            </a:r>
            <a:r>
              <a:rPr sz="2950" spc="-55">
                <a:latin typeface="Calibri"/>
                <a:cs typeface="Calibri"/>
              </a:rPr>
              <a:t> </a:t>
            </a:r>
            <a:r>
              <a:rPr sz="2950">
                <a:latin typeface="Calibri"/>
                <a:cs typeface="Calibri"/>
              </a:rPr>
              <a:t>into</a:t>
            </a:r>
            <a:r>
              <a:rPr sz="2950" spc="-50">
                <a:latin typeface="Calibri"/>
                <a:cs typeface="Calibri"/>
              </a:rPr>
              <a:t> </a:t>
            </a:r>
            <a:r>
              <a:rPr sz="2950" spc="-10">
                <a:latin typeface="Calibri"/>
                <a:cs typeface="Calibri"/>
              </a:rPr>
              <a:t>three parts:</a:t>
            </a:r>
            <a:endParaRPr sz="2950">
              <a:latin typeface="Calibri"/>
              <a:cs typeface="Calibri"/>
            </a:endParaRPr>
          </a:p>
          <a:p>
            <a:pPr marL="328930" indent="-316230">
              <a:lnSpc>
                <a:spcPct val="100000"/>
              </a:lnSpc>
              <a:spcBef>
                <a:spcPts val="1885"/>
              </a:spcBef>
              <a:buFont typeface="Arial MT"/>
              <a:buChar char="•"/>
              <a:tabLst>
                <a:tab pos="328930" algn="l"/>
              </a:tabLst>
            </a:pPr>
            <a:r>
              <a:rPr sz="1350">
                <a:latin typeface="Calibri"/>
                <a:cs typeface="Calibri"/>
              </a:rPr>
              <a:t>68%</a:t>
            </a:r>
            <a:r>
              <a:rPr sz="1350" spc="2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of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data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falls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within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the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first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standard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deviation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from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 spc="-50">
                <a:latin typeface="Calibri"/>
                <a:cs typeface="Calibri"/>
              </a:rPr>
              <a:t>t</a:t>
            </a:r>
            <a:endParaRPr sz="1350">
              <a:latin typeface="Calibri"/>
              <a:cs typeface="Calibri"/>
            </a:endParaRPr>
          </a:p>
          <a:p>
            <a:pPr marL="328930" indent="-31623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328930" algn="l"/>
              </a:tabLst>
            </a:pPr>
            <a:r>
              <a:rPr sz="1350">
                <a:latin typeface="Calibri"/>
                <a:cs typeface="Calibri"/>
              </a:rPr>
              <a:t>95%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fall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within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two</a:t>
            </a:r>
            <a:r>
              <a:rPr sz="1350" spc="4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standard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deviations.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(2</a:t>
            </a:r>
            <a:r>
              <a:rPr sz="1350" spc="40">
                <a:latin typeface="Calibri"/>
                <a:cs typeface="Calibri"/>
              </a:rPr>
              <a:t> </a:t>
            </a:r>
            <a:r>
              <a:rPr sz="1350" spc="-10">
                <a:latin typeface="Calibri"/>
                <a:cs typeface="Calibri"/>
              </a:rPr>
              <a:t>Sigma)</a:t>
            </a:r>
            <a:endParaRPr sz="1350">
              <a:latin typeface="Calibri"/>
              <a:cs typeface="Calibri"/>
            </a:endParaRPr>
          </a:p>
          <a:p>
            <a:pPr marL="328930" indent="-31623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328930" algn="l"/>
              </a:tabLst>
            </a:pPr>
            <a:r>
              <a:rPr sz="1350">
                <a:latin typeface="Calibri"/>
                <a:cs typeface="Calibri"/>
              </a:rPr>
              <a:t>99.7%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fall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within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three</a:t>
            </a:r>
            <a:r>
              <a:rPr sz="1350" spc="4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standard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deviations.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(3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 spc="-10">
                <a:latin typeface="Calibri"/>
                <a:cs typeface="Calibri"/>
              </a:rPr>
              <a:t>Sigma)</a:t>
            </a:r>
            <a:endParaRPr sz="1350">
              <a:latin typeface="Calibri"/>
              <a:cs typeface="Calibri"/>
            </a:endParaRPr>
          </a:p>
          <a:p>
            <a:pPr marL="328930" indent="-316230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328930" algn="l"/>
              </a:tabLst>
            </a:pPr>
            <a:r>
              <a:rPr sz="1350">
                <a:latin typeface="Calibri"/>
                <a:cs typeface="Calibri"/>
              </a:rPr>
              <a:t>Any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points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lying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after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3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sigma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is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 spc="-10">
                <a:latin typeface="Calibri"/>
                <a:cs typeface="Calibri"/>
              </a:rPr>
              <a:t>outliers.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/>
          <a:stretch>
            <a:fillRect/>
          </a:stretch>
        </p:blipFill>
        <p:spPr>
          <a:xfrm>
            <a:off x="5103463" y="3068594"/>
            <a:ext cx="3989819" cy="14877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39</a:t>
            </a:fld>
            <a:endParaRPr spc="-25"/>
          </a:p>
        </p:txBody>
      </p:sp>
      <p:sp>
        <p:nvSpPr>
          <p:cNvPr id="8" name="object 8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78" rIns="0" bIns="0" rtlCol="0">
            <a:spAutoFit/>
          </a:bodyPr>
          <a:lstStyle/>
          <a:p>
            <a:pPr marL="756920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4F81BD"/>
                </a:solidFill>
              </a:rPr>
              <a:t>Distortion</a:t>
            </a:r>
            <a:r>
              <a:rPr spc="-105">
                <a:solidFill>
                  <a:srgbClr val="4F81BD"/>
                </a:solidFill>
              </a:rPr>
              <a:t> </a:t>
            </a:r>
            <a:r>
              <a:rPr>
                <a:solidFill>
                  <a:srgbClr val="4F81BD"/>
                </a:solidFill>
              </a:rPr>
              <a:t>in</a:t>
            </a:r>
            <a:r>
              <a:rPr spc="-100">
                <a:solidFill>
                  <a:srgbClr val="4F81BD"/>
                </a:solidFill>
              </a:rPr>
              <a:t> </a:t>
            </a:r>
            <a:r>
              <a:rPr>
                <a:solidFill>
                  <a:srgbClr val="4F81BD"/>
                </a:solidFill>
              </a:rPr>
              <a:t>Normal</a:t>
            </a:r>
            <a:r>
              <a:rPr spc="-105">
                <a:solidFill>
                  <a:srgbClr val="4F81BD"/>
                </a:solidFill>
              </a:rPr>
              <a:t> </a:t>
            </a:r>
            <a:r>
              <a:rPr spc="-10">
                <a:solidFill>
                  <a:srgbClr val="4F81BD"/>
                </a:solidFill>
              </a:rPr>
              <a:t>Distribution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3415" rIns="0" bIns="0" rtlCol="0">
            <a:spAutoFit/>
          </a:bodyPr>
          <a:lstStyle/>
          <a:p>
            <a:pPr marL="32384" marR="5080">
              <a:lnSpc>
                <a:spcPct val="100000"/>
              </a:lnSpc>
              <a:spcBef>
                <a:spcPts val="100"/>
              </a:spcBef>
            </a:pPr>
            <a:r>
              <a:rPr sz="230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23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00">
                <a:solidFill>
                  <a:srgbClr val="111111"/>
                </a:solidFill>
                <a:latin typeface="Arial MT"/>
                <a:cs typeface="Arial MT"/>
              </a:rPr>
              <a:t>distortion</a:t>
            </a:r>
            <a:r>
              <a:rPr sz="23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00">
                <a:solidFill>
                  <a:srgbClr val="111111"/>
                </a:solidFill>
                <a:latin typeface="Arial MT"/>
                <a:cs typeface="Arial MT"/>
              </a:rPr>
              <a:t>in</a:t>
            </a:r>
            <a:r>
              <a:rPr sz="23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00">
                <a:solidFill>
                  <a:srgbClr val="111111"/>
                </a:solidFill>
                <a:latin typeface="Arial MT"/>
                <a:cs typeface="Arial MT"/>
              </a:rPr>
              <a:t>normally</a:t>
            </a:r>
            <a:r>
              <a:rPr sz="23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00">
                <a:solidFill>
                  <a:srgbClr val="111111"/>
                </a:solidFill>
                <a:latin typeface="Arial MT"/>
                <a:cs typeface="Arial MT"/>
              </a:rPr>
              <a:t>distributed</a:t>
            </a:r>
            <a:r>
              <a:rPr sz="23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00">
                <a:solidFill>
                  <a:srgbClr val="111111"/>
                </a:solidFill>
                <a:latin typeface="Arial MT"/>
                <a:cs typeface="Arial MT"/>
              </a:rPr>
              <a:t>curves</a:t>
            </a:r>
            <a:r>
              <a:rPr sz="23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00">
                <a:solidFill>
                  <a:srgbClr val="111111"/>
                </a:solidFill>
                <a:latin typeface="Arial MT"/>
                <a:cs typeface="Arial MT"/>
              </a:rPr>
              <a:t>can</a:t>
            </a:r>
            <a:r>
              <a:rPr sz="23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00">
                <a:solidFill>
                  <a:srgbClr val="111111"/>
                </a:solidFill>
                <a:latin typeface="Arial MT"/>
                <a:cs typeface="Arial MT"/>
              </a:rPr>
              <a:t>be</a:t>
            </a:r>
            <a:r>
              <a:rPr sz="23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00">
                <a:solidFill>
                  <a:srgbClr val="111111"/>
                </a:solidFill>
                <a:latin typeface="Arial MT"/>
                <a:cs typeface="Arial MT"/>
              </a:rPr>
              <a:t>quantified</a:t>
            </a:r>
            <a:r>
              <a:rPr sz="23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00" spc="-25">
                <a:solidFill>
                  <a:srgbClr val="111111"/>
                </a:solidFill>
                <a:latin typeface="Arial MT"/>
                <a:cs typeface="Arial MT"/>
              </a:rPr>
              <a:t>in </a:t>
            </a:r>
            <a:r>
              <a:rPr sz="2300">
                <a:solidFill>
                  <a:srgbClr val="111111"/>
                </a:solidFill>
                <a:latin typeface="Arial MT"/>
                <a:cs typeface="Arial MT"/>
              </a:rPr>
              <a:t>2</a:t>
            </a:r>
            <a:r>
              <a:rPr sz="23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300" spc="-20">
                <a:solidFill>
                  <a:srgbClr val="111111"/>
                </a:solidFill>
                <a:latin typeface="Arial MT"/>
                <a:cs typeface="Arial MT"/>
              </a:rPr>
              <a:t>ways</a:t>
            </a:r>
            <a:endParaRPr sz="2300">
              <a:latin typeface="Arial MT"/>
              <a:cs typeface="Arial MT"/>
            </a:endParaRPr>
          </a:p>
          <a:p>
            <a:pPr marL="489584" indent="-471805">
              <a:lnSpc>
                <a:spcPct val="100000"/>
              </a:lnSpc>
              <a:buAutoNum type="arabicPeriod"/>
              <a:tabLst>
                <a:tab pos="490220" algn="l"/>
              </a:tabLst>
            </a:pPr>
            <a:r>
              <a:rPr sz="2300" spc="-10">
                <a:solidFill>
                  <a:srgbClr val="111111"/>
                </a:solidFill>
                <a:latin typeface="Arial MT"/>
                <a:cs typeface="Arial MT"/>
              </a:rPr>
              <a:t>Skewness</a:t>
            </a:r>
            <a:endParaRPr sz="2300">
              <a:latin typeface="Arial MT"/>
              <a:cs typeface="Arial MT"/>
            </a:endParaRPr>
          </a:p>
          <a:p>
            <a:pPr marL="489584" indent="-471805">
              <a:lnSpc>
                <a:spcPct val="100000"/>
              </a:lnSpc>
              <a:buAutoNum type="arabicPeriod"/>
              <a:tabLst>
                <a:tab pos="490220" algn="l"/>
              </a:tabLst>
            </a:pPr>
            <a:r>
              <a:rPr sz="2300" spc="-10">
                <a:solidFill>
                  <a:srgbClr val="111111"/>
                </a:solidFill>
                <a:latin typeface="Arial MT"/>
                <a:cs typeface="Arial MT"/>
              </a:rPr>
              <a:t>Kurtosis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40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78" rIns="0" bIns="0" rtlCol="0">
            <a:spAutoFit/>
          </a:bodyPr>
          <a:lstStyle/>
          <a:p>
            <a:pPr marL="787400">
              <a:lnSpc>
                <a:spcPct val="100000"/>
              </a:lnSpc>
              <a:spcBef>
                <a:spcPts val="100"/>
              </a:spcBef>
            </a:pPr>
            <a:r>
              <a:rPr>
                <a:solidFill>
                  <a:srgbClr val="4F81BD"/>
                </a:solidFill>
              </a:rPr>
              <a:t>Skewness</a:t>
            </a:r>
            <a:r>
              <a:rPr spc="-110">
                <a:solidFill>
                  <a:srgbClr val="4F81BD"/>
                </a:solidFill>
              </a:rPr>
              <a:t> </a:t>
            </a:r>
            <a:r>
              <a:rPr>
                <a:solidFill>
                  <a:srgbClr val="4F81BD"/>
                </a:solidFill>
              </a:rPr>
              <a:t>in</a:t>
            </a:r>
            <a:r>
              <a:rPr spc="-110">
                <a:solidFill>
                  <a:srgbClr val="4F81BD"/>
                </a:solidFill>
              </a:rPr>
              <a:t> </a:t>
            </a:r>
            <a:r>
              <a:rPr>
                <a:solidFill>
                  <a:srgbClr val="4F81BD"/>
                </a:solidFill>
              </a:rPr>
              <a:t>Normal</a:t>
            </a:r>
            <a:r>
              <a:rPr spc="-110">
                <a:solidFill>
                  <a:srgbClr val="4F81BD"/>
                </a:solidFill>
              </a:rPr>
              <a:t> </a:t>
            </a:r>
            <a:r>
              <a:rPr spc="-10">
                <a:solidFill>
                  <a:srgbClr val="4F81BD"/>
                </a:solidFill>
              </a:rPr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100" y="889220"/>
            <a:ext cx="2742565" cy="353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20">
                <a:latin typeface="Calibri"/>
                <a:cs typeface="Calibri"/>
              </a:rPr>
              <a:t>Skewness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asymmetry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25">
                <a:latin typeface="Calibri"/>
                <a:cs typeface="Calibri"/>
              </a:rPr>
              <a:t>in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statistical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distribution,</a:t>
            </a:r>
            <a:r>
              <a:rPr sz="2000" spc="-25">
                <a:latin typeface="Calibri"/>
                <a:cs typeface="Calibri"/>
              </a:rPr>
              <a:t> in </a:t>
            </a:r>
            <a:r>
              <a:rPr sz="2000">
                <a:latin typeface="Calibri"/>
                <a:cs typeface="Calibri"/>
              </a:rPr>
              <a:t>which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curve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appears distorted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or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skewed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either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left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or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right.</a:t>
            </a:r>
            <a:endParaRPr sz="2000">
              <a:latin typeface="Calibri"/>
              <a:cs typeface="Calibri"/>
            </a:endParaRPr>
          </a:p>
          <a:p>
            <a:pPr marL="12700" marR="85090">
              <a:lnSpc>
                <a:spcPct val="114999"/>
              </a:lnSpc>
            </a:pPr>
            <a:r>
              <a:rPr sz="2000" spc="-20">
                <a:latin typeface="Calibri"/>
                <a:cs typeface="Calibri"/>
              </a:rPr>
              <a:t>Skewness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can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25">
                <a:latin typeface="Calibri"/>
                <a:cs typeface="Calibri"/>
              </a:rPr>
              <a:t>be </a:t>
            </a:r>
            <a:r>
              <a:rPr sz="2000" spc="-10">
                <a:latin typeface="Calibri"/>
                <a:cs typeface="Calibri"/>
              </a:rPr>
              <a:t>quantified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define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25">
                <a:latin typeface="Calibri"/>
                <a:cs typeface="Calibri"/>
              </a:rPr>
              <a:t>the </a:t>
            </a:r>
            <a:r>
              <a:rPr sz="2000" spc="-10">
                <a:latin typeface="Calibri"/>
                <a:cs typeface="Calibri"/>
              </a:rPr>
              <a:t>extent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which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50">
                <a:latin typeface="Calibri"/>
                <a:cs typeface="Calibri"/>
              </a:rPr>
              <a:t>a </a:t>
            </a:r>
            <a:r>
              <a:rPr sz="2000" spc="-10">
                <a:latin typeface="Calibri"/>
                <a:cs typeface="Calibri"/>
              </a:rPr>
              <a:t>distribution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differs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from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50">
                <a:latin typeface="Calibri"/>
                <a:cs typeface="Calibri"/>
              </a:rPr>
              <a:t>a </a:t>
            </a:r>
            <a:r>
              <a:rPr sz="2000">
                <a:latin typeface="Calibri"/>
                <a:cs typeface="Calibri"/>
              </a:rPr>
              <a:t>normal</a:t>
            </a:r>
            <a:r>
              <a:rPr sz="2000" spc="-9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distribution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3345950" y="1969750"/>
            <a:ext cx="5112250" cy="22002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79825" y="4318798"/>
            <a:ext cx="4709795" cy="51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40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4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4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FF0000"/>
                </a:solidFill>
                <a:latin typeface="Calibri"/>
                <a:cs typeface="Calibri"/>
              </a:rPr>
              <a:t>skewness</a:t>
            </a:r>
            <a:r>
              <a:rPr sz="14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4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FF0000"/>
                </a:solidFill>
                <a:latin typeface="Calibri"/>
                <a:cs typeface="Calibri"/>
              </a:rPr>
              <a:t>greater</a:t>
            </a:r>
            <a:r>
              <a:rPr sz="14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0000"/>
                </a:solidFill>
                <a:latin typeface="Calibri"/>
                <a:cs typeface="Calibri"/>
              </a:rPr>
              <a:t>than</a:t>
            </a:r>
            <a:r>
              <a:rPr sz="14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4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14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0000"/>
                </a:solidFill>
                <a:latin typeface="Calibri"/>
                <a:cs typeface="Calibri"/>
              </a:rPr>
              <a:t>less</a:t>
            </a:r>
            <a:r>
              <a:rPr sz="14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0000"/>
                </a:solidFill>
                <a:latin typeface="Calibri"/>
                <a:cs typeface="Calibri"/>
              </a:rPr>
              <a:t>than</a:t>
            </a:r>
            <a:r>
              <a:rPr sz="14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1400">
                <a:solidFill>
                  <a:srgbClr val="FF0000"/>
                </a:solidFill>
                <a:latin typeface="Calibri"/>
                <a:cs typeface="Calibri"/>
              </a:rPr>
              <a:t>1,</a:t>
            </a:r>
            <a:r>
              <a:rPr sz="14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4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14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4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FF0000"/>
                </a:solidFill>
                <a:latin typeface="Calibri"/>
                <a:cs typeface="Calibri"/>
              </a:rPr>
              <a:t>highly skewed.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41</a:t>
            </a:fld>
            <a:endParaRPr spc="-25"/>
          </a:p>
        </p:txBody>
      </p:sp>
      <p:sp>
        <p:nvSpPr>
          <p:cNvPr id="8" name="object 8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390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z="2800" b="1">
                <a:solidFill>
                  <a:srgbClr val="538CD4"/>
                </a:solidFill>
                <a:latin typeface="Calibri"/>
                <a:cs typeface="Calibri"/>
              </a:rPr>
              <a:t>How</a:t>
            </a:r>
            <a:r>
              <a:rPr sz="2800" b="1" spc="-40">
                <a:solidFill>
                  <a:srgbClr val="538CD4"/>
                </a:solidFill>
                <a:latin typeface="Calibri"/>
                <a:cs typeface="Calibri"/>
              </a:rPr>
              <a:t> </a:t>
            </a:r>
            <a:r>
              <a:rPr sz="2800" b="1">
                <a:solidFill>
                  <a:srgbClr val="538CD4"/>
                </a:solidFill>
                <a:latin typeface="Calibri"/>
                <a:cs typeface="Calibri"/>
              </a:rPr>
              <a:t>much</a:t>
            </a:r>
            <a:r>
              <a:rPr sz="2800" b="1" spc="-40">
                <a:solidFill>
                  <a:srgbClr val="538CD4"/>
                </a:solidFill>
                <a:latin typeface="Calibri"/>
                <a:cs typeface="Calibri"/>
              </a:rPr>
              <a:t> </a:t>
            </a:r>
            <a:r>
              <a:rPr sz="2800" b="1" spc="-10">
                <a:solidFill>
                  <a:srgbClr val="538CD4"/>
                </a:solidFill>
                <a:latin typeface="Calibri"/>
                <a:cs typeface="Calibri"/>
              </a:rPr>
              <a:t>Skewness</a:t>
            </a:r>
            <a:r>
              <a:rPr sz="2800" b="1" spc="-40">
                <a:solidFill>
                  <a:srgbClr val="538CD4"/>
                </a:solidFill>
                <a:latin typeface="Calibri"/>
                <a:cs typeface="Calibri"/>
              </a:rPr>
              <a:t> </a:t>
            </a:r>
            <a:r>
              <a:rPr sz="2800" b="1">
                <a:solidFill>
                  <a:srgbClr val="538CD4"/>
                </a:solidFill>
                <a:latin typeface="Calibri"/>
                <a:cs typeface="Calibri"/>
              </a:rPr>
              <a:t>and</a:t>
            </a:r>
            <a:r>
              <a:rPr sz="2800" b="1" spc="-40">
                <a:solidFill>
                  <a:srgbClr val="538CD4"/>
                </a:solidFill>
                <a:latin typeface="Calibri"/>
                <a:cs typeface="Calibri"/>
              </a:rPr>
              <a:t> </a:t>
            </a:r>
            <a:r>
              <a:rPr sz="2800" b="1" spc="-10">
                <a:solidFill>
                  <a:srgbClr val="538CD4"/>
                </a:solidFill>
                <a:latin typeface="Calibri"/>
                <a:cs typeface="Calibri"/>
              </a:rPr>
              <a:t>Kurtosis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342" y="889220"/>
            <a:ext cx="7957184" cy="358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marR="5080" indent="-382270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>
                <a:latin typeface="Calibri"/>
                <a:cs typeface="Calibri"/>
              </a:rPr>
              <a:t>If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skewness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between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-</a:t>
            </a:r>
            <a:r>
              <a:rPr sz="2000">
                <a:latin typeface="Calibri"/>
                <a:cs typeface="Calibri"/>
              </a:rPr>
              <a:t>0.5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0.5,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data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are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fairly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symmetrical.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25">
                <a:latin typeface="Calibri"/>
                <a:cs typeface="Calibri"/>
              </a:rPr>
              <a:t>If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skewness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between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-</a:t>
            </a:r>
            <a:r>
              <a:rPr sz="2000">
                <a:latin typeface="Calibri"/>
                <a:cs typeface="Calibri"/>
              </a:rPr>
              <a:t>1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–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0.5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or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between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0.5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1,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data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25">
                <a:latin typeface="Calibri"/>
                <a:cs typeface="Calibri"/>
              </a:rPr>
              <a:t>is </a:t>
            </a:r>
            <a:r>
              <a:rPr sz="2000" spc="-20">
                <a:latin typeface="Calibri"/>
                <a:cs typeface="Calibri"/>
              </a:rPr>
              <a:t>moderately </a:t>
            </a:r>
            <a:r>
              <a:rPr sz="2000" spc="-10">
                <a:latin typeface="Calibri"/>
                <a:cs typeface="Calibri"/>
              </a:rPr>
              <a:t>skewed.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75"/>
              </a:spcBef>
              <a:buFont typeface="Arial MT"/>
              <a:buChar char="●"/>
            </a:pPr>
            <a:endParaRPr sz="2000">
              <a:latin typeface="Calibri"/>
              <a:cs typeface="Calibri"/>
            </a:endParaRPr>
          </a:p>
          <a:p>
            <a:pPr marL="394335" indent="-381635">
              <a:lnSpc>
                <a:spcPct val="100000"/>
              </a:lnSpc>
              <a:buFont typeface="Arial MT"/>
              <a:buChar char="●"/>
              <a:tabLst>
                <a:tab pos="394335" algn="l"/>
              </a:tabLst>
            </a:pPr>
            <a:r>
              <a:rPr sz="2000">
                <a:latin typeface="Calibri"/>
                <a:cs typeface="Calibri"/>
              </a:rPr>
              <a:t>If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skewness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greater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than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1or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less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than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-</a:t>
            </a:r>
            <a:r>
              <a:rPr sz="2000">
                <a:latin typeface="Calibri"/>
                <a:cs typeface="Calibri"/>
              </a:rPr>
              <a:t>1,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data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highly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skewed.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Arial MT"/>
              <a:buChar char="●"/>
            </a:pPr>
            <a:endParaRPr sz="2000">
              <a:latin typeface="Calibri"/>
              <a:cs typeface="Calibri"/>
            </a:endParaRPr>
          </a:p>
          <a:p>
            <a:pPr marL="394335" marR="266700" indent="-382270">
              <a:lnSpc>
                <a:spcPct val="114999"/>
              </a:lnSpc>
              <a:buFont typeface="Arial MT"/>
              <a:buChar char="●"/>
              <a:tabLst>
                <a:tab pos="394335" algn="l"/>
              </a:tabLst>
            </a:pPr>
            <a:r>
              <a:rPr sz="2000">
                <a:latin typeface="Calibri"/>
                <a:cs typeface="Calibri"/>
              </a:rPr>
              <a:t>A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standard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normal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distribution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has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kurtosis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3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recognized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25">
                <a:latin typeface="Calibri"/>
                <a:cs typeface="Calibri"/>
              </a:rPr>
              <a:t>as </a:t>
            </a:r>
            <a:r>
              <a:rPr sz="2000" spc="-10">
                <a:latin typeface="Calibri"/>
                <a:cs typeface="Calibri"/>
              </a:rPr>
              <a:t>mesokurtic.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increased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kurtosis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(&gt;3)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can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visualized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as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thin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“bell” </a:t>
            </a:r>
            <a:r>
              <a:rPr sz="2000">
                <a:latin typeface="Calibri"/>
                <a:cs typeface="Calibri"/>
              </a:rPr>
              <a:t>with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high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peak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whereas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decreased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kurtosis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corresponds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50">
                <a:latin typeface="Calibri"/>
                <a:cs typeface="Calibri"/>
              </a:rPr>
              <a:t>a </a:t>
            </a:r>
            <a:r>
              <a:rPr sz="2000" spc="-10">
                <a:latin typeface="Calibri"/>
                <a:cs typeface="Calibri"/>
              </a:rPr>
              <a:t>broadening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peak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“thickening”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tails.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42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78" rIns="0" bIns="0" rtlCol="0">
            <a:spAutoFit/>
          </a:bodyPr>
          <a:lstStyle/>
          <a:p>
            <a:pPr marL="920115">
              <a:lnSpc>
                <a:spcPct val="100000"/>
              </a:lnSpc>
              <a:spcBef>
                <a:spcPts val="100"/>
              </a:spcBef>
            </a:pPr>
            <a:r>
              <a:rPr>
                <a:solidFill>
                  <a:srgbClr val="4F81BD"/>
                </a:solidFill>
              </a:rPr>
              <a:t>Kurtosis</a:t>
            </a:r>
            <a:r>
              <a:rPr spc="-105">
                <a:solidFill>
                  <a:srgbClr val="4F81BD"/>
                </a:solidFill>
              </a:rPr>
              <a:t> </a:t>
            </a:r>
            <a:r>
              <a:rPr>
                <a:solidFill>
                  <a:srgbClr val="4F81BD"/>
                </a:solidFill>
              </a:rPr>
              <a:t>in</a:t>
            </a:r>
            <a:r>
              <a:rPr spc="-105">
                <a:solidFill>
                  <a:srgbClr val="4F81BD"/>
                </a:solidFill>
              </a:rPr>
              <a:t> </a:t>
            </a:r>
            <a:r>
              <a:rPr>
                <a:solidFill>
                  <a:srgbClr val="4F81BD"/>
                </a:solidFill>
              </a:rPr>
              <a:t>Normal</a:t>
            </a:r>
            <a:r>
              <a:rPr spc="-105">
                <a:solidFill>
                  <a:srgbClr val="4F81BD"/>
                </a:solidFill>
              </a:rPr>
              <a:t> </a:t>
            </a:r>
            <a:r>
              <a:rPr spc="-10">
                <a:solidFill>
                  <a:srgbClr val="4F81BD"/>
                </a:solidFill>
              </a:rPr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100" y="875250"/>
            <a:ext cx="2717165" cy="353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500">
                <a:latin typeface="Calibri"/>
                <a:cs typeface="Calibri"/>
              </a:rPr>
              <a:t>In</a:t>
            </a:r>
            <a:r>
              <a:rPr sz="2500" spc="-55">
                <a:latin typeface="Calibri"/>
                <a:cs typeface="Calibri"/>
              </a:rPr>
              <a:t> </a:t>
            </a:r>
            <a:r>
              <a:rPr sz="2500" spc="-10">
                <a:latin typeface="Calibri"/>
                <a:cs typeface="Calibri"/>
              </a:rPr>
              <a:t>probability</a:t>
            </a:r>
            <a:r>
              <a:rPr sz="2500" spc="-55">
                <a:latin typeface="Calibri"/>
                <a:cs typeface="Calibri"/>
              </a:rPr>
              <a:t> </a:t>
            </a:r>
            <a:r>
              <a:rPr sz="2500" spc="-10">
                <a:latin typeface="Calibri"/>
                <a:cs typeface="Calibri"/>
              </a:rPr>
              <a:t>theory </a:t>
            </a:r>
            <a:r>
              <a:rPr sz="2500">
                <a:latin typeface="Calibri"/>
                <a:cs typeface="Calibri"/>
              </a:rPr>
              <a:t>and</a:t>
            </a:r>
            <a:r>
              <a:rPr sz="2500" spc="-55">
                <a:latin typeface="Calibri"/>
                <a:cs typeface="Calibri"/>
              </a:rPr>
              <a:t> </a:t>
            </a:r>
            <a:r>
              <a:rPr sz="2500" spc="-10">
                <a:latin typeface="Calibri"/>
                <a:cs typeface="Calibri"/>
              </a:rPr>
              <a:t>statistics, </a:t>
            </a:r>
            <a:r>
              <a:rPr sz="2500">
                <a:latin typeface="Calibri"/>
                <a:cs typeface="Calibri"/>
              </a:rPr>
              <a:t>kurtosis</a:t>
            </a:r>
            <a:r>
              <a:rPr sz="2500" spc="-55">
                <a:latin typeface="Calibri"/>
                <a:cs typeface="Calibri"/>
              </a:rPr>
              <a:t> </a:t>
            </a:r>
            <a:r>
              <a:rPr sz="2500">
                <a:latin typeface="Calibri"/>
                <a:cs typeface="Calibri"/>
              </a:rPr>
              <a:t>is</a:t>
            </a:r>
            <a:r>
              <a:rPr sz="2500" spc="-55">
                <a:latin typeface="Calibri"/>
                <a:cs typeface="Calibri"/>
              </a:rPr>
              <a:t> </a:t>
            </a:r>
            <a:r>
              <a:rPr sz="2500">
                <a:latin typeface="Calibri"/>
                <a:cs typeface="Calibri"/>
              </a:rPr>
              <a:t>a</a:t>
            </a:r>
            <a:r>
              <a:rPr sz="2500" spc="-50">
                <a:latin typeface="Calibri"/>
                <a:cs typeface="Calibri"/>
              </a:rPr>
              <a:t> </a:t>
            </a:r>
            <a:r>
              <a:rPr sz="2500" spc="-10">
                <a:latin typeface="Calibri"/>
                <a:cs typeface="Calibri"/>
              </a:rPr>
              <a:t>measure </a:t>
            </a:r>
            <a:r>
              <a:rPr sz="2500">
                <a:latin typeface="Calibri"/>
                <a:cs typeface="Calibri"/>
              </a:rPr>
              <a:t>of</a:t>
            </a:r>
            <a:r>
              <a:rPr sz="2500" spc="-30">
                <a:latin typeface="Calibri"/>
                <a:cs typeface="Calibri"/>
              </a:rPr>
              <a:t> </a:t>
            </a:r>
            <a:r>
              <a:rPr sz="2500">
                <a:latin typeface="Calibri"/>
                <a:cs typeface="Calibri"/>
              </a:rPr>
              <a:t>the</a:t>
            </a:r>
            <a:r>
              <a:rPr sz="2500" spc="-30">
                <a:latin typeface="Calibri"/>
                <a:cs typeface="Calibri"/>
              </a:rPr>
              <a:t> </a:t>
            </a:r>
            <a:r>
              <a:rPr sz="2500" spc="-10">
                <a:latin typeface="Calibri"/>
                <a:cs typeface="Calibri"/>
              </a:rPr>
              <a:t>“peakedness" </a:t>
            </a:r>
            <a:r>
              <a:rPr sz="2500">
                <a:latin typeface="Calibri"/>
                <a:cs typeface="Calibri"/>
              </a:rPr>
              <a:t>of</a:t>
            </a:r>
            <a:r>
              <a:rPr sz="2500" spc="-30">
                <a:latin typeface="Calibri"/>
                <a:cs typeface="Calibri"/>
              </a:rPr>
              <a:t> </a:t>
            </a:r>
            <a:r>
              <a:rPr sz="2500">
                <a:latin typeface="Calibri"/>
                <a:cs typeface="Calibri"/>
              </a:rPr>
              <a:t>the</a:t>
            </a:r>
            <a:r>
              <a:rPr sz="2500" spc="-30">
                <a:latin typeface="Calibri"/>
                <a:cs typeface="Calibri"/>
              </a:rPr>
              <a:t> </a:t>
            </a:r>
            <a:r>
              <a:rPr sz="2500" spc="-10">
                <a:latin typeface="Calibri"/>
                <a:cs typeface="Calibri"/>
              </a:rPr>
              <a:t>probability </a:t>
            </a:r>
            <a:r>
              <a:rPr sz="2500">
                <a:latin typeface="Calibri"/>
                <a:cs typeface="Calibri"/>
              </a:rPr>
              <a:t>distribution</a:t>
            </a:r>
            <a:r>
              <a:rPr sz="2500" spc="-60">
                <a:latin typeface="Calibri"/>
                <a:cs typeface="Calibri"/>
              </a:rPr>
              <a:t> </a:t>
            </a:r>
            <a:r>
              <a:rPr sz="2500">
                <a:latin typeface="Calibri"/>
                <a:cs typeface="Calibri"/>
              </a:rPr>
              <a:t>of</a:t>
            </a:r>
            <a:r>
              <a:rPr sz="2500" spc="-45">
                <a:latin typeface="Calibri"/>
                <a:cs typeface="Calibri"/>
              </a:rPr>
              <a:t> </a:t>
            </a:r>
            <a:r>
              <a:rPr sz="2500" spc="-50">
                <a:latin typeface="Calibri"/>
                <a:cs typeface="Calibri"/>
              </a:rPr>
              <a:t>a</a:t>
            </a:r>
            <a:endParaRPr sz="2500">
              <a:latin typeface="Calibri"/>
              <a:cs typeface="Calibri"/>
            </a:endParaRPr>
          </a:p>
          <a:p>
            <a:pPr marL="12700" marR="176530">
              <a:lnSpc>
                <a:spcPct val="114999"/>
              </a:lnSpc>
            </a:pPr>
            <a:r>
              <a:rPr sz="2500" spc="-30">
                <a:latin typeface="Calibri"/>
                <a:cs typeface="Calibri"/>
              </a:rPr>
              <a:t>real-</a:t>
            </a:r>
            <a:r>
              <a:rPr sz="2500">
                <a:latin typeface="Calibri"/>
                <a:cs typeface="Calibri"/>
              </a:rPr>
              <a:t>valued</a:t>
            </a:r>
            <a:r>
              <a:rPr sz="2500" spc="-95">
                <a:latin typeface="Calibri"/>
                <a:cs typeface="Calibri"/>
              </a:rPr>
              <a:t> </a:t>
            </a:r>
            <a:r>
              <a:rPr sz="2500" spc="-10">
                <a:latin typeface="Calibri"/>
                <a:cs typeface="Calibri"/>
              </a:rPr>
              <a:t>random variable.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4086750" y="1219125"/>
            <a:ext cx="3795722" cy="246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43</a:t>
            </a:fld>
            <a:endParaRPr spc="-25"/>
          </a:p>
        </p:txBody>
      </p:sp>
      <p:sp>
        <p:nvSpPr>
          <p:cNvPr id="7" name="object 7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698" y="4912598"/>
            <a:ext cx="3429635" cy="16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64489" y="4659868"/>
            <a:ext cx="154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/>
          <a:stretch>
            <a:fillRect/>
          </a:stretch>
        </p:blipFill>
        <p:spPr>
          <a:xfrm>
            <a:off x="1821543" y="359765"/>
            <a:ext cx="4722600" cy="39062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285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z="2100" b="1">
                <a:solidFill>
                  <a:srgbClr val="538CD4"/>
                </a:solidFill>
                <a:latin typeface="Calibri"/>
                <a:cs typeface="Calibri"/>
              </a:rPr>
              <a:t>Which</a:t>
            </a:r>
            <a:r>
              <a:rPr sz="2100" b="1" spc="-25">
                <a:solidFill>
                  <a:srgbClr val="538CD4"/>
                </a:solidFill>
                <a:latin typeface="Calibri"/>
                <a:cs typeface="Calibri"/>
              </a:rPr>
              <a:t> </a:t>
            </a:r>
            <a:r>
              <a:rPr sz="2100" b="1">
                <a:solidFill>
                  <a:srgbClr val="538CD4"/>
                </a:solidFill>
                <a:latin typeface="Calibri"/>
                <a:cs typeface="Calibri"/>
              </a:rPr>
              <a:t>is</a:t>
            </a:r>
            <a:r>
              <a:rPr sz="2100" b="1" spc="-20">
                <a:solidFill>
                  <a:srgbClr val="538CD4"/>
                </a:solidFill>
                <a:latin typeface="Calibri"/>
                <a:cs typeface="Calibri"/>
              </a:rPr>
              <a:t> </a:t>
            </a:r>
            <a:r>
              <a:rPr sz="2100" b="1" spc="-25">
                <a:solidFill>
                  <a:srgbClr val="538CD4"/>
                </a:solidFill>
                <a:latin typeface="Calibri"/>
                <a:cs typeface="Calibri"/>
              </a:rPr>
              <a:t>Best—</a:t>
            </a:r>
            <a:r>
              <a:rPr sz="2100" b="1">
                <a:solidFill>
                  <a:srgbClr val="538CD4"/>
                </a:solidFill>
                <a:latin typeface="Calibri"/>
                <a:cs typeface="Calibri"/>
              </a:rPr>
              <a:t>the</a:t>
            </a:r>
            <a:r>
              <a:rPr sz="2100" b="1" spc="-20">
                <a:solidFill>
                  <a:srgbClr val="538CD4"/>
                </a:solidFill>
                <a:latin typeface="Calibri"/>
                <a:cs typeface="Calibri"/>
              </a:rPr>
              <a:t> </a:t>
            </a:r>
            <a:r>
              <a:rPr sz="2100" b="1">
                <a:solidFill>
                  <a:srgbClr val="538CD4"/>
                </a:solidFill>
                <a:latin typeface="Calibri"/>
                <a:cs typeface="Calibri"/>
              </a:rPr>
              <a:t>Mean,</a:t>
            </a:r>
            <a:r>
              <a:rPr sz="2100" b="1" spc="-20">
                <a:solidFill>
                  <a:srgbClr val="538CD4"/>
                </a:solidFill>
                <a:latin typeface="Calibri"/>
                <a:cs typeface="Calibri"/>
              </a:rPr>
              <a:t> </a:t>
            </a:r>
            <a:r>
              <a:rPr sz="2100" b="1">
                <a:solidFill>
                  <a:srgbClr val="538CD4"/>
                </a:solidFill>
                <a:latin typeface="Calibri"/>
                <a:cs typeface="Calibri"/>
              </a:rPr>
              <a:t>Median,</a:t>
            </a:r>
            <a:r>
              <a:rPr sz="2100" b="1" spc="-25">
                <a:solidFill>
                  <a:srgbClr val="538CD4"/>
                </a:solidFill>
                <a:latin typeface="Calibri"/>
                <a:cs typeface="Calibri"/>
              </a:rPr>
              <a:t> </a:t>
            </a:r>
            <a:r>
              <a:rPr sz="2100" b="1">
                <a:solidFill>
                  <a:srgbClr val="538CD4"/>
                </a:solidFill>
                <a:latin typeface="Calibri"/>
                <a:cs typeface="Calibri"/>
              </a:rPr>
              <a:t>or</a:t>
            </a:r>
            <a:r>
              <a:rPr sz="2100" b="1" spc="-20">
                <a:solidFill>
                  <a:srgbClr val="538CD4"/>
                </a:solidFill>
                <a:latin typeface="Calibri"/>
                <a:cs typeface="Calibri"/>
              </a:rPr>
              <a:t> </a:t>
            </a:r>
            <a:r>
              <a:rPr sz="2100" b="1" spc="-10">
                <a:solidFill>
                  <a:srgbClr val="538CD4"/>
                </a:solidFill>
                <a:latin typeface="Calibri"/>
                <a:cs typeface="Calibri"/>
              </a:rPr>
              <a:t>Mode?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342" y="1303239"/>
            <a:ext cx="8072120" cy="2956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marR="53340" indent="-382270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>
                <a:latin typeface="Calibri"/>
                <a:cs typeface="Calibri"/>
              </a:rPr>
              <a:t>When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you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have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symmetrical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distribution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for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continuous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data,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mean, </a:t>
            </a:r>
            <a:r>
              <a:rPr sz="2000">
                <a:latin typeface="Calibri"/>
                <a:cs typeface="Calibri"/>
              </a:rPr>
              <a:t>median,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mode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are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equal.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In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this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case,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analysts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tend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use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mean </a:t>
            </a:r>
            <a:r>
              <a:rPr sz="2000" spc="-10">
                <a:latin typeface="Calibri"/>
                <a:cs typeface="Calibri"/>
              </a:rPr>
              <a:t>because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it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includes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all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data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in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calculations.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30">
                <a:latin typeface="Calibri"/>
                <a:cs typeface="Calibri"/>
              </a:rPr>
              <a:t>However,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if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you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have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skewed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distribution,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median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often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best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measure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central tendency.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15"/>
              </a:spcBef>
              <a:buFont typeface="Arial MT"/>
              <a:buChar char="●"/>
            </a:pPr>
            <a:endParaRPr sz="2000">
              <a:latin typeface="Calibri"/>
              <a:cs typeface="Calibri"/>
            </a:endParaRPr>
          </a:p>
          <a:p>
            <a:pPr marL="394335" marR="5080" indent="-382270">
              <a:lnSpc>
                <a:spcPct val="114999"/>
              </a:lnSpc>
              <a:buFont typeface="Arial MT"/>
              <a:buChar char="●"/>
              <a:tabLst>
                <a:tab pos="394335" algn="l"/>
              </a:tabLst>
            </a:pPr>
            <a:r>
              <a:rPr sz="2000">
                <a:latin typeface="Calibri"/>
                <a:cs typeface="Calibri"/>
              </a:rPr>
              <a:t>When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you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have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categorical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or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discrete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data,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median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or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mode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usually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best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choice.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For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categorical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data,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you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have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use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mode.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45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439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00"/>
              </a:spcBef>
            </a:pPr>
            <a:r>
              <a:rPr sz="2800">
                <a:solidFill>
                  <a:srgbClr val="538CD4"/>
                </a:solidFill>
              </a:rPr>
              <a:t>Correcting</a:t>
            </a:r>
            <a:r>
              <a:rPr sz="2800" spc="-70">
                <a:solidFill>
                  <a:srgbClr val="538CD4"/>
                </a:solidFill>
              </a:rPr>
              <a:t> </a:t>
            </a:r>
            <a:r>
              <a:rPr sz="2800">
                <a:solidFill>
                  <a:srgbClr val="538CD4"/>
                </a:solidFill>
              </a:rPr>
              <a:t>Distortion</a:t>
            </a:r>
            <a:r>
              <a:rPr sz="2800" spc="-65">
                <a:solidFill>
                  <a:srgbClr val="538CD4"/>
                </a:solidFill>
              </a:rPr>
              <a:t> </a:t>
            </a:r>
            <a:r>
              <a:rPr sz="2800">
                <a:solidFill>
                  <a:srgbClr val="538CD4"/>
                </a:solidFill>
              </a:rPr>
              <a:t>in</a:t>
            </a:r>
            <a:r>
              <a:rPr sz="2800" spc="-65">
                <a:solidFill>
                  <a:srgbClr val="538CD4"/>
                </a:solidFill>
              </a:rPr>
              <a:t> </a:t>
            </a:r>
            <a:r>
              <a:rPr sz="2800">
                <a:solidFill>
                  <a:srgbClr val="538CD4"/>
                </a:solidFill>
              </a:rPr>
              <a:t>Normal</a:t>
            </a:r>
            <a:r>
              <a:rPr sz="2800" spc="-65">
                <a:solidFill>
                  <a:srgbClr val="538CD4"/>
                </a:solidFill>
              </a:rPr>
              <a:t> </a:t>
            </a:r>
            <a:r>
              <a:rPr sz="2800" spc="-10">
                <a:solidFill>
                  <a:srgbClr val="538CD4"/>
                </a:solidFill>
              </a:rPr>
              <a:t>Distribution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70900" y="825299"/>
            <a:ext cx="8328659" cy="387540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Transformation</a:t>
            </a:r>
            <a:r>
              <a:rPr sz="1600" spc="-4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is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nothing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but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taking</a:t>
            </a:r>
            <a:r>
              <a:rPr sz="1600" spc="-4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a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mathematical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function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and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applying</a:t>
            </a:r>
            <a:r>
              <a:rPr sz="1600" spc="-4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it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to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the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data.</a:t>
            </a:r>
            <a:endParaRPr sz="1600">
              <a:latin typeface="Georgia"/>
              <a:cs typeface="Georgia"/>
            </a:endParaRPr>
          </a:p>
          <a:p>
            <a:pPr marL="362585">
              <a:lnSpc>
                <a:spcPct val="100000"/>
              </a:lnSpc>
              <a:spcBef>
                <a:spcPts val="665"/>
              </a:spcBef>
            </a:pP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Log</a:t>
            </a:r>
            <a:r>
              <a:rPr sz="1600" spc="-5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Transformation</a:t>
            </a:r>
            <a:r>
              <a:rPr sz="1600" spc="29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[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Each</a:t>
            </a:r>
            <a:r>
              <a:rPr sz="1600" spc="-45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data</a:t>
            </a:r>
            <a:r>
              <a:rPr sz="1600" spc="-5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point</a:t>
            </a:r>
            <a:r>
              <a:rPr sz="1600" spc="-5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is</a:t>
            </a:r>
            <a:r>
              <a:rPr sz="1600" spc="-45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C00000"/>
                </a:solidFill>
                <a:latin typeface="Georgia"/>
                <a:cs typeface="Georgia"/>
              </a:rPr>
              <a:t>replaced</a:t>
            </a:r>
            <a:r>
              <a:rPr sz="1600" spc="-5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with</a:t>
            </a:r>
            <a:r>
              <a:rPr sz="1600" spc="-5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log(x)</a:t>
            </a:r>
            <a:r>
              <a:rPr sz="1600" spc="-45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to</a:t>
            </a:r>
            <a:r>
              <a:rPr sz="1600" spc="-5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obtain</a:t>
            </a:r>
            <a:r>
              <a:rPr sz="1600" spc="-5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 spc="-25">
                <a:solidFill>
                  <a:srgbClr val="C00000"/>
                </a:solidFill>
                <a:latin typeface="Georgia"/>
                <a:cs typeface="Georgia"/>
              </a:rPr>
              <a:t>ND</a:t>
            </a:r>
            <a:r>
              <a:rPr sz="1600" spc="-25">
                <a:solidFill>
                  <a:srgbClr val="292929"/>
                </a:solidFill>
                <a:latin typeface="Georgia"/>
                <a:cs typeface="Georgia"/>
              </a:rPr>
              <a:t>]</a:t>
            </a:r>
            <a:endParaRPr sz="1600">
              <a:latin typeface="Georgia"/>
              <a:cs typeface="Georgia"/>
            </a:endParaRPr>
          </a:p>
          <a:p>
            <a:pPr marL="379095" marR="967105">
              <a:lnSpc>
                <a:spcPct val="218200"/>
              </a:lnSpc>
              <a:tabLst>
                <a:tab pos="3175635" algn="l"/>
              </a:tabLst>
            </a:pPr>
            <a:r>
              <a:rPr sz="1600" spc="-20">
                <a:solidFill>
                  <a:srgbClr val="292929"/>
                </a:solidFill>
                <a:latin typeface="Georgia"/>
                <a:cs typeface="Georgia"/>
              </a:rPr>
              <a:t>Square-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Root</a:t>
            </a:r>
            <a:r>
              <a:rPr sz="1600" spc="-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Transformation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	[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Each</a:t>
            </a:r>
            <a:r>
              <a:rPr sz="1600" spc="-4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data</a:t>
            </a:r>
            <a:r>
              <a:rPr sz="1600" spc="-4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point</a:t>
            </a:r>
            <a:r>
              <a:rPr sz="1600" spc="-4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is</a:t>
            </a:r>
            <a:r>
              <a:rPr sz="1600" spc="-4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C00000"/>
                </a:solidFill>
                <a:latin typeface="Georgia"/>
                <a:cs typeface="Georgia"/>
              </a:rPr>
              <a:t>replaced</a:t>
            </a:r>
            <a:r>
              <a:rPr sz="1600" spc="-4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by</a:t>
            </a:r>
            <a:r>
              <a:rPr sz="1600" spc="-4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its</a:t>
            </a:r>
            <a:r>
              <a:rPr sz="1600" spc="-4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square</a:t>
            </a:r>
            <a:r>
              <a:rPr sz="1600" spc="-4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C00000"/>
                </a:solidFill>
                <a:latin typeface="Georgia"/>
                <a:cs typeface="Georgia"/>
              </a:rPr>
              <a:t>root</a:t>
            </a: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] Reciprocal</a:t>
            </a:r>
            <a:r>
              <a:rPr sz="1600" spc="-3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Transformation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	</a:t>
            </a:r>
            <a:r>
              <a:rPr sz="1600" spc="-28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[</a:t>
            </a:r>
            <a:r>
              <a:rPr sz="1600" spc="-2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It</a:t>
            </a:r>
            <a:r>
              <a:rPr sz="1600" spc="-35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takes</a:t>
            </a:r>
            <a:r>
              <a:rPr sz="1600" spc="-35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the</a:t>
            </a:r>
            <a:r>
              <a:rPr sz="1600" spc="-3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inverse</a:t>
            </a:r>
            <a:r>
              <a:rPr sz="1600" spc="-35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of</a:t>
            </a:r>
            <a:r>
              <a:rPr sz="1600" spc="-35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x</a:t>
            </a:r>
            <a:r>
              <a:rPr sz="1600" spc="-35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ie.,</a:t>
            </a:r>
            <a:r>
              <a:rPr sz="1600" spc="-3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1/x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]</a:t>
            </a:r>
            <a:endParaRPr sz="1600">
              <a:latin typeface="Georgia"/>
              <a:cs typeface="Georgia"/>
            </a:endParaRPr>
          </a:p>
          <a:p>
            <a:pPr marL="379095" marR="584200">
              <a:lnSpc>
                <a:spcPct val="218200"/>
              </a:lnSpc>
              <a:tabLst>
                <a:tab pos="2802255" algn="l"/>
              </a:tabLst>
            </a:pPr>
            <a:r>
              <a:rPr sz="1600" spc="-20">
                <a:solidFill>
                  <a:srgbClr val="292929"/>
                </a:solidFill>
                <a:latin typeface="Georgia"/>
                <a:cs typeface="Georgia"/>
              </a:rPr>
              <a:t>Box-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Cox</a:t>
            </a:r>
            <a:r>
              <a:rPr sz="1600" spc="-2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Transformation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	</a:t>
            </a: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[</a:t>
            </a:r>
            <a:r>
              <a:rPr sz="1600" spc="-10">
                <a:solidFill>
                  <a:srgbClr val="C00000"/>
                </a:solidFill>
                <a:latin typeface="Georgia"/>
                <a:cs typeface="Georgia"/>
              </a:rPr>
              <a:t>Transformation</a:t>
            </a:r>
            <a:r>
              <a:rPr sz="1600" spc="-4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of</a:t>
            </a:r>
            <a:r>
              <a:rPr sz="1600" spc="-25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 spc="-20">
                <a:solidFill>
                  <a:srgbClr val="C00000"/>
                </a:solidFill>
                <a:latin typeface="Georgia"/>
                <a:cs typeface="Georgia"/>
              </a:rPr>
              <a:t>non-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normal</a:t>
            </a:r>
            <a:r>
              <a:rPr sz="1600" spc="-3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C00000"/>
                </a:solidFill>
                <a:latin typeface="Georgia"/>
                <a:cs typeface="Georgia"/>
              </a:rPr>
              <a:t>dependent</a:t>
            </a:r>
            <a:r>
              <a:rPr sz="1600" spc="-25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C00000"/>
                </a:solidFill>
                <a:latin typeface="Georgia"/>
                <a:cs typeface="Georgia"/>
              </a:rPr>
              <a:t>variables</a:t>
            </a:r>
            <a:r>
              <a:rPr sz="1600" spc="-25">
                <a:solidFill>
                  <a:srgbClr val="C00000"/>
                </a:solidFill>
                <a:latin typeface="Georgia"/>
                <a:cs typeface="Georgia"/>
              </a:rPr>
              <a:t> to </a:t>
            </a:r>
            <a:r>
              <a:rPr sz="1600">
                <a:solidFill>
                  <a:srgbClr val="C00000"/>
                </a:solidFill>
                <a:latin typeface="Georgia"/>
                <a:cs typeface="Georgia"/>
              </a:rPr>
              <a:t>normal</a:t>
            </a:r>
            <a:r>
              <a:rPr sz="1600" spc="-85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C00000"/>
                </a:solidFill>
                <a:latin typeface="Georgia"/>
                <a:cs typeface="Georgia"/>
              </a:rPr>
              <a:t>shape]</a:t>
            </a:r>
            <a:endParaRPr sz="1600">
              <a:latin typeface="Georgia"/>
              <a:cs typeface="Georgia"/>
            </a:endParaRPr>
          </a:p>
          <a:p>
            <a:pPr marL="340995" marR="5080">
              <a:lnSpc>
                <a:spcPct val="218200"/>
              </a:lnSpc>
            </a:pPr>
            <a:r>
              <a:rPr sz="1600" b="1">
                <a:latin typeface="Georgia"/>
                <a:cs typeface="Georgia"/>
              </a:rPr>
              <a:t>Reason:</a:t>
            </a:r>
            <a:r>
              <a:rPr sz="1600" b="1" spc="-35"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To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transform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the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data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to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either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reduce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the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skewness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or</a:t>
            </a:r>
            <a:r>
              <a:rPr sz="1600" spc="-4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to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normalize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the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data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spc="-25">
                <a:solidFill>
                  <a:srgbClr val="292929"/>
                </a:solidFill>
                <a:latin typeface="Georgia"/>
                <a:cs typeface="Georgia"/>
              </a:rPr>
              <a:t>or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simply</a:t>
            </a:r>
            <a:r>
              <a:rPr sz="1600" spc="-5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make</a:t>
            </a:r>
            <a:r>
              <a:rPr sz="1600" spc="-5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the</a:t>
            </a:r>
            <a:r>
              <a:rPr sz="1600" spc="-5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data</a:t>
            </a:r>
            <a:r>
              <a:rPr sz="1600" spc="-5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easier</a:t>
            </a:r>
            <a:r>
              <a:rPr sz="1600" spc="-5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to</a:t>
            </a:r>
            <a:r>
              <a:rPr sz="1600" spc="-5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understand.</a:t>
            </a:r>
            <a:endParaRPr sz="1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46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2212340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538CD4"/>
                </a:solidFill>
              </a:rPr>
              <a:t>Outliers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1250" y="887293"/>
            <a:ext cx="4472940" cy="3497579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 marR="48895">
              <a:lnSpc>
                <a:spcPct val="80300"/>
              </a:lnSpc>
              <a:spcBef>
                <a:spcPts val="690"/>
              </a:spcBef>
            </a:pPr>
            <a:r>
              <a:rPr sz="2450">
                <a:latin typeface="Calibri"/>
                <a:cs typeface="Calibri"/>
              </a:rPr>
              <a:t>An</a:t>
            </a:r>
            <a:r>
              <a:rPr sz="2450" spc="-3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outlier</a:t>
            </a:r>
            <a:r>
              <a:rPr sz="2450" spc="-3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is</a:t>
            </a:r>
            <a:r>
              <a:rPr sz="2450" spc="-3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an</a:t>
            </a:r>
            <a:r>
              <a:rPr sz="2450" spc="-3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observation</a:t>
            </a:r>
            <a:r>
              <a:rPr sz="2450" spc="-30">
                <a:latin typeface="Calibri"/>
                <a:cs typeface="Calibri"/>
              </a:rPr>
              <a:t> </a:t>
            </a:r>
            <a:r>
              <a:rPr sz="2450" spc="-10">
                <a:latin typeface="Calibri"/>
                <a:cs typeface="Calibri"/>
              </a:rPr>
              <a:t>point </a:t>
            </a:r>
            <a:r>
              <a:rPr sz="2450">
                <a:latin typeface="Calibri"/>
                <a:cs typeface="Calibri"/>
              </a:rPr>
              <a:t>that</a:t>
            </a:r>
            <a:r>
              <a:rPr sz="2450" spc="-6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is</a:t>
            </a:r>
            <a:r>
              <a:rPr sz="2450" spc="-55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distant</a:t>
            </a:r>
            <a:r>
              <a:rPr sz="2450" spc="-6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from</a:t>
            </a:r>
            <a:r>
              <a:rPr sz="2450" spc="-50">
                <a:latin typeface="Calibri"/>
                <a:cs typeface="Calibri"/>
              </a:rPr>
              <a:t> </a:t>
            </a:r>
            <a:r>
              <a:rPr sz="2450" spc="-10">
                <a:latin typeface="Calibri"/>
                <a:cs typeface="Calibri"/>
              </a:rPr>
              <a:t>other </a:t>
            </a:r>
            <a:r>
              <a:rPr sz="2450">
                <a:latin typeface="Calibri"/>
                <a:cs typeface="Calibri"/>
              </a:rPr>
              <a:t>observations.</a:t>
            </a:r>
            <a:r>
              <a:rPr sz="2450" spc="-5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An</a:t>
            </a:r>
            <a:r>
              <a:rPr sz="2450" spc="-5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outlier</a:t>
            </a:r>
            <a:r>
              <a:rPr sz="2450" spc="-45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may</a:t>
            </a:r>
            <a:r>
              <a:rPr sz="2450" spc="-50">
                <a:latin typeface="Calibri"/>
                <a:cs typeface="Calibri"/>
              </a:rPr>
              <a:t> </a:t>
            </a:r>
            <a:r>
              <a:rPr sz="2450" spc="-25">
                <a:latin typeface="Calibri"/>
                <a:cs typeface="Calibri"/>
              </a:rPr>
              <a:t>be </a:t>
            </a:r>
            <a:r>
              <a:rPr sz="2450">
                <a:latin typeface="Calibri"/>
                <a:cs typeface="Calibri"/>
              </a:rPr>
              <a:t>due</a:t>
            </a:r>
            <a:r>
              <a:rPr sz="2450" spc="-4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to</a:t>
            </a:r>
            <a:r>
              <a:rPr sz="2450" spc="-35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variability</a:t>
            </a:r>
            <a:r>
              <a:rPr sz="2450" spc="-35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in</a:t>
            </a:r>
            <a:r>
              <a:rPr sz="2450" spc="-35">
                <a:latin typeface="Calibri"/>
                <a:cs typeface="Calibri"/>
              </a:rPr>
              <a:t> </a:t>
            </a:r>
            <a:r>
              <a:rPr sz="2450" spc="-25">
                <a:latin typeface="Calibri"/>
                <a:cs typeface="Calibri"/>
              </a:rPr>
              <a:t>the </a:t>
            </a:r>
            <a:r>
              <a:rPr sz="2450">
                <a:latin typeface="Calibri"/>
                <a:cs typeface="Calibri"/>
              </a:rPr>
              <a:t>measurement</a:t>
            </a:r>
            <a:r>
              <a:rPr sz="2450" spc="-5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or</a:t>
            </a:r>
            <a:r>
              <a:rPr sz="2450" spc="-4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it</a:t>
            </a:r>
            <a:r>
              <a:rPr sz="2450" spc="-45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may</a:t>
            </a:r>
            <a:r>
              <a:rPr sz="2450" spc="-40">
                <a:latin typeface="Calibri"/>
                <a:cs typeface="Calibri"/>
              </a:rPr>
              <a:t> </a:t>
            </a:r>
            <a:r>
              <a:rPr sz="2450" spc="-10">
                <a:latin typeface="Calibri"/>
                <a:cs typeface="Calibri"/>
              </a:rPr>
              <a:t>indicate experimental</a:t>
            </a:r>
            <a:r>
              <a:rPr sz="2450" spc="-6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error;</a:t>
            </a:r>
            <a:r>
              <a:rPr sz="2450" spc="-6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the</a:t>
            </a:r>
            <a:r>
              <a:rPr sz="2450" spc="-55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latter</a:t>
            </a:r>
            <a:r>
              <a:rPr sz="2450" spc="-60">
                <a:latin typeface="Calibri"/>
                <a:cs typeface="Calibri"/>
              </a:rPr>
              <a:t> </a:t>
            </a:r>
            <a:r>
              <a:rPr sz="2450" spc="-25">
                <a:latin typeface="Calibri"/>
                <a:cs typeface="Calibri"/>
              </a:rPr>
              <a:t>are </a:t>
            </a:r>
            <a:r>
              <a:rPr sz="2450">
                <a:latin typeface="Calibri"/>
                <a:cs typeface="Calibri"/>
              </a:rPr>
              <a:t>sometimes</a:t>
            </a:r>
            <a:r>
              <a:rPr sz="2450" spc="-65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excluded</a:t>
            </a:r>
            <a:r>
              <a:rPr sz="2450" spc="-60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from</a:t>
            </a:r>
            <a:r>
              <a:rPr sz="2450" spc="-65">
                <a:latin typeface="Calibri"/>
                <a:cs typeface="Calibri"/>
              </a:rPr>
              <a:t> </a:t>
            </a:r>
            <a:r>
              <a:rPr sz="2450">
                <a:latin typeface="Calibri"/>
                <a:cs typeface="Calibri"/>
              </a:rPr>
              <a:t>the</a:t>
            </a:r>
            <a:r>
              <a:rPr sz="2450" spc="-60">
                <a:latin typeface="Calibri"/>
                <a:cs typeface="Calibri"/>
              </a:rPr>
              <a:t> </a:t>
            </a:r>
            <a:r>
              <a:rPr sz="2450" spc="-20">
                <a:latin typeface="Calibri"/>
                <a:cs typeface="Calibri"/>
              </a:rPr>
              <a:t>data set</a:t>
            </a:r>
            <a:r>
              <a:rPr sz="2650" spc="-20">
                <a:latin typeface="Calibri"/>
                <a:cs typeface="Calibri"/>
              </a:rPr>
              <a:t>.</a:t>
            </a:r>
            <a:endParaRPr sz="2650">
              <a:latin typeface="Calibri"/>
              <a:cs typeface="Calibri"/>
            </a:endParaRPr>
          </a:p>
          <a:p>
            <a:pPr marL="12700" marR="5080">
              <a:lnSpc>
                <a:spcPts val="2550"/>
              </a:lnSpc>
              <a:spcBef>
                <a:spcPts val="2535"/>
              </a:spcBef>
            </a:pPr>
            <a:r>
              <a:rPr sz="2650" spc="-10">
                <a:latin typeface="Calibri"/>
                <a:cs typeface="Calibri"/>
              </a:rPr>
              <a:t>https://tribe.datamites.com/pos ts/outliers</a:t>
            </a:r>
            <a:endParaRPr sz="26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5138530" y="1369219"/>
            <a:ext cx="3798181" cy="23453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47</a:t>
            </a:fld>
            <a:endParaRPr spc="-25"/>
          </a:p>
        </p:txBody>
      </p:sp>
      <p:sp>
        <p:nvSpPr>
          <p:cNvPr id="7" name="object 7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88705"/>
            <a:ext cx="9144000" cy="255270"/>
          </a:xfrm>
          <a:custGeom>
            <a:avLst/>
            <a:gdLst/>
            <a:ahLst/>
            <a:cxnLst/>
            <a:rect l="l" t="t" r="r" b="b"/>
            <a:pathLst>
              <a:path w="9144000" h="255270">
                <a:moveTo>
                  <a:pt x="9143999" y="254794"/>
                </a:moveTo>
                <a:lnTo>
                  <a:pt x="0" y="254794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4794"/>
                </a:lnTo>
                <a:close/>
              </a:path>
            </a:pathLst>
          </a:custGeom>
          <a:solidFill>
            <a:srgbClr val="538C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7698" y="4912598"/>
            <a:ext cx="3429635" cy="16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6675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20">
                <a:moveTo>
                  <a:pt x="9143999" y="45718"/>
                </a:moveTo>
                <a:lnTo>
                  <a:pt x="0" y="45718"/>
                </a:lnTo>
                <a:lnTo>
                  <a:pt x="0" y="0"/>
                </a:lnTo>
                <a:lnTo>
                  <a:pt x="9143999" y="0"/>
                </a:lnTo>
                <a:lnTo>
                  <a:pt x="9143999" y="45718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1023619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538CD4"/>
                </a:solidFill>
              </a:rPr>
              <a:t>Central</a:t>
            </a:r>
            <a:r>
              <a:rPr spc="-110">
                <a:solidFill>
                  <a:srgbClr val="538CD4"/>
                </a:solidFill>
              </a:rPr>
              <a:t> </a:t>
            </a:r>
            <a:r>
              <a:rPr>
                <a:solidFill>
                  <a:srgbClr val="538CD4"/>
                </a:solidFill>
              </a:rPr>
              <a:t>Limit</a:t>
            </a:r>
            <a:r>
              <a:rPr spc="-110">
                <a:solidFill>
                  <a:srgbClr val="538CD4"/>
                </a:solidFill>
              </a:rPr>
              <a:t> </a:t>
            </a:r>
            <a:r>
              <a:rPr spc="-10">
                <a:solidFill>
                  <a:srgbClr val="538CD4"/>
                </a:solidFill>
              </a:rPr>
              <a:t>Theorem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57060" y="4887944"/>
            <a:ext cx="2219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75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400" b="1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35803" y="4812268"/>
            <a:ext cx="2825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>
                <a:solidFill>
                  <a:srgbClr val="FFFFFF"/>
                </a:solidFill>
                <a:latin typeface="Calibri"/>
                <a:cs typeface="Calibri"/>
              </a:rPr>
              <a:t>49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900" y="847596"/>
            <a:ext cx="8641080" cy="212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162560">
              <a:lnSpc>
                <a:spcPct val="110000"/>
              </a:lnSpc>
              <a:spcBef>
                <a:spcPts val="100"/>
              </a:spcBef>
            </a:pPr>
            <a:r>
              <a:rPr sz="1400">
                <a:latin typeface="Arial MT"/>
                <a:cs typeface="Arial MT"/>
              </a:rPr>
              <a:t>The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central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limit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theorem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states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that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distribution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sample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means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approximates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normal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distribution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25">
                <a:latin typeface="Arial MT"/>
                <a:cs typeface="Arial MT"/>
              </a:rPr>
              <a:t>as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sample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size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gets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larger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(assuming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that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all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samples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are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identical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in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size),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regardless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population</a:t>
            </a:r>
            <a:endParaRPr sz="1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380"/>
              </a:spcBef>
            </a:pPr>
            <a:r>
              <a:rPr sz="1400">
                <a:latin typeface="Arial MT"/>
                <a:cs typeface="Arial MT"/>
              </a:rPr>
              <a:t>distribution</a:t>
            </a:r>
            <a:r>
              <a:rPr sz="1400" spc="-6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shape.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b="1" spc="-20">
                <a:latin typeface="Arial"/>
                <a:cs typeface="Arial"/>
              </a:rPr>
              <a:t>CLT</a:t>
            </a:r>
            <a:r>
              <a:rPr sz="1400" b="1" spc="-2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in</a:t>
            </a:r>
            <a:r>
              <a:rPr sz="1400" b="1" spc="-2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one</a:t>
            </a:r>
            <a:r>
              <a:rPr sz="1400" b="1" spc="-2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sentence</a:t>
            </a:r>
            <a:r>
              <a:rPr sz="1400" b="1" spc="-2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"Even</a:t>
            </a:r>
            <a:r>
              <a:rPr sz="1400" b="1" spc="-2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if</a:t>
            </a:r>
            <a:r>
              <a:rPr sz="1400" b="1" spc="-2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I'm</a:t>
            </a:r>
            <a:r>
              <a:rPr sz="1400" b="1" spc="-2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not</a:t>
            </a:r>
            <a:r>
              <a:rPr sz="1400" b="1" spc="-2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normal,</a:t>
            </a:r>
            <a:r>
              <a:rPr sz="1400" b="1" spc="-2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the</a:t>
            </a:r>
            <a:r>
              <a:rPr sz="1400" b="1" spc="-2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average</a:t>
            </a:r>
            <a:r>
              <a:rPr sz="1400" b="1" spc="-2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is</a:t>
            </a:r>
            <a:r>
              <a:rPr sz="1400" b="1" spc="-20">
                <a:latin typeface="Arial"/>
                <a:cs typeface="Arial"/>
              </a:rPr>
              <a:t> </a:t>
            </a:r>
            <a:r>
              <a:rPr sz="1400" b="1" spc="-10">
                <a:latin typeface="Arial"/>
                <a:cs typeface="Arial"/>
              </a:rPr>
              <a:t>normal"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400">
              <a:latin typeface="Arial"/>
              <a:cs typeface="Arial"/>
            </a:endParaRPr>
          </a:p>
          <a:p>
            <a:pPr marL="12700" marR="8255">
              <a:lnSpc>
                <a:spcPct val="114999"/>
              </a:lnSpc>
            </a:pPr>
            <a:r>
              <a:rPr sz="1400">
                <a:latin typeface="Arial MT"/>
                <a:cs typeface="Arial MT"/>
              </a:rPr>
              <a:t>When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collecting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means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samples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from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any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distribution,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no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samples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taken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for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calculating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20">
                <a:latin typeface="Arial MT"/>
                <a:cs typeface="Arial MT"/>
              </a:rPr>
              <a:t>mean </a:t>
            </a:r>
            <a:r>
              <a:rPr sz="1400">
                <a:latin typeface="Arial MT"/>
                <a:cs typeface="Arial MT"/>
              </a:rPr>
              <a:t>should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be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greater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or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equal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to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 spc="-25">
                <a:latin typeface="Arial MT"/>
                <a:cs typeface="Arial MT"/>
              </a:rPr>
              <a:t>30.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/>
          <a:stretch>
            <a:fillRect/>
          </a:stretch>
        </p:blipFill>
        <p:spPr>
          <a:xfrm>
            <a:off x="97875" y="3178000"/>
            <a:ext cx="5943599" cy="13239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698" y="4912598"/>
            <a:ext cx="3429635" cy="16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6675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20">
                <a:moveTo>
                  <a:pt x="9143999" y="45718"/>
                </a:moveTo>
                <a:lnTo>
                  <a:pt x="0" y="45718"/>
                </a:lnTo>
                <a:lnTo>
                  <a:pt x="0" y="0"/>
                </a:lnTo>
                <a:lnTo>
                  <a:pt x="9143999" y="0"/>
                </a:lnTo>
                <a:lnTo>
                  <a:pt x="9143999" y="45718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4539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538CD4"/>
                </a:solidFill>
              </a:rPr>
              <a:t>Q-</a:t>
            </a:r>
            <a:r>
              <a:rPr>
                <a:solidFill>
                  <a:srgbClr val="538CD4"/>
                </a:solidFill>
              </a:rPr>
              <a:t>Q</a:t>
            </a:r>
            <a:r>
              <a:rPr spc="5">
                <a:solidFill>
                  <a:srgbClr val="538CD4"/>
                </a:solidFill>
              </a:rPr>
              <a:t> </a:t>
            </a:r>
            <a:r>
              <a:rPr spc="-10">
                <a:solidFill>
                  <a:srgbClr val="538CD4"/>
                </a:solidFill>
              </a:rPr>
              <a:t>Plots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35803" y="4812296"/>
            <a:ext cx="2825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>
                <a:solidFill>
                  <a:srgbClr val="FFFFFF"/>
                </a:solidFill>
                <a:latin typeface="Calibri"/>
                <a:cs typeface="Calibri"/>
              </a:rPr>
              <a:t>50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900" y="910271"/>
            <a:ext cx="780160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Q-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Q</a:t>
            </a:r>
            <a:r>
              <a:rPr sz="1600" spc="-4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plots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are</a:t>
            </a:r>
            <a:r>
              <a:rPr sz="1600" spc="-4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used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to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find</a:t>
            </a:r>
            <a:r>
              <a:rPr sz="1600" spc="-4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the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type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of</a:t>
            </a:r>
            <a:r>
              <a:rPr sz="1600" spc="-4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distribution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for</a:t>
            </a:r>
            <a:r>
              <a:rPr sz="1600" spc="-4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a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random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variable</a:t>
            </a:r>
            <a:r>
              <a:rPr sz="1600" spc="-4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whether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it</a:t>
            </a:r>
            <a:r>
              <a:rPr sz="1600" spc="-35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be</a:t>
            </a:r>
            <a:r>
              <a:rPr sz="1600" spc="-4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spc="-50">
                <a:solidFill>
                  <a:srgbClr val="292929"/>
                </a:solidFill>
                <a:latin typeface="Georgia"/>
                <a:cs typeface="Georgia"/>
              </a:rPr>
              <a:t>a </a:t>
            </a: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Gaussian</a:t>
            </a:r>
            <a:r>
              <a:rPr sz="1600" spc="-3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Distribution</a:t>
            </a:r>
            <a:r>
              <a:rPr sz="1600" spc="-3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/</a:t>
            </a:r>
            <a:r>
              <a:rPr sz="1600" spc="-3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Normal</a:t>
            </a:r>
            <a:r>
              <a:rPr sz="1600" spc="-3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spc="-10">
                <a:solidFill>
                  <a:srgbClr val="292929"/>
                </a:solidFill>
                <a:latin typeface="Georgia"/>
                <a:cs typeface="Georgia"/>
              </a:rPr>
              <a:t>distribution</a:t>
            </a:r>
            <a:r>
              <a:rPr sz="1600" spc="1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>
                <a:solidFill>
                  <a:srgbClr val="292929"/>
                </a:solidFill>
                <a:latin typeface="Georgia"/>
                <a:cs typeface="Georgia"/>
              </a:rPr>
              <a:t>or</a:t>
            </a:r>
            <a:r>
              <a:rPr sz="1600" spc="-3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spc="-20">
                <a:solidFill>
                  <a:srgbClr val="292929"/>
                </a:solidFill>
                <a:latin typeface="Georgia"/>
                <a:cs typeface="Georgia"/>
              </a:rPr>
              <a:t>not.</a:t>
            </a:r>
            <a:endParaRPr sz="16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/>
          <a:stretch>
            <a:fillRect/>
          </a:stretch>
        </p:blipFill>
        <p:spPr>
          <a:xfrm>
            <a:off x="152400" y="1477200"/>
            <a:ext cx="3540599" cy="325017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675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20">
                <a:moveTo>
                  <a:pt x="9143999" y="45718"/>
                </a:moveTo>
                <a:lnTo>
                  <a:pt x="0" y="45718"/>
                </a:lnTo>
                <a:lnTo>
                  <a:pt x="0" y="0"/>
                </a:lnTo>
                <a:lnTo>
                  <a:pt x="9143999" y="0"/>
                </a:lnTo>
                <a:lnTo>
                  <a:pt x="9143999" y="45718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0245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538CD4"/>
                </a:solidFill>
              </a:rPr>
              <a:t>Standard</a:t>
            </a:r>
            <a:r>
              <a:rPr spc="-145">
                <a:solidFill>
                  <a:srgbClr val="538CD4"/>
                </a:solidFill>
              </a:rPr>
              <a:t> </a:t>
            </a:r>
            <a:r>
              <a:rPr>
                <a:solidFill>
                  <a:srgbClr val="538CD4"/>
                </a:solidFill>
              </a:rPr>
              <a:t>Normal</a:t>
            </a:r>
            <a:r>
              <a:rPr spc="-140">
                <a:solidFill>
                  <a:srgbClr val="538CD4"/>
                </a:solidFill>
              </a:rPr>
              <a:t> </a:t>
            </a:r>
            <a:r>
              <a:rPr spc="-10">
                <a:solidFill>
                  <a:srgbClr val="538CD4"/>
                </a:solidFill>
              </a:rPr>
              <a:t>Distribution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0900" y="751584"/>
            <a:ext cx="8381365" cy="51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400">
                <a:latin typeface="Calibri"/>
                <a:cs typeface="Calibri"/>
              </a:rPr>
              <a:t>The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standard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normal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distribution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is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special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case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of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the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normal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distribution.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It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is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the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distribution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that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occurs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when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-50">
                <a:latin typeface="Calibri"/>
                <a:cs typeface="Calibri"/>
              </a:rPr>
              <a:t>a </a:t>
            </a:r>
            <a:r>
              <a:rPr sz="1400">
                <a:latin typeface="Calibri"/>
                <a:cs typeface="Calibri"/>
              </a:rPr>
              <a:t>normal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random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variable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has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mean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of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zero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and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standard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deviation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of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one.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1035887" y="2182753"/>
            <a:ext cx="5662299" cy="16704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50</a:t>
            </a:fld>
            <a:endParaRPr spc="-25"/>
          </a:p>
        </p:txBody>
      </p:sp>
      <p:sp>
        <p:nvSpPr>
          <p:cNvPr id="9" name="object 9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57060" y="4932394"/>
            <a:ext cx="221996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75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400" b="1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100"/>
              </a:spcBef>
            </a:pPr>
            <a:r>
              <a:rPr>
                <a:solidFill>
                  <a:srgbClr val="538CD4"/>
                </a:solidFill>
              </a:rPr>
              <a:t>Z-</a:t>
            </a:r>
            <a:r>
              <a:rPr spc="-105">
                <a:solidFill>
                  <a:srgbClr val="538CD4"/>
                </a:solidFill>
              </a:rPr>
              <a:t> </a:t>
            </a:r>
            <a:r>
              <a:rPr>
                <a:solidFill>
                  <a:srgbClr val="538CD4"/>
                </a:solidFill>
              </a:rPr>
              <a:t>Score</a:t>
            </a:r>
            <a:r>
              <a:rPr spc="-100">
                <a:solidFill>
                  <a:srgbClr val="538CD4"/>
                </a:solidFill>
              </a:rPr>
              <a:t> </a:t>
            </a:r>
            <a:r>
              <a:rPr>
                <a:solidFill>
                  <a:srgbClr val="538CD4"/>
                </a:solidFill>
              </a:rPr>
              <a:t>/</a:t>
            </a:r>
            <a:r>
              <a:rPr spc="-100">
                <a:solidFill>
                  <a:srgbClr val="538CD4"/>
                </a:solidFill>
              </a:rPr>
              <a:t> </a:t>
            </a:r>
            <a:r>
              <a:rPr spc="-45">
                <a:solidFill>
                  <a:srgbClr val="538CD4"/>
                </a:solidFill>
              </a:rPr>
              <a:t>Z-</a:t>
            </a:r>
            <a:r>
              <a:rPr spc="-25">
                <a:solidFill>
                  <a:srgbClr val="538CD4"/>
                </a:solidFill>
              </a:rPr>
              <a:t>Value/</a:t>
            </a:r>
            <a:r>
              <a:rPr spc="-105">
                <a:solidFill>
                  <a:srgbClr val="538CD4"/>
                </a:solidFill>
              </a:rPr>
              <a:t> </a:t>
            </a:r>
            <a:r>
              <a:rPr spc="-10">
                <a:solidFill>
                  <a:srgbClr val="538CD4"/>
                </a:solidFill>
              </a:rPr>
              <a:t>Standard</a:t>
            </a:r>
            <a:r>
              <a:rPr spc="-100">
                <a:solidFill>
                  <a:srgbClr val="538CD4"/>
                </a:solidFill>
              </a:rPr>
              <a:t> </a:t>
            </a:r>
            <a:r>
              <a:rPr spc="-10">
                <a:solidFill>
                  <a:srgbClr val="538CD4"/>
                </a:solidFill>
              </a:rPr>
              <a:t>Score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5915" y="1213359"/>
            <a:ext cx="7981315" cy="197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marR="5080" indent="-2978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9880" algn="l"/>
              </a:tabLst>
            </a:pPr>
            <a:r>
              <a:rPr sz="2400">
                <a:latin typeface="Calibri"/>
                <a:cs typeface="Calibri"/>
              </a:rPr>
              <a:t>A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z-</a:t>
            </a:r>
            <a:r>
              <a:rPr sz="2400">
                <a:latin typeface="Calibri"/>
                <a:cs typeface="Calibri"/>
              </a:rPr>
              <a:t>score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(aka,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standard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score)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indicates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how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many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standard </a:t>
            </a:r>
            <a:r>
              <a:rPr sz="2400">
                <a:latin typeface="Calibri"/>
                <a:cs typeface="Calibri"/>
              </a:rPr>
              <a:t>deviations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element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above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or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below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from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mean.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5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309880">
              <a:lnSpc>
                <a:spcPct val="100000"/>
              </a:lnSpc>
            </a:pPr>
            <a:r>
              <a:rPr sz="2400" spc="-20">
                <a:latin typeface="Calibri"/>
                <a:cs typeface="Calibri"/>
              </a:rPr>
              <a:t>z-</a:t>
            </a:r>
            <a:r>
              <a:rPr sz="2400">
                <a:latin typeface="Calibri"/>
                <a:cs typeface="Calibri"/>
              </a:rPr>
              <a:t>score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can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calculated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from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following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formula.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2400">
              <a:latin typeface="Calibri"/>
              <a:cs typeface="Calibri"/>
            </a:endParaRPr>
          </a:p>
          <a:p>
            <a:pPr marL="309245" indent="-296545">
              <a:lnSpc>
                <a:spcPct val="100000"/>
              </a:lnSpc>
              <a:buFont typeface="Arial MT"/>
              <a:buChar char="•"/>
              <a:tabLst>
                <a:tab pos="309245" algn="l"/>
              </a:tabLst>
            </a:pPr>
            <a:r>
              <a:rPr sz="2400">
                <a:latin typeface="Calibri"/>
                <a:cs typeface="Calibri"/>
              </a:rPr>
              <a:t>z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=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(X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-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μ)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/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 spc="-50"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51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2278299" y="827853"/>
            <a:ext cx="4526467" cy="39167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1687195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538CD4"/>
                </a:solidFill>
              </a:rPr>
              <a:t>Calculating</a:t>
            </a:r>
            <a:r>
              <a:rPr spc="-85">
                <a:solidFill>
                  <a:srgbClr val="538CD4"/>
                </a:solidFill>
              </a:rPr>
              <a:t> </a:t>
            </a:r>
            <a:r>
              <a:rPr spc="-45">
                <a:solidFill>
                  <a:srgbClr val="538CD4"/>
                </a:solidFill>
              </a:rPr>
              <a:t>Z-</a:t>
            </a:r>
            <a:r>
              <a:rPr spc="-20">
                <a:solidFill>
                  <a:srgbClr val="538CD4"/>
                </a:solidFill>
              </a:rPr>
              <a:t>Score</a:t>
            </a:r>
          </a:p>
        </p:txBody>
      </p:sp>
      <p:pic>
        <p:nvPicPr>
          <p:cNvPr id="4" name="object 4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52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81429"/>
            <a:ext cx="9143999" cy="43470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64489" y="4723368"/>
            <a:ext cx="15430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000" spc="-5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9375"/>
            <a:ext cx="9144000" cy="5014595"/>
            <a:chOff x="0" y="129375"/>
            <a:chExt cx="9144000" cy="5014595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129375"/>
              <a:ext cx="9143999" cy="47212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4887966"/>
              <a:ext cx="1016235" cy="25553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764489" y="4723368"/>
            <a:ext cx="15430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000" spc="-5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543374" y="573315"/>
            <a:ext cx="3379352" cy="21626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/>
          <a:stretch>
            <a:fillRect/>
          </a:stretch>
        </p:blipFill>
        <p:spPr>
          <a:xfrm>
            <a:off x="4796972" y="573315"/>
            <a:ext cx="3193143" cy="201998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6399" y="3269489"/>
            <a:ext cx="7646034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>
                <a:latin typeface="Arial MT"/>
                <a:cs typeface="Arial MT"/>
              </a:rPr>
              <a:t>So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on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this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normal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curve,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for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z=-</a:t>
            </a:r>
            <a:r>
              <a:rPr sz="1400">
                <a:latin typeface="Arial MT"/>
                <a:cs typeface="Arial MT"/>
              </a:rPr>
              <a:t>1.22,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area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on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left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30">
                <a:latin typeface="Arial MT"/>
                <a:cs typeface="Arial MT"/>
              </a:rPr>
              <a:t>0.1112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as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we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saw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in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z-</a:t>
            </a:r>
            <a:r>
              <a:rPr sz="1400">
                <a:latin typeface="Arial MT"/>
                <a:cs typeface="Arial MT"/>
              </a:rPr>
              <a:t>score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table. </a:t>
            </a:r>
            <a:r>
              <a:rPr sz="1400">
                <a:latin typeface="Arial MT"/>
                <a:cs typeface="Arial MT"/>
              </a:rPr>
              <a:t>Therefore,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probability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that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x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&lt;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54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11.12%.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spc="-10">
                <a:latin typeface="Arial MT"/>
                <a:cs typeface="Arial MT"/>
              </a:rPr>
              <a:t>Z-</a:t>
            </a:r>
            <a:r>
              <a:rPr sz="1400">
                <a:latin typeface="Arial MT"/>
                <a:cs typeface="Arial MT"/>
              </a:rPr>
              <a:t>score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powerful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tool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to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find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probability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distribution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using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Z-</a:t>
            </a:r>
            <a:r>
              <a:rPr sz="1400">
                <a:latin typeface="Arial MT"/>
                <a:cs typeface="Arial MT"/>
              </a:rPr>
              <a:t>score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table.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764489" y="4723368"/>
            <a:ext cx="15430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000" spc="-5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2212340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4F81BD"/>
                </a:solidFill>
              </a:rPr>
              <a:t>Outliers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8843" y="1178571"/>
            <a:ext cx="7193915" cy="44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20"/>
              </a:spcBef>
              <a:buSzPct val="66666"/>
              <a:buChar char="•"/>
              <a:tabLst>
                <a:tab pos="320675" algn="l"/>
                <a:tab pos="627380" algn="l"/>
              </a:tabLst>
            </a:pPr>
            <a:r>
              <a:rPr sz="2700" spc="-50">
                <a:latin typeface="Arial MT"/>
                <a:cs typeface="Arial MT"/>
              </a:rPr>
              <a:t>-</a:t>
            </a:r>
            <a:r>
              <a:rPr sz="2700">
                <a:latin typeface="Arial MT"/>
                <a:cs typeface="Arial MT"/>
              </a:rPr>
              <a:t>	Z-scores</a:t>
            </a:r>
            <a:r>
              <a:rPr sz="2700" spc="-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generally</a:t>
            </a:r>
            <a:r>
              <a:rPr sz="2700" spc="-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range</a:t>
            </a:r>
            <a:r>
              <a:rPr sz="2700" spc="-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from</a:t>
            </a:r>
            <a:r>
              <a:rPr sz="2700" spc="-5">
                <a:latin typeface="Arial MT"/>
                <a:cs typeface="Arial MT"/>
              </a:rPr>
              <a:t> </a:t>
            </a:r>
            <a:r>
              <a:rPr sz="2700" spc="-10">
                <a:latin typeface="Arial MT"/>
                <a:cs typeface="Arial MT"/>
              </a:rPr>
              <a:t>-</a:t>
            </a:r>
            <a:r>
              <a:rPr sz="2700">
                <a:latin typeface="Arial MT"/>
                <a:cs typeface="Arial MT"/>
              </a:rPr>
              <a:t>3.0</a:t>
            </a:r>
            <a:r>
              <a:rPr sz="2700" spc="-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to</a:t>
            </a:r>
            <a:r>
              <a:rPr sz="2700" spc="-5">
                <a:latin typeface="Arial MT"/>
                <a:cs typeface="Arial MT"/>
              </a:rPr>
              <a:t> </a:t>
            </a:r>
            <a:r>
              <a:rPr sz="2700" spc="-10">
                <a:latin typeface="Arial MT"/>
                <a:cs typeface="Arial MT"/>
              </a:rPr>
              <a:t>+3.0.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843" y="2133003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83910" y="2016161"/>
            <a:ext cx="4838700" cy="44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14655" algn="l"/>
              </a:tabLst>
            </a:pPr>
            <a:r>
              <a:rPr sz="2700" spc="-50">
                <a:latin typeface="Arial MT"/>
                <a:cs typeface="Arial MT"/>
              </a:rPr>
              <a:t>-</a:t>
            </a:r>
            <a:r>
              <a:rPr sz="2700">
                <a:latin typeface="Arial MT"/>
                <a:cs typeface="Arial MT"/>
              </a:rPr>
              <a:t>	For</a:t>
            </a:r>
            <a:r>
              <a:rPr sz="2700" spc="-1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bell</a:t>
            </a:r>
            <a:r>
              <a:rPr sz="2700" spc="-1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shaped</a:t>
            </a:r>
            <a:r>
              <a:rPr sz="2700" spc="-10">
                <a:latin typeface="Arial MT"/>
                <a:cs typeface="Arial MT"/>
              </a:rPr>
              <a:t> distributions,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7425" y="2389236"/>
            <a:ext cx="6905625" cy="81343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2940"/>
              </a:lnSpc>
              <a:spcBef>
                <a:spcPts val="465"/>
              </a:spcBef>
            </a:pPr>
            <a:r>
              <a:rPr sz="2700">
                <a:latin typeface="Arial MT"/>
                <a:cs typeface="Arial MT"/>
              </a:rPr>
              <a:t>the</a:t>
            </a:r>
            <a:r>
              <a:rPr sz="2700" spc="-1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empirical</a:t>
            </a:r>
            <a:r>
              <a:rPr sz="2700" spc="-1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rule</a:t>
            </a:r>
            <a:r>
              <a:rPr sz="2700" spc="-1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says</a:t>
            </a:r>
            <a:r>
              <a:rPr sz="2700" spc="-10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99.7%</a:t>
            </a:r>
            <a:r>
              <a:rPr sz="2700" spc="-1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of</a:t>
            </a:r>
            <a:r>
              <a:rPr sz="2700" spc="-1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all</a:t>
            </a:r>
            <a:r>
              <a:rPr sz="2700" spc="-1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the</a:t>
            </a:r>
            <a:r>
              <a:rPr sz="2700" spc="-10">
                <a:latin typeface="Arial MT"/>
                <a:cs typeface="Arial MT"/>
              </a:rPr>
              <a:t> </a:t>
            </a:r>
            <a:r>
              <a:rPr sz="2700" spc="-20">
                <a:latin typeface="Arial MT"/>
                <a:cs typeface="Arial MT"/>
              </a:rPr>
              <a:t>data </a:t>
            </a:r>
            <a:r>
              <a:rPr sz="2700">
                <a:latin typeface="Arial MT"/>
                <a:cs typeface="Arial MT"/>
              </a:rPr>
              <a:t>values</a:t>
            </a:r>
            <a:r>
              <a:rPr sz="2700" spc="-10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have</a:t>
            </a:r>
            <a:r>
              <a:rPr sz="2700" spc="-10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z-scores</a:t>
            </a:r>
            <a:r>
              <a:rPr sz="2700" spc="-10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between</a:t>
            </a:r>
            <a:r>
              <a:rPr sz="2700" spc="-10">
                <a:latin typeface="Arial MT"/>
                <a:cs typeface="Arial MT"/>
              </a:rPr>
              <a:t> -</a:t>
            </a:r>
            <a:r>
              <a:rPr sz="2700">
                <a:latin typeface="Arial MT"/>
                <a:cs typeface="Arial MT"/>
              </a:rPr>
              <a:t>3.0</a:t>
            </a:r>
            <a:r>
              <a:rPr sz="2700" spc="-10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and</a:t>
            </a:r>
            <a:r>
              <a:rPr sz="2700" spc="-10">
                <a:latin typeface="Arial MT"/>
                <a:cs typeface="Arial MT"/>
              </a:rPr>
              <a:t> +3.0.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8843" y="371674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7425" y="3599902"/>
            <a:ext cx="7533640" cy="118618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 indent="2392045">
              <a:lnSpc>
                <a:spcPts val="2940"/>
              </a:lnSpc>
              <a:spcBef>
                <a:spcPts val="465"/>
              </a:spcBef>
              <a:tabLst>
                <a:tab pos="2710815" algn="l"/>
              </a:tabLst>
            </a:pPr>
            <a:r>
              <a:rPr sz="2700" spc="-50">
                <a:latin typeface="Arial MT"/>
                <a:cs typeface="Arial MT"/>
              </a:rPr>
              <a:t>-</a:t>
            </a:r>
            <a:r>
              <a:rPr sz="2700">
                <a:latin typeface="Arial MT"/>
                <a:cs typeface="Arial MT"/>
              </a:rPr>
              <a:t>	We</a:t>
            </a:r>
            <a:r>
              <a:rPr sz="2700" spc="-30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consider</a:t>
            </a:r>
            <a:r>
              <a:rPr sz="2700" spc="-1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any</a:t>
            </a:r>
            <a:r>
              <a:rPr sz="2700" spc="-15">
                <a:latin typeface="Arial MT"/>
                <a:cs typeface="Arial MT"/>
              </a:rPr>
              <a:t> </a:t>
            </a:r>
            <a:r>
              <a:rPr sz="2700" spc="-10">
                <a:latin typeface="Arial MT"/>
                <a:cs typeface="Arial MT"/>
              </a:rPr>
              <a:t>z-</a:t>
            </a:r>
            <a:r>
              <a:rPr sz="2700">
                <a:latin typeface="Arial MT"/>
                <a:cs typeface="Arial MT"/>
              </a:rPr>
              <a:t>score</a:t>
            </a:r>
            <a:r>
              <a:rPr sz="2700" spc="-1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that</a:t>
            </a:r>
            <a:r>
              <a:rPr sz="2700" spc="-15">
                <a:latin typeface="Arial MT"/>
                <a:cs typeface="Arial MT"/>
              </a:rPr>
              <a:t> </a:t>
            </a:r>
            <a:r>
              <a:rPr sz="2700" spc="-25">
                <a:latin typeface="Arial MT"/>
                <a:cs typeface="Arial MT"/>
              </a:rPr>
              <a:t>is </a:t>
            </a:r>
            <a:r>
              <a:rPr sz="2700">
                <a:latin typeface="Arial MT"/>
                <a:cs typeface="Arial MT"/>
              </a:rPr>
              <a:t>either</a:t>
            </a:r>
            <a:r>
              <a:rPr sz="2700" spc="-10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less</a:t>
            </a:r>
            <a:r>
              <a:rPr sz="2700" spc="-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than</a:t>
            </a:r>
            <a:r>
              <a:rPr sz="2700" spc="-5">
                <a:latin typeface="Arial MT"/>
                <a:cs typeface="Arial MT"/>
              </a:rPr>
              <a:t> </a:t>
            </a:r>
            <a:r>
              <a:rPr sz="2700" spc="-10">
                <a:latin typeface="Arial MT"/>
                <a:cs typeface="Arial MT"/>
              </a:rPr>
              <a:t>-</a:t>
            </a:r>
            <a:r>
              <a:rPr sz="2700">
                <a:latin typeface="Arial MT"/>
                <a:cs typeface="Arial MT"/>
              </a:rPr>
              <a:t>3.0</a:t>
            </a:r>
            <a:r>
              <a:rPr sz="2700" spc="-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or</a:t>
            </a:r>
            <a:r>
              <a:rPr sz="2700" spc="-10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greater</a:t>
            </a:r>
            <a:r>
              <a:rPr sz="2700" spc="-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than</a:t>
            </a:r>
            <a:r>
              <a:rPr sz="2700" spc="-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+3.0</a:t>
            </a:r>
            <a:r>
              <a:rPr sz="2700" spc="-5">
                <a:latin typeface="Arial MT"/>
                <a:cs typeface="Arial MT"/>
              </a:rPr>
              <a:t> </a:t>
            </a:r>
            <a:r>
              <a:rPr sz="2700">
                <a:latin typeface="Arial MT"/>
                <a:cs typeface="Arial MT"/>
              </a:rPr>
              <a:t>to</a:t>
            </a:r>
            <a:r>
              <a:rPr sz="2700" spc="-5">
                <a:latin typeface="Arial MT"/>
                <a:cs typeface="Arial MT"/>
              </a:rPr>
              <a:t> </a:t>
            </a:r>
            <a:r>
              <a:rPr sz="2700" spc="-25">
                <a:latin typeface="Arial MT"/>
                <a:cs typeface="Arial MT"/>
              </a:rPr>
              <a:t>be</a:t>
            </a:r>
            <a:r>
              <a:rPr sz="2700">
                <a:latin typeface="Arial MT"/>
                <a:cs typeface="Arial MT"/>
              </a:rPr>
              <a:t>  an </a:t>
            </a:r>
            <a:r>
              <a:rPr sz="2700" b="1" spc="-10">
                <a:latin typeface="Arial"/>
                <a:cs typeface="Arial"/>
              </a:rPr>
              <a:t>outlier</a:t>
            </a:r>
            <a:r>
              <a:rPr sz="2700" spc="-10">
                <a:latin typeface="Arial MT"/>
                <a:cs typeface="Arial MT"/>
              </a:rPr>
              <a:t>.</a:t>
            </a:r>
            <a:endParaRPr sz="27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56</a:t>
            </a:fld>
            <a:endParaRPr spc="-25"/>
          </a:p>
        </p:txBody>
      </p:sp>
      <p:sp>
        <p:nvSpPr>
          <p:cNvPr id="11" name="object 11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927" rIns="0" bIns="0" rtlCol="0">
            <a:spAutoFit/>
          </a:bodyPr>
          <a:lstStyle/>
          <a:p>
            <a:pPr marL="1259205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538CD4"/>
                </a:solidFill>
              </a:rPr>
              <a:t>Probability</a:t>
            </a:r>
            <a:r>
              <a:rPr spc="-125">
                <a:solidFill>
                  <a:srgbClr val="538CD4"/>
                </a:solidFill>
              </a:rPr>
              <a:t> </a:t>
            </a:r>
            <a:r>
              <a:rPr>
                <a:solidFill>
                  <a:srgbClr val="538CD4"/>
                </a:solidFill>
              </a:rPr>
              <a:t>Density</a:t>
            </a:r>
            <a:r>
              <a:rPr spc="-120">
                <a:solidFill>
                  <a:srgbClr val="538CD4"/>
                </a:solidFill>
              </a:rPr>
              <a:t> </a:t>
            </a:r>
            <a:r>
              <a:rPr spc="-10">
                <a:solidFill>
                  <a:srgbClr val="538CD4"/>
                </a:solidFill>
              </a:rPr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0900" y="909509"/>
            <a:ext cx="8442960" cy="1543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>
                <a:solidFill>
                  <a:srgbClr val="555555"/>
                </a:solidFill>
                <a:latin typeface="Arial MT"/>
                <a:cs typeface="Arial MT"/>
              </a:rPr>
              <a:t>Probability</a:t>
            </a:r>
            <a:r>
              <a:rPr sz="1750" spc="-6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750">
                <a:solidFill>
                  <a:srgbClr val="555555"/>
                </a:solidFill>
                <a:latin typeface="Arial MT"/>
                <a:cs typeface="Arial MT"/>
              </a:rPr>
              <a:t>density</a:t>
            </a:r>
            <a:r>
              <a:rPr sz="1750" spc="-5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750">
                <a:solidFill>
                  <a:srgbClr val="555555"/>
                </a:solidFill>
                <a:latin typeface="Arial MT"/>
                <a:cs typeface="Arial MT"/>
              </a:rPr>
              <a:t>is</a:t>
            </a:r>
            <a:r>
              <a:rPr sz="1750" spc="-6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750">
                <a:solidFill>
                  <a:srgbClr val="555555"/>
                </a:solidFill>
                <a:latin typeface="Arial MT"/>
                <a:cs typeface="Arial MT"/>
              </a:rPr>
              <a:t>the</a:t>
            </a:r>
            <a:r>
              <a:rPr sz="1750" spc="-5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750" spc="-10">
                <a:solidFill>
                  <a:srgbClr val="555555"/>
                </a:solidFill>
                <a:latin typeface="Arial MT"/>
                <a:cs typeface="Arial MT"/>
              </a:rPr>
              <a:t>relationship</a:t>
            </a:r>
            <a:r>
              <a:rPr sz="1750" spc="-5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750">
                <a:solidFill>
                  <a:srgbClr val="555555"/>
                </a:solidFill>
                <a:latin typeface="Arial MT"/>
                <a:cs typeface="Arial MT"/>
              </a:rPr>
              <a:t>between</a:t>
            </a:r>
            <a:r>
              <a:rPr sz="1750" spc="-6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750">
                <a:solidFill>
                  <a:srgbClr val="555555"/>
                </a:solidFill>
                <a:latin typeface="Arial MT"/>
                <a:cs typeface="Arial MT"/>
              </a:rPr>
              <a:t>observations</a:t>
            </a:r>
            <a:r>
              <a:rPr sz="1750" spc="-5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750">
                <a:solidFill>
                  <a:srgbClr val="555555"/>
                </a:solidFill>
                <a:latin typeface="Arial MT"/>
                <a:cs typeface="Arial MT"/>
              </a:rPr>
              <a:t>and</a:t>
            </a:r>
            <a:r>
              <a:rPr sz="1750" spc="-5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750">
                <a:solidFill>
                  <a:srgbClr val="555555"/>
                </a:solidFill>
                <a:latin typeface="Arial MT"/>
                <a:cs typeface="Arial MT"/>
              </a:rPr>
              <a:t>their</a:t>
            </a:r>
            <a:r>
              <a:rPr sz="1750" spc="-6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750" spc="-10">
                <a:solidFill>
                  <a:srgbClr val="555555"/>
                </a:solidFill>
                <a:latin typeface="Arial MT"/>
                <a:cs typeface="Arial MT"/>
              </a:rPr>
              <a:t>probability.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7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The</a:t>
            </a:r>
            <a:r>
              <a:rPr sz="165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overall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shape</a:t>
            </a:r>
            <a:r>
              <a:rPr sz="165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of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the</a:t>
            </a:r>
            <a:r>
              <a:rPr sz="165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probability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density</a:t>
            </a:r>
            <a:r>
              <a:rPr sz="165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is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referred</a:t>
            </a:r>
            <a:r>
              <a:rPr sz="165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to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as</a:t>
            </a:r>
            <a:r>
              <a:rPr sz="165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a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probability</a:t>
            </a:r>
            <a:r>
              <a:rPr sz="165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distribution,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 spc="-25">
                <a:solidFill>
                  <a:srgbClr val="555555"/>
                </a:solidFill>
                <a:latin typeface="Arial MT"/>
                <a:cs typeface="Arial MT"/>
              </a:rPr>
              <a:t>and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the</a:t>
            </a:r>
            <a:r>
              <a:rPr sz="1650" spc="-2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calculation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of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probabilities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for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specific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outcomes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of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a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random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variable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is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performed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by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 spc="-50">
                <a:solidFill>
                  <a:srgbClr val="555555"/>
                </a:solidFill>
                <a:latin typeface="Arial MT"/>
                <a:cs typeface="Arial MT"/>
              </a:rPr>
              <a:t>a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probability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density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function,</a:t>
            </a:r>
            <a:r>
              <a:rPr sz="1650" spc="-10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or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PDF</a:t>
            </a:r>
            <a:r>
              <a:rPr sz="1650" spc="-15">
                <a:solidFill>
                  <a:srgbClr val="555555"/>
                </a:solidFill>
                <a:latin typeface="Arial MT"/>
                <a:cs typeface="Arial MT"/>
              </a:rPr>
              <a:t> </a:t>
            </a:r>
            <a:r>
              <a:rPr sz="1650">
                <a:solidFill>
                  <a:srgbClr val="555555"/>
                </a:solidFill>
                <a:latin typeface="Arial MT"/>
                <a:cs typeface="Arial MT"/>
              </a:rPr>
              <a:t>for</a:t>
            </a:r>
            <a:r>
              <a:rPr sz="1650" spc="-10">
                <a:solidFill>
                  <a:srgbClr val="555555"/>
                </a:solidFill>
                <a:latin typeface="Arial MT"/>
                <a:cs typeface="Arial MT"/>
              </a:rPr>
              <a:t> short.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>
                <a:latin typeface="Calibri"/>
                <a:cs typeface="Calibri"/>
              </a:rPr>
              <a:t>The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probability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density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function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for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Normal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distribution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is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given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 spc="-25">
                <a:latin typeface="Calibri"/>
                <a:cs typeface="Calibri"/>
              </a:rPr>
              <a:t>as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97875" y="2547946"/>
            <a:ext cx="5133974" cy="16192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0900" y="4288071"/>
            <a:ext cx="790638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CDF: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provides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shortcut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calculating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many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probabilities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once.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integrate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pdf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function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get</a:t>
            </a:r>
            <a:r>
              <a:rPr sz="1400" spc="-25" dirty="0">
                <a:latin typeface="Calibri"/>
                <a:cs typeface="Calibri"/>
              </a:rPr>
              <a:t> the </a:t>
            </a:r>
            <a:r>
              <a:rPr sz="1400" spc="-10" dirty="0">
                <a:latin typeface="Calibri"/>
                <a:cs typeface="Calibri"/>
              </a:rPr>
              <a:t>cumulative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probability.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57</a:t>
            </a:fld>
            <a:endParaRPr spc="-25"/>
          </a:p>
        </p:txBody>
      </p:sp>
      <p:sp>
        <p:nvSpPr>
          <p:cNvPr id="8" name="object 8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675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20">
                <a:moveTo>
                  <a:pt x="9143999" y="45718"/>
                </a:moveTo>
                <a:lnTo>
                  <a:pt x="0" y="45718"/>
                </a:lnTo>
                <a:lnTo>
                  <a:pt x="0" y="0"/>
                </a:lnTo>
                <a:lnTo>
                  <a:pt x="9143999" y="0"/>
                </a:lnTo>
                <a:lnTo>
                  <a:pt x="9143999" y="45718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0225" y="90939"/>
            <a:ext cx="3699510" cy="276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>
                <a:solidFill>
                  <a:srgbClr val="538CD4"/>
                </a:solidFill>
                <a:latin typeface="Calibri"/>
                <a:cs typeface="Calibri"/>
              </a:rPr>
              <a:t>Measure</a:t>
            </a:r>
            <a:r>
              <a:rPr sz="3200" spc="-95">
                <a:solidFill>
                  <a:srgbClr val="538CD4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538CD4"/>
                </a:solidFill>
                <a:latin typeface="Calibri"/>
                <a:cs typeface="Calibri"/>
              </a:rPr>
              <a:t>of</a:t>
            </a:r>
            <a:r>
              <a:rPr sz="3200" spc="-90">
                <a:solidFill>
                  <a:srgbClr val="538CD4"/>
                </a:solidFill>
                <a:latin typeface="Calibri"/>
                <a:cs typeface="Calibri"/>
              </a:rPr>
              <a:t> </a:t>
            </a:r>
            <a:r>
              <a:rPr sz="3200" spc="-10">
                <a:solidFill>
                  <a:srgbClr val="538CD4"/>
                </a:solidFill>
                <a:latin typeface="Calibri"/>
                <a:cs typeface="Calibri"/>
              </a:rPr>
              <a:t>Distance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3200">
              <a:latin typeface="Calibri"/>
              <a:cs typeface="Calibri"/>
            </a:endParaRPr>
          </a:p>
          <a:p>
            <a:pPr marL="354330" indent="-2813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330" algn="l"/>
              </a:tabLst>
            </a:pPr>
            <a:r>
              <a:rPr sz="3200">
                <a:latin typeface="Calibri"/>
                <a:cs typeface="Calibri"/>
              </a:rPr>
              <a:t>Euclidean</a:t>
            </a:r>
            <a:r>
              <a:rPr sz="3200" spc="-175">
                <a:latin typeface="Calibri"/>
                <a:cs typeface="Calibri"/>
              </a:rPr>
              <a:t> </a:t>
            </a:r>
            <a:r>
              <a:rPr sz="3200" spc="-10">
                <a:latin typeface="Calibri"/>
                <a:cs typeface="Calibri"/>
              </a:rPr>
              <a:t>Distance</a:t>
            </a:r>
            <a:endParaRPr sz="3200">
              <a:latin typeface="Calibri"/>
              <a:cs typeface="Calibri"/>
            </a:endParaRPr>
          </a:p>
          <a:p>
            <a:pPr marL="354330" indent="-28130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54330" algn="l"/>
              </a:tabLst>
            </a:pPr>
            <a:r>
              <a:rPr sz="3200" spc="-20">
                <a:latin typeface="Calibri"/>
                <a:cs typeface="Calibri"/>
              </a:rPr>
              <a:t>Manhattan</a:t>
            </a:r>
            <a:r>
              <a:rPr sz="3200" spc="-105">
                <a:latin typeface="Calibri"/>
                <a:cs typeface="Calibri"/>
              </a:rPr>
              <a:t> </a:t>
            </a:r>
            <a:r>
              <a:rPr sz="3200" spc="-10">
                <a:latin typeface="Calibri"/>
                <a:cs typeface="Calibri"/>
              </a:rPr>
              <a:t>Distance</a:t>
            </a:r>
            <a:endParaRPr sz="3200">
              <a:latin typeface="Calibri"/>
              <a:cs typeface="Calibri"/>
            </a:endParaRPr>
          </a:p>
          <a:p>
            <a:pPr marL="354330" indent="-28130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54330" algn="l"/>
              </a:tabLst>
            </a:pPr>
            <a:r>
              <a:rPr sz="3200" spc="-10">
                <a:latin typeface="Calibri"/>
                <a:cs typeface="Calibri"/>
              </a:rPr>
              <a:t>Minkowski</a:t>
            </a:r>
            <a:r>
              <a:rPr sz="3200" spc="-150">
                <a:latin typeface="Calibri"/>
                <a:cs typeface="Calibri"/>
              </a:rPr>
              <a:t> </a:t>
            </a:r>
            <a:r>
              <a:rPr sz="3200" spc="-10">
                <a:latin typeface="Calibri"/>
                <a:cs typeface="Calibri"/>
              </a:rPr>
              <a:t>Distance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58</a:t>
            </a:fld>
            <a:endParaRPr spc="-25"/>
          </a:p>
        </p:txBody>
      </p:sp>
      <p:sp>
        <p:nvSpPr>
          <p:cNvPr id="7" name="object 7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1314450">
              <a:lnSpc>
                <a:spcPct val="100000"/>
              </a:lnSpc>
              <a:spcBef>
                <a:spcPts val="100"/>
              </a:spcBef>
            </a:pPr>
            <a:r>
              <a:rPr>
                <a:solidFill>
                  <a:srgbClr val="538CD4"/>
                </a:solidFill>
              </a:rPr>
              <a:t>Euclidean</a:t>
            </a:r>
            <a:r>
              <a:rPr spc="-175">
                <a:solidFill>
                  <a:srgbClr val="538CD4"/>
                </a:solidFill>
              </a:rPr>
              <a:t> </a:t>
            </a:r>
            <a:r>
              <a:rPr spc="-10">
                <a:solidFill>
                  <a:srgbClr val="538CD4"/>
                </a:solidFill>
              </a:rPr>
              <a:t>Distance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041858"/>
            <a:ext cx="9143999" cy="21948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/>
          <a:stretch>
            <a:fillRect/>
          </a:stretch>
        </p:blipFill>
        <p:spPr>
          <a:xfrm>
            <a:off x="802925" y="3399798"/>
            <a:ext cx="3605569" cy="4893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59</a:t>
            </a:fld>
            <a:endParaRPr spc="-25"/>
          </a:p>
        </p:txBody>
      </p:sp>
      <p:sp>
        <p:nvSpPr>
          <p:cNvPr id="7" name="object 7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1196975">
              <a:lnSpc>
                <a:spcPct val="100000"/>
              </a:lnSpc>
              <a:spcBef>
                <a:spcPts val="100"/>
              </a:spcBef>
            </a:pPr>
            <a:r>
              <a:rPr spc="-20">
                <a:solidFill>
                  <a:srgbClr val="538CD4"/>
                </a:solidFill>
              </a:rPr>
              <a:t>Manhattan</a:t>
            </a:r>
            <a:r>
              <a:rPr spc="-105">
                <a:solidFill>
                  <a:srgbClr val="538CD4"/>
                </a:solidFill>
              </a:rPr>
              <a:t> </a:t>
            </a:r>
            <a:r>
              <a:rPr spc="-10">
                <a:solidFill>
                  <a:srgbClr val="538CD4"/>
                </a:solidFill>
              </a:rPr>
              <a:t>Distance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053" y="1092428"/>
            <a:ext cx="9123946" cy="33944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60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1230630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538CD4"/>
                </a:solidFill>
              </a:rPr>
              <a:t>Minkowski</a:t>
            </a:r>
            <a:r>
              <a:rPr spc="-150">
                <a:solidFill>
                  <a:srgbClr val="538CD4"/>
                </a:solidFill>
              </a:rPr>
              <a:t> </a:t>
            </a:r>
            <a:r>
              <a:rPr spc="-10">
                <a:solidFill>
                  <a:srgbClr val="538CD4"/>
                </a:solidFill>
              </a:rPr>
              <a:t>Distance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023937"/>
            <a:ext cx="9143999" cy="3468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61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1394460">
              <a:lnSpc>
                <a:spcPct val="100000"/>
              </a:lnSpc>
              <a:spcBef>
                <a:spcPts val="100"/>
              </a:spcBef>
            </a:pPr>
            <a:r>
              <a:rPr>
                <a:solidFill>
                  <a:srgbClr val="000000"/>
                </a:solidFill>
              </a:rPr>
              <a:t>Use</a:t>
            </a:r>
            <a:r>
              <a:rPr spc="-60"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of</a:t>
            </a:r>
            <a:r>
              <a:rPr spc="-55">
                <a:solidFill>
                  <a:srgbClr val="000000"/>
                </a:solidFill>
              </a:rPr>
              <a:t> </a:t>
            </a:r>
            <a:r>
              <a:rPr spc="-10">
                <a:solidFill>
                  <a:srgbClr val="000000"/>
                </a:solidFill>
              </a:rPr>
              <a:t>Distance</a:t>
            </a:r>
            <a:r>
              <a:rPr spc="-60">
                <a:solidFill>
                  <a:srgbClr val="000000"/>
                </a:solidFill>
              </a:rPr>
              <a:t> </a:t>
            </a:r>
            <a:r>
              <a:rPr spc="-10">
                <a:solidFill>
                  <a:srgbClr val="000000"/>
                </a:solidFill>
              </a:rPr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4525" y="1216407"/>
            <a:ext cx="550862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latin typeface="Calibri"/>
                <a:cs typeface="Calibri"/>
              </a:rPr>
              <a:t>Statistical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distances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are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used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for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several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important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reasons: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800">
              <a:latin typeface="Calibri"/>
              <a:cs typeface="Calibri"/>
            </a:endParaRPr>
          </a:p>
          <a:p>
            <a:pPr marL="354965" indent="-308610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800">
                <a:latin typeface="Calibri"/>
                <a:cs typeface="Calibri"/>
              </a:rPr>
              <a:t>Outlier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Detection</a:t>
            </a:r>
            <a:endParaRPr sz="1800">
              <a:latin typeface="Calibri"/>
              <a:cs typeface="Calibri"/>
            </a:endParaRPr>
          </a:p>
          <a:p>
            <a:pPr marL="354965" indent="-30861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spc="-10">
                <a:latin typeface="Calibri"/>
                <a:cs typeface="Calibri"/>
              </a:rPr>
              <a:t>Clustering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  <a:p>
            <a:pPr marL="354965" indent="-30861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spc="-10">
                <a:latin typeface="Calibri"/>
                <a:cs typeface="Calibri"/>
              </a:rPr>
              <a:t>Feature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Selection</a:t>
            </a:r>
            <a:endParaRPr sz="1800">
              <a:latin typeface="Calibri"/>
              <a:cs typeface="Calibri"/>
            </a:endParaRPr>
          </a:p>
          <a:p>
            <a:pPr marL="354965" indent="-30861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>
                <a:latin typeface="Calibri"/>
                <a:cs typeface="Calibri"/>
              </a:rPr>
              <a:t>Data</a:t>
            </a:r>
            <a:r>
              <a:rPr sz="1800" spc="-8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Cleaning</a:t>
            </a:r>
            <a:endParaRPr sz="1800">
              <a:latin typeface="Calibri"/>
              <a:cs typeface="Calibri"/>
            </a:endParaRPr>
          </a:p>
          <a:p>
            <a:pPr marL="354965" indent="-30861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spc="-10">
                <a:latin typeface="Calibri"/>
                <a:cs typeface="Calibri"/>
              </a:rPr>
              <a:t>Dimensionality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Reduction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62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0225" y="147849"/>
            <a:ext cx="152082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">
                <a:solidFill>
                  <a:srgbClr val="538CD4"/>
                </a:solidFill>
                <a:latin typeface="Cambria"/>
                <a:cs typeface="Cambria"/>
              </a:rPr>
              <a:t>Covariance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3902" y="809273"/>
            <a:ext cx="7992109" cy="1072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20" marR="5080" indent="-299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12420" algn="l"/>
              </a:tabLst>
            </a:pPr>
            <a:r>
              <a:rPr sz="1600">
                <a:latin typeface="Calibri"/>
                <a:cs typeface="Calibri"/>
              </a:rPr>
              <a:t>It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is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relationship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between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pair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random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variables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where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change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in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one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variable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causes </a:t>
            </a:r>
            <a:r>
              <a:rPr sz="1600">
                <a:latin typeface="Calibri"/>
                <a:cs typeface="Calibri"/>
              </a:rPr>
              <a:t>change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in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another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variable.</a:t>
            </a:r>
            <a:endParaRPr sz="1600">
              <a:latin typeface="Calibri"/>
              <a:cs typeface="Calibri"/>
            </a:endParaRPr>
          </a:p>
          <a:p>
            <a:pPr marL="311785" indent="-299085">
              <a:lnSpc>
                <a:spcPts val="2150"/>
              </a:lnSpc>
              <a:buFont typeface="Arial MT"/>
              <a:buChar char="•"/>
              <a:tabLst>
                <a:tab pos="311785" algn="l"/>
              </a:tabLst>
            </a:pPr>
            <a:r>
              <a:rPr sz="1600">
                <a:latin typeface="Calibri"/>
                <a:cs typeface="Calibri"/>
              </a:rPr>
              <a:t>It</a:t>
            </a:r>
            <a:r>
              <a:rPr sz="1600" spc="-8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can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take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any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value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between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800" spc="-45">
                <a:solidFill>
                  <a:srgbClr val="212121"/>
                </a:solidFill>
                <a:latin typeface="Arial MT"/>
                <a:cs typeface="Arial MT"/>
              </a:rPr>
              <a:t>-</a:t>
            </a:r>
            <a:r>
              <a:rPr sz="1800" spc="-80">
                <a:solidFill>
                  <a:srgbClr val="212121"/>
                </a:solidFill>
                <a:latin typeface="Arial MT"/>
                <a:cs typeface="Arial MT"/>
              </a:rPr>
              <a:t>∞</a:t>
            </a:r>
            <a:r>
              <a:rPr sz="1800" spc="-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to </a:t>
            </a:r>
            <a:r>
              <a:rPr sz="1800">
                <a:solidFill>
                  <a:srgbClr val="212121"/>
                </a:solidFill>
                <a:latin typeface="Arial MT"/>
                <a:cs typeface="Arial MT"/>
              </a:rPr>
              <a:t>+∞</a:t>
            </a:r>
            <a:r>
              <a:rPr sz="1600">
                <a:latin typeface="Calibri"/>
                <a:cs typeface="Calibri"/>
              </a:rPr>
              <a:t>,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where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negative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value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represents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negative</a:t>
            </a:r>
            <a:endParaRPr sz="1600">
              <a:latin typeface="Calibri"/>
              <a:cs typeface="Calibri"/>
            </a:endParaRPr>
          </a:p>
          <a:p>
            <a:pPr marL="312420">
              <a:lnSpc>
                <a:spcPct val="100000"/>
              </a:lnSpc>
              <a:spcBef>
                <a:spcPts val="330"/>
              </a:spcBef>
            </a:pPr>
            <a:r>
              <a:rPr sz="1600">
                <a:latin typeface="Calibri"/>
                <a:cs typeface="Calibri"/>
              </a:rPr>
              <a:t>relationship</a:t>
            </a:r>
            <a:r>
              <a:rPr sz="1600" spc="-6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whereas</a:t>
            </a:r>
            <a:r>
              <a:rPr sz="1600" spc="-6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5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positive</a:t>
            </a:r>
            <a:r>
              <a:rPr sz="1600" spc="-6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value</a:t>
            </a:r>
            <a:r>
              <a:rPr sz="1600" spc="-5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represents</a:t>
            </a:r>
            <a:r>
              <a:rPr sz="1600" spc="-6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6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positive</a:t>
            </a:r>
            <a:r>
              <a:rPr sz="1600" spc="-5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relationship.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43500" y="1995651"/>
            <a:ext cx="3576436" cy="22944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4655437" y="1995651"/>
            <a:ext cx="4198766" cy="22226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63</a:t>
            </a:fld>
            <a:endParaRPr spc="-25"/>
          </a:p>
        </p:txBody>
      </p:sp>
      <p:sp>
        <p:nvSpPr>
          <p:cNvPr id="8" name="object 8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77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z="2500" spc="-10">
                <a:solidFill>
                  <a:srgbClr val="538CD4"/>
                </a:solidFill>
                <a:latin typeface="Cambria"/>
                <a:cs typeface="Cambria"/>
              </a:rPr>
              <a:t>Correlation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0563" y="845847"/>
            <a:ext cx="8103234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100"/>
              </a:spcBef>
              <a:buSzPct val="118750"/>
              <a:buFont typeface="Arial MT"/>
              <a:buChar char="•"/>
              <a:tabLst>
                <a:tab pos="325120" algn="l"/>
              </a:tabLst>
            </a:pPr>
            <a:r>
              <a:rPr sz="1600">
                <a:latin typeface="Calibri"/>
                <a:cs typeface="Calibri"/>
              </a:rPr>
              <a:t>It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is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scaled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version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Covariance.</a:t>
            </a:r>
            <a:endParaRPr sz="1600">
              <a:latin typeface="Calibri"/>
              <a:cs typeface="Calibri"/>
            </a:endParaRPr>
          </a:p>
          <a:p>
            <a:pPr marL="325755" marR="5080" indent="-313055">
              <a:lnSpc>
                <a:spcPct val="118300"/>
              </a:lnSpc>
              <a:spcBef>
                <a:spcPts val="1350"/>
              </a:spcBef>
              <a:buClr>
                <a:srgbClr val="000000"/>
              </a:buClr>
              <a:buSzPct val="118750"/>
              <a:buFont typeface="Arial MT"/>
              <a:buChar char="•"/>
              <a:tabLst>
                <a:tab pos="325755" algn="l"/>
              </a:tabLst>
            </a:pPr>
            <a:r>
              <a:rPr sz="1600" spc="-10">
                <a:solidFill>
                  <a:srgbClr val="212121"/>
                </a:solidFill>
                <a:latin typeface="Calibri"/>
                <a:cs typeface="Calibri"/>
              </a:rPr>
              <a:t>Correlation</a:t>
            </a:r>
            <a:r>
              <a:rPr sz="16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is</a:t>
            </a:r>
            <a:r>
              <a:rPr sz="16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sz="16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step</a:t>
            </a:r>
            <a:r>
              <a:rPr sz="16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ahead</a:t>
            </a:r>
            <a:r>
              <a:rPr sz="16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sz="16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212121"/>
                </a:solidFill>
                <a:latin typeface="Calibri"/>
                <a:cs typeface="Calibri"/>
              </a:rPr>
              <a:t>covariance</a:t>
            </a:r>
            <a:r>
              <a:rPr sz="16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as</a:t>
            </a:r>
            <a:r>
              <a:rPr sz="16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it</a:t>
            </a:r>
            <a:r>
              <a:rPr sz="16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quantifies</a:t>
            </a:r>
            <a:r>
              <a:rPr sz="16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16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relationship</a:t>
            </a:r>
            <a:r>
              <a:rPr sz="16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212121"/>
                </a:solidFill>
                <a:latin typeface="Calibri"/>
                <a:cs typeface="Calibri"/>
              </a:rPr>
              <a:t>between</a:t>
            </a:r>
            <a:r>
              <a:rPr sz="16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two </a:t>
            </a:r>
            <a:r>
              <a:rPr sz="1600" spc="-10">
                <a:solidFill>
                  <a:srgbClr val="212121"/>
                </a:solidFill>
                <a:latin typeface="Calibri"/>
                <a:cs typeface="Calibri"/>
              </a:rPr>
              <a:t>random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variables.</a:t>
            </a:r>
            <a:r>
              <a:rPr sz="16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In</a:t>
            </a:r>
            <a:r>
              <a:rPr sz="16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simple</a:t>
            </a:r>
            <a:r>
              <a:rPr sz="16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terms,</a:t>
            </a:r>
            <a:r>
              <a:rPr sz="16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it</a:t>
            </a:r>
            <a:r>
              <a:rPr sz="16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is</a:t>
            </a:r>
            <a:r>
              <a:rPr sz="16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sz="16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unit</a:t>
            </a:r>
            <a:r>
              <a:rPr sz="16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measure</a:t>
            </a:r>
            <a:r>
              <a:rPr sz="16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sz="16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how</a:t>
            </a:r>
            <a:r>
              <a:rPr sz="16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these</a:t>
            </a:r>
            <a:r>
              <a:rPr sz="16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variables</a:t>
            </a:r>
            <a:r>
              <a:rPr sz="16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change</a:t>
            </a:r>
            <a:r>
              <a:rPr sz="16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concerning</a:t>
            </a:r>
            <a:r>
              <a:rPr sz="16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212121"/>
                </a:solidFill>
                <a:latin typeface="Calibri"/>
                <a:cs typeface="Calibri"/>
              </a:rPr>
              <a:t>each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other</a:t>
            </a:r>
            <a:r>
              <a:rPr sz="16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212121"/>
                </a:solidFill>
                <a:latin typeface="Calibri"/>
                <a:cs typeface="Calibri"/>
              </a:rPr>
              <a:t>(normalized</a:t>
            </a:r>
            <a:r>
              <a:rPr sz="16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212121"/>
                </a:solidFill>
                <a:latin typeface="Calibri"/>
                <a:cs typeface="Calibri"/>
              </a:rPr>
              <a:t>covariance</a:t>
            </a:r>
            <a:r>
              <a:rPr sz="16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212121"/>
                </a:solidFill>
                <a:latin typeface="Calibri"/>
                <a:cs typeface="Calibri"/>
              </a:rPr>
              <a:t>value).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8625" y="2378388"/>
            <a:ext cx="4657724" cy="21907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4962525" y="2032396"/>
            <a:ext cx="4016581" cy="24485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64</a:t>
            </a:fld>
            <a:endParaRPr spc="-25"/>
          </a:p>
        </p:txBody>
      </p:sp>
      <p:sp>
        <p:nvSpPr>
          <p:cNvPr id="8" name="object 8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4525" y="1209295"/>
            <a:ext cx="724535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>
                <a:solidFill>
                  <a:srgbClr val="000000"/>
                </a:solidFill>
              </a:rPr>
              <a:t>Based</a:t>
            </a:r>
            <a:r>
              <a:rPr spc="-85"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on</a:t>
            </a:r>
            <a:r>
              <a:rPr spc="-80"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the</a:t>
            </a:r>
            <a:r>
              <a:rPr spc="-80">
                <a:solidFill>
                  <a:srgbClr val="000000"/>
                </a:solidFill>
              </a:rPr>
              <a:t> </a:t>
            </a:r>
            <a:r>
              <a:rPr spc="-10">
                <a:solidFill>
                  <a:srgbClr val="000000"/>
                </a:solidFill>
              </a:rPr>
              <a:t>correlation</a:t>
            </a:r>
            <a:r>
              <a:rPr spc="-80">
                <a:solidFill>
                  <a:srgbClr val="000000"/>
                </a:solidFill>
              </a:rPr>
              <a:t> </a:t>
            </a:r>
            <a:r>
              <a:rPr spc="-10">
                <a:solidFill>
                  <a:srgbClr val="000000"/>
                </a:solidFill>
              </a:rPr>
              <a:t>coefficient,</a:t>
            </a:r>
            <a:r>
              <a:rPr spc="-80"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we</a:t>
            </a:r>
            <a:r>
              <a:rPr spc="-85">
                <a:solidFill>
                  <a:srgbClr val="000000"/>
                </a:solidFill>
              </a:rPr>
              <a:t> </a:t>
            </a:r>
            <a:r>
              <a:rPr spc="-25">
                <a:solidFill>
                  <a:srgbClr val="000000"/>
                </a:solidFill>
              </a:rPr>
              <a:t>can </a:t>
            </a:r>
            <a:r>
              <a:rPr>
                <a:solidFill>
                  <a:srgbClr val="000000"/>
                </a:solidFill>
              </a:rPr>
              <a:t>select</a:t>
            </a:r>
            <a:r>
              <a:rPr spc="-80"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the</a:t>
            </a:r>
            <a:r>
              <a:rPr spc="-85">
                <a:solidFill>
                  <a:srgbClr val="000000"/>
                </a:solidFill>
              </a:rPr>
              <a:t> </a:t>
            </a:r>
            <a:r>
              <a:rPr spc="-10">
                <a:solidFill>
                  <a:srgbClr val="000000"/>
                </a:solidFill>
              </a:rPr>
              <a:t>important</a:t>
            </a:r>
            <a:r>
              <a:rPr spc="-80">
                <a:solidFill>
                  <a:srgbClr val="000000"/>
                </a:solidFill>
              </a:rPr>
              <a:t> </a:t>
            </a:r>
            <a:r>
              <a:rPr spc="-10">
                <a:solidFill>
                  <a:srgbClr val="000000"/>
                </a:solidFill>
              </a:rPr>
              <a:t>features: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8792" y="2236471"/>
            <a:ext cx="7691120" cy="129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310" marR="5080" indent="-309245">
              <a:lnSpc>
                <a:spcPct val="100000"/>
              </a:lnSpc>
              <a:spcBef>
                <a:spcPts val="100"/>
              </a:spcBef>
              <a:buSzPct val="90000"/>
              <a:buFont typeface="Arial MT"/>
              <a:buChar char="•"/>
              <a:tabLst>
                <a:tab pos="321310" algn="l"/>
              </a:tabLst>
            </a:pPr>
            <a:r>
              <a:rPr sz="2000">
                <a:latin typeface="Calibri"/>
                <a:cs typeface="Calibri"/>
              </a:rPr>
              <a:t>If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independent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feature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not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correlated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with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target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variable,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25">
                <a:latin typeface="Calibri"/>
                <a:cs typeface="Calibri"/>
              </a:rPr>
              <a:t>we </a:t>
            </a:r>
            <a:r>
              <a:rPr sz="2000">
                <a:latin typeface="Calibri"/>
                <a:cs typeface="Calibri"/>
              </a:rPr>
              <a:t>could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remove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that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feature.</a:t>
            </a:r>
            <a:endParaRPr sz="2000">
              <a:latin typeface="Calibri"/>
              <a:cs typeface="Calibri"/>
            </a:endParaRPr>
          </a:p>
          <a:p>
            <a:pPr marL="321310" marR="105410" indent="-309245">
              <a:lnSpc>
                <a:spcPct val="100000"/>
              </a:lnSpc>
              <a:spcBef>
                <a:spcPts val="359"/>
              </a:spcBef>
              <a:buSzPct val="90000"/>
              <a:buFont typeface="Arial MT"/>
              <a:buChar char="•"/>
              <a:tabLst>
                <a:tab pos="321310" algn="l"/>
              </a:tabLst>
            </a:pPr>
            <a:r>
              <a:rPr sz="2000">
                <a:latin typeface="Calibri"/>
                <a:cs typeface="Calibri"/>
              </a:rPr>
              <a:t>Or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if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two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independent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features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are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highly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correlated,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we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could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remove </a:t>
            </a:r>
            <a:r>
              <a:rPr sz="2000">
                <a:latin typeface="Calibri"/>
                <a:cs typeface="Calibri"/>
              </a:rPr>
              <a:t>any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one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feature.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65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88705"/>
            <a:ext cx="9144000" cy="255270"/>
          </a:xfrm>
          <a:custGeom>
            <a:avLst/>
            <a:gdLst/>
            <a:ahLst/>
            <a:cxnLst/>
            <a:rect l="l" t="t" r="r" b="b"/>
            <a:pathLst>
              <a:path w="9144000" h="255270">
                <a:moveTo>
                  <a:pt x="9143999" y="254794"/>
                </a:moveTo>
                <a:lnTo>
                  <a:pt x="0" y="254794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4794"/>
                </a:lnTo>
                <a:close/>
              </a:path>
            </a:pathLst>
          </a:custGeom>
          <a:solidFill>
            <a:srgbClr val="538C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7698" y="4912598"/>
            <a:ext cx="3429635" cy="16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/>
          <a:stretch>
            <a:fillRect/>
          </a:stretch>
        </p:blipFill>
        <p:spPr>
          <a:xfrm>
            <a:off x="347920" y="1110615"/>
            <a:ext cx="3411869" cy="305714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25022" y="1081294"/>
            <a:ext cx="3983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>
                <a:solidFill>
                  <a:srgbClr val="000000"/>
                </a:solidFill>
                <a:latin typeface="Calibri"/>
                <a:cs typeface="Calibri"/>
              </a:rPr>
              <a:t>Hypothesis</a:t>
            </a:r>
            <a:r>
              <a:rPr sz="3600" b="1" spc="-13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1" spc="-50">
                <a:solidFill>
                  <a:srgbClr val="000000"/>
                </a:solidFill>
                <a:latin typeface="Calibri"/>
                <a:cs typeface="Calibri"/>
              </a:rPr>
              <a:t>Testing</a:t>
            </a:r>
            <a:r>
              <a:rPr sz="3600" b="1" spc="-12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1" spc="-50">
                <a:solidFill>
                  <a:srgbClr val="000000"/>
                </a:solidFill>
                <a:latin typeface="Calibri"/>
                <a:cs typeface="Calibri"/>
              </a:rPr>
              <a:t>&amp;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47727" y="1441481"/>
            <a:ext cx="4740275" cy="1352550"/>
          </a:xfrm>
          <a:prstGeom prst="rect">
            <a:avLst/>
          </a:prstGeom>
        </p:spPr>
        <p:txBody>
          <a:bodyPr vert="horz" wrap="square" lIns="0" tIns="2051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14"/>
              </a:spcBef>
            </a:pPr>
            <a:r>
              <a:rPr sz="2800">
                <a:latin typeface="Calibri"/>
                <a:cs typeface="Calibri"/>
              </a:rPr>
              <a:t>Other</a:t>
            </a:r>
            <a:r>
              <a:rPr sz="2800" spc="-65">
                <a:latin typeface="Calibri"/>
                <a:cs typeface="Calibri"/>
              </a:rPr>
              <a:t> </a:t>
            </a:r>
            <a:r>
              <a:rPr sz="2800" spc="-10">
                <a:latin typeface="Calibri"/>
                <a:cs typeface="Calibri"/>
              </a:rPr>
              <a:t>computational</a:t>
            </a:r>
            <a:r>
              <a:rPr sz="2800" spc="-65">
                <a:latin typeface="Calibri"/>
                <a:cs typeface="Calibri"/>
              </a:rPr>
              <a:t> </a:t>
            </a:r>
            <a:r>
              <a:rPr sz="2800" spc="-10">
                <a:latin typeface="Calibri"/>
                <a:cs typeface="Calibri"/>
              </a:rPr>
              <a:t>Techniques</a:t>
            </a:r>
            <a:endParaRPr sz="2800">
              <a:latin typeface="Calibri"/>
              <a:cs typeface="Calibri"/>
            </a:endParaRPr>
          </a:p>
          <a:p>
            <a:pPr marL="307975" algn="ctr">
              <a:lnSpc>
                <a:spcPct val="100000"/>
              </a:lnSpc>
              <a:spcBef>
                <a:spcPts val="1730"/>
              </a:spcBef>
            </a:pPr>
            <a:r>
              <a:rPr sz="3200">
                <a:solidFill>
                  <a:srgbClr val="888888"/>
                </a:solidFill>
                <a:latin typeface="Calibri"/>
                <a:cs typeface="Calibri"/>
              </a:rPr>
              <a:t>Module</a:t>
            </a:r>
            <a:r>
              <a:rPr sz="3200" spc="-7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3200" spc="-7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5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64489" y="4659868"/>
            <a:ext cx="154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4665" y="4887944"/>
            <a:ext cx="17049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225" y="89837"/>
            <a:ext cx="280924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0">
                <a:solidFill>
                  <a:srgbClr val="538CD4"/>
                </a:solidFill>
              </a:rPr>
              <a:t>Hypothesis</a:t>
            </a:r>
            <a:r>
              <a:rPr sz="2900" spc="-85">
                <a:solidFill>
                  <a:srgbClr val="538CD4"/>
                </a:solidFill>
              </a:rPr>
              <a:t> </a:t>
            </a:r>
            <a:r>
              <a:rPr sz="2900" spc="-10">
                <a:solidFill>
                  <a:srgbClr val="538CD4"/>
                </a:solidFill>
              </a:rPr>
              <a:t>Testing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259900" y="797052"/>
            <a:ext cx="8360409" cy="2663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33350" indent="-304165">
              <a:lnSpc>
                <a:spcPct val="114999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1700" spc="-10">
                <a:latin typeface="Calibri"/>
                <a:cs typeface="Calibri"/>
              </a:rPr>
              <a:t>Hypothesis</a:t>
            </a:r>
            <a:r>
              <a:rPr sz="1700" spc="-3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is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a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 spc="-20">
                <a:latin typeface="Calibri"/>
                <a:cs typeface="Calibri"/>
              </a:rPr>
              <a:t>statement,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assumption</a:t>
            </a:r>
            <a:r>
              <a:rPr sz="1700" spc="-3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or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claim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about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the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value</a:t>
            </a:r>
            <a:r>
              <a:rPr sz="1700" spc="-3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of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the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 spc="-10">
                <a:latin typeface="Calibri"/>
                <a:cs typeface="Calibri"/>
              </a:rPr>
              <a:t>parameter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 spc="-10">
                <a:latin typeface="Calibri"/>
                <a:cs typeface="Calibri"/>
              </a:rPr>
              <a:t>(mean, </a:t>
            </a:r>
            <a:r>
              <a:rPr sz="1700">
                <a:latin typeface="Calibri"/>
                <a:cs typeface="Calibri"/>
              </a:rPr>
              <a:t>variance,</a:t>
            </a:r>
            <a:r>
              <a:rPr sz="1700" spc="-5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median</a:t>
            </a:r>
            <a:r>
              <a:rPr sz="1700" spc="-45">
                <a:latin typeface="Calibri"/>
                <a:cs typeface="Calibri"/>
              </a:rPr>
              <a:t> </a:t>
            </a:r>
            <a:r>
              <a:rPr sz="1700" spc="-10">
                <a:latin typeface="Calibri"/>
                <a:cs typeface="Calibri"/>
              </a:rPr>
              <a:t>etc.).</a:t>
            </a:r>
            <a:endParaRPr sz="1700">
              <a:latin typeface="Calibri"/>
              <a:cs typeface="Calibri"/>
            </a:endParaRPr>
          </a:p>
          <a:p>
            <a:pPr marL="469900" marR="81280" indent="-304165">
              <a:lnSpc>
                <a:spcPct val="114999"/>
              </a:lnSpc>
              <a:buFont typeface="Arial MT"/>
              <a:buChar char="•"/>
              <a:tabLst>
                <a:tab pos="469900" algn="l"/>
              </a:tabLst>
            </a:pPr>
            <a:r>
              <a:rPr sz="1700">
                <a:latin typeface="Calibri"/>
                <a:cs typeface="Calibri"/>
              </a:rPr>
              <a:t>A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hypothesis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is</a:t>
            </a:r>
            <a:r>
              <a:rPr sz="1700" spc="-3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an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educated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guess</a:t>
            </a:r>
            <a:r>
              <a:rPr sz="1700" spc="-3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about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something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in</a:t>
            </a:r>
            <a:r>
              <a:rPr sz="1700" spc="-3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the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world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around</a:t>
            </a:r>
            <a:r>
              <a:rPr sz="1700" spc="-3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you.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It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should</a:t>
            </a:r>
            <a:r>
              <a:rPr sz="1700" spc="-35">
                <a:latin typeface="Calibri"/>
                <a:cs typeface="Calibri"/>
              </a:rPr>
              <a:t> </a:t>
            </a:r>
            <a:r>
              <a:rPr sz="1700" spc="-25">
                <a:latin typeface="Calibri"/>
                <a:cs typeface="Calibri"/>
              </a:rPr>
              <a:t>be </a:t>
            </a:r>
            <a:r>
              <a:rPr sz="1700" spc="-10">
                <a:latin typeface="Calibri"/>
                <a:cs typeface="Calibri"/>
              </a:rPr>
              <a:t>testable,</a:t>
            </a:r>
            <a:r>
              <a:rPr sz="1700" spc="-2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either</a:t>
            </a:r>
            <a:r>
              <a:rPr sz="1700" spc="-2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by</a:t>
            </a:r>
            <a:r>
              <a:rPr sz="1700" spc="-20">
                <a:latin typeface="Calibri"/>
                <a:cs typeface="Calibri"/>
              </a:rPr>
              <a:t> </a:t>
            </a:r>
            <a:r>
              <a:rPr sz="1700" spc="-10">
                <a:latin typeface="Calibri"/>
                <a:cs typeface="Calibri"/>
              </a:rPr>
              <a:t>experiment</a:t>
            </a:r>
            <a:r>
              <a:rPr sz="1700" spc="-2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or</a:t>
            </a:r>
            <a:r>
              <a:rPr sz="1700" spc="-20">
                <a:latin typeface="Calibri"/>
                <a:cs typeface="Calibri"/>
              </a:rPr>
              <a:t> </a:t>
            </a:r>
            <a:r>
              <a:rPr sz="1700" spc="-10">
                <a:latin typeface="Calibri"/>
                <a:cs typeface="Calibri"/>
              </a:rPr>
              <a:t>observation.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700">
              <a:latin typeface="Calibri"/>
              <a:cs typeface="Calibri"/>
            </a:endParaRPr>
          </a:p>
          <a:p>
            <a:pPr marL="12700" marR="5080">
              <a:lnSpc>
                <a:spcPct val="114999"/>
              </a:lnSpc>
            </a:pPr>
            <a:r>
              <a:rPr sz="1700" spc="-10">
                <a:latin typeface="Calibri"/>
                <a:cs typeface="Calibri"/>
              </a:rPr>
              <a:t>Ex:-</a:t>
            </a:r>
            <a:r>
              <a:rPr sz="1700">
                <a:latin typeface="Calibri"/>
                <a:cs typeface="Calibri"/>
              </a:rPr>
              <a:t>if</a:t>
            </a:r>
            <a:r>
              <a:rPr sz="1700" spc="-2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we</a:t>
            </a:r>
            <a:r>
              <a:rPr sz="1700" spc="-25">
                <a:latin typeface="Calibri"/>
                <a:cs typeface="Calibri"/>
              </a:rPr>
              <a:t> </a:t>
            </a:r>
            <a:r>
              <a:rPr sz="1700" spc="-10">
                <a:latin typeface="Calibri"/>
                <a:cs typeface="Calibri"/>
              </a:rPr>
              <a:t>make</a:t>
            </a:r>
            <a:r>
              <a:rPr sz="1700" spc="-2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a</a:t>
            </a:r>
            <a:r>
              <a:rPr sz="1700" spc="-25">
                <a:latin typeface="Calibri"/>
                <a:cs typeface="Calibri"/>
              </a:rPr>
              <a:t> </a:t>
            </a:r>
            <a:r>
              <a:rPr sz="1700" spc="-20">
                <a:latin typeface="Calibri"/>
                <a:cs typeface="Calibri"/>
              </a:rPr>
              <a:t>statement</a:t>
            </a:r>
            <a:r>
              <a:rPr sz="1700" spc="-2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that</a:t>
            </a:r>
            <a:r>
              <a:rPr sz="1700" spc="-2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“Dhoni</a:t>
            </a:r>
            <a:r>
              <a:rPr sz="1700" spc="-2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is</a:t>
            </a:r>
            <a:r>
              <a:rPr sz="1700" spc="-2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the</a:t>
            </a:r>
            <a:r>
              <a:rPr sz="1700" spc="-2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best</a:t>
            </a:r>
            <a:r>
              <a:rPr sz="1700" spc="-2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Indian</a:t>
            </a:r>
            <a:r>
              <a:rPr sz="1700" spc="-2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Captain</a:t>
            </a:r>
            <a:r>
              <a:rPr sz="1700" spc="-25">
                <a:latin typeface="Calibri"/>
                <a:cs typeface="Calibri"/>
              </a:rPr>
              <a:t> </a:t>
            </a:r>
            <a:r>
              <a:rPr sz="1700" spc="-60">
                <a:latin typeface="Calibri"/>
                <a:cs typeface="Calibri"/>
              </a:rPr>
              <a:t>ever.”</a:t>
            </a:r>
            <a:r>
              <a:rPr sz="1700" spc="-2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This</a:t>
            </a:r>
            <a:r>
              <a:rPr sz="1700" spc="-2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is</a:t>
            </a:r>
            <a:r>
              <a:rPr sz="1700" spc="-2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an</a:t>
            </a:r>
            <a:r>
              <a:rPr sz="1700" spc="-25">
                <a:latin typeface="Calibri"/>
                <a:cs typeface="Calibri"/>
              </a:rPr>
              <a:t> </a:t>
            </a:r>
            <a:r>
              <a:rPr sz="1700" spc="-10">
                <a:latin typeface="Calibri"/>
                <a:cs typeface="Calibri"/>
              </a:rPr>
              <a:t>assumption </a:t>
            </a:r>
            <a:r>
              <a:rPr sz="1700">
                <a:latin typeface="Calibri"/>
                <a:cs typeface="Calibri"/>
              </a:rPr>
              <a:t>that</a:t>
            </a:r>
            <a:r>
              <a:rPr sz="1700" spc="-4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we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are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making</a:t>
            </a:r>
            <a:r>
              <a:rPr sz="1700" spc="-4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based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on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the</a:t>
            </a:r>
            <a:r>
              <a:rPr sz="1700" spc="-45">
                <a:latin typeface="Calibri"/>
                <a:cs typeface="Calibri"/>
              </a:rPr>
              <a:t> </a:t>
            </a:r>
            <a:r>
              <a:rPr sz="1700" spc="-10">
                <a:latin typeface="Calibri"/>
                <a:cs typeface="Calibri"/>
              </a:rPr>
              <a:t>average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wins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and</a:t>
            </a:r>
            <a:r>
              <a:rPr sz="1700" spc="-4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loses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team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had</a:t>
            </a:r>
            <a:r>
              <a:rPr sz="1700" spc="-4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under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his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captaincy.</a:t>
            </a:r>
            <a:r>
              <a:rPr sz="1700" spc="305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We</a:t>
            </a:r>
            <a:r>
              <a:rPr sz="1700" spc="-40">
                <a:latin typeface="Calibri"/>
                <a:cs typeface="Calibri"/>
              </a:rPr>
              <a:t> </a:t>
            </a:r>
            <a:r>
              <a:rPr sz="1700" spc="-25">
                <a:latin typeface="Calibri"/>
                <a:cs typeface="Calibri"/>
              </a:rPr>
              <a:t>can </a:t>
            </a:r>
            <a:r>
              <a:rPr sz="1700">
                <a:latin typeface="Calibri"/>
                <a:cs typeface="Calibri"/>
              </a:rPr>
              <a:t>test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this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 spc="-20">
                <a:latin typeface="Calibri"/>
                <a:cs typeface="Calibri"/>
              </a:rPr>
              <a:t>statement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based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on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all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>
                <a:latin typeface="Calibri"/>
                <a:cs typeface="Calibri"/>
              </a:rPr>
              <a:t>the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 spc="-10">
                <a:latin typeface="Calibri"/>
                <a:cs typeface="Calibri"/>
              </a:rPr>
              <a:t>match</a:t>
            </a:r>
            <a:r>
              <a:rPr sz="1700" spc="-30">
                <a:latin typeface="Calibri"/>
                <a:cs typeface="Calibri"/>
              </a:rPr>
              <a:t> </a:t>
            </a:r>
            <a:r>
              <a:rPr sz="1700" spc="-10">
                <a:latin typeface="Calibri"/>
                <a:cs typeface="Calibri"/>
              </a:rPr>
              <a:t>data.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67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761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z="2900">
                <a:solidFill>
                  <a:srgbClr val="538CD4"/>
                </a:solidFill>
              </a:rPr>
              <a:t>Comparing</a:t>
            </a:r>
            <a:r>
              <a:rPr sz="2900" spc="-75">
                <a:solidFill>
                  <a:srgbClr val="538CD4"/>
                </a:solidFill>
              </a:rPr>
              <a:t> </a:t>
            </a:r>
            <a:r>
              <a:rPr sz="2900">
                <a:solidFill>
                  <a:srgbClr val="538CD4"/>
                </a:solidFill>
              </a:rPr>
              <a:t>and</a:t>
            </a:r>
            <a:r>
              <a:rPr sz="2900" spc="-70">
                <a:solidFill>
                  <a:srgbClr val="538CD4"/>
                </a:solidFill>
              </a:rPr>
              <a:t> </a:t>
            </a:r>
            <a:r>
              <a:rPr sz="2900">
                <a:solidFill>
                  <a:srgbClr val="538CD4"/>
                </a:solidFill>
              </a:rPr>
              <a:t>Analyzing</a:t>
            </a:r>
            <a:r>
              <a:rPr sz="2900" spc="-80">
                <a:solidFill>
                  <a:srgbClr val="538CD4"/>
                </a:solidFill>
              </a:rPr>
              <a:t> </a:t>
            </a:r>
            <a:r>
              <a:rPr sz="2900" spc="-10">
                <a:solidFill>
                  <a:srgbClr val="538CD4"/>
                </a:solidFill>
              </a:rPr>
              <a:t>Relationships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395128" y="785875"/>
            <a:ext cx="8191500" cy="1865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645" marR="5080" indent="-322580">
              <a:lnSpc>
                <a:spcPct val="114999"/>
              </a:lnSpc>
              <a:spcBef>
                <a:spcPts val="100"/>
              </a:spcBef>
              <a:buFont typeface="Arial MT"/>
              <a:buChar char="•"/>
              <a:tabLst>
                <a:tab pos="334645" algn="l"/>
              </a:tabLst>
            </a:pPr>
            <a:r>
              <a:rPr sz="2100">
                <a:latin typeface="Calibri"/>
                <a:cs typeface="Calibri"/>
              </a:rPr>
              <a:t>Does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the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treatment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with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new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drug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help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more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patients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than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the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standard </a:t>
            </a:r>
            <a:r>
              <a:rPr sz="2100">
                <a:latin typeface="Calibri"/>
                <a:cs typeface="Calibri"/>
              </a:rPr>
              <a:t>treatment</a:t>
            </a:r>
            <a:r>
              <a:rPr sz="2100" spc="-6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with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old</a:t>
            </a:r>
            <a:r>
              <a:rPr sz="2100" spc="-60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drug?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 MT"/>
              <a:buChar char="•"/>
            </a:pPr>
            <a:endParaRPr sz="2100">
              <a:latin typeface="Calibri"/>
              <a:cs typeface="Calibri"/>
            </a:endParaRPr>
          </a:p>
          <a:p>
            <a:pPr marL="334645" marR="732790" indent="-322580">
              <a:lnSpc>
                <a:spcPct val="114999"/>
              </a:lnSpc>
              <a:spcBef>
                <a:spcPts val="5"/>
              </a:spcBef>
              <a:buFont typeface="Arial MT"/>
              <a:buChar char="•"/>
              <a:tabLst>
                <a:tab pos="334645" algn="l"/>
              </a:tabLst>
            </a:pPr>
            <a:r>
              <a:rPr sz="2100">
                <a:latin typeface="Calibri"/>
                <a:cs typeface="Calibri"/>
              </a:rPr>
              <a:t>Which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of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these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four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methods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is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the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most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efficient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way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of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teaching </a:t>
            </a:r>
            <a:r>
              <a:rPr sz="2100">
                <a:latin typeface="Calibri"/>
                <a:cs typeface="Calibri"/>
              </a:rPr>
              <a:t>machine</a:t>
            </a:r>
            <a:r>
              <a:rPr sz="2100" spc="-35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learning?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68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761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z="2900">
                <a:solidFill>
                  <a:srgbClr val="538CD4"/>
                </a:solidFill>
              </a:rPr>
              <a:t>Types</a:t>
            </a:r>
            <a:r>
              <a:rPr sz="2900" spc="-85">
                <a:solidFill>
                  <a:srgbClr val="538CD4"/>
                </a:solidFill>
              </a:rPr>
              <a:t> </a:t>
            </a:r>
            <a:r>
              <a:rPr sz="2900">
                <a:solidFill>
                  <a:srgbClr val="538CD4"/>
                </a:solidFill>
              </a:rPr>
              <a:t>of</a:t>
            </a:r>
            <a:r>
              <a:rPr sz="2900" spc="-80">
                <a:solidFill>
                  <a:srgbClr val="538CD4"/>
                </a:solidFill>
              </a:rPr>
              <a:t> </a:t>
            </a:r>
            <a:r>
              <a:rPr sz="2900" spc="-10">
                <a:solidFill>
                  <a:srgbClr val="538CD4"/>
                </a:solidFill>
              </a:rPr>
              <a:t>Hypothesis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395128" y="785875"/>
            <a:ext cx="8188325" cy="296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645" marR="5080" indent="-322580">
              <a:lnSpc>
                <a:spcPct val="114999"/>
              </a:lnSpc>
              <a:spcBef>
                <a:spcPts val="100"/>
              </a:spcBef>
              <a:buFont typeface="Arial MT"/>
              <a:buChar char="•"/>
              <a:tabLst>
                <a:tab pos="334645" algn="l"/>
              </a:tabLst>
            </a:pPr>
            <a:r>
              <a:rPr sz="2100">
                <a:latin typeface="Calibri"/>
                <a:cs typeface="Calibri"/>
              </a:rPr>
              <a:t>When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a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hypothesis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specifies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an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exact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value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of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 spc="-25">
                <a:latin typeface="Calibri"/>
                <a:cs typeface="Calibri"/>
              </a:rPr>
              <a:t>parameter,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it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is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simple hypothesis.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For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eg.,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A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motorcycle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company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claiming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that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a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certain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model </a:t>
            </a:r>
            <a:r>
              <a:rPr sz="2100">
                <a:latin typeface="Calibri"/>
                <a:cs typeface="Calibri"/>
              </a:rPr>
              <a:t>gives</a:t>
            </a:r>
            <a:r>
              <a:rPr sz="2100" spc="-6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an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average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mileage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of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100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km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per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litre,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this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is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a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case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of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simple hypothesis.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 MT"/>
              <a:buChar char="•"/>
            </a:pPr>
            <a:endParaRPr sz="2100">
              <a:latin typeface="Calibri"/>
              <a:cs typeface="Calibri"/>
            </a:endParaRPr>
          </a:p>
          <a:p>
            <a:pPr marL="334645" marR="50165" indent="-322580">
              <a:lnSpc>
                <a:spcPct val="114999"/>
              </a:lnSpc>
              <a:spcBef>
                <a:spcPts val="5"/>
              </a:spcBef>
              <a:buFont typeface="Arial MT"/>
              <a:buChar char="•"/>
              <a:tabLst>
                <a:tab pos="334645" algn="l"/>
              </a:tabLst>
            </a:pPr>
            <a:r>
              <a:rPr sz="2100">
                <a:latin typeface="Calibri"/>
                <a:cs typeface="Calibri"/>
              </a:rPr>
              <a:t>If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a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hypothesis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specifies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a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range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of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values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then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it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is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called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a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composite hypothesis.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For</a:t>
            </a:r>
            <a:r>
              <a:rPr sz="2100" spc="-4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eg.,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 spc="-20">
                <a:latin typeface="Calibri"/>
                <a:cs typeface="Calibri"/>
              </a:rPr>
              <a:t>Average</a:t>
            </a:r>
            <a:r>
              <a:rPr sz="2100" spc="-4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age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of</a:t>
            </a:r>
            <a:r>
              <a:rPr sz="2100" spc="-4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students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in</a:t>
            </a:r>
            <a:r>
              <a:rPr sz="2100" spc="-4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a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class</a:t>
            </a:r>
            <a:r>
              <a:rPr sz="2100" spc="-4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is</a:t>
            </a:r>
            <a:r>
              <a:rPr sz="2100" spc="-40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greater</a:t>
            </a:r>
            <a:r>
              <a:rPr sz="2100" spc="-4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than</a:t>
            </a:r>
            <a:r>
              <a:rPr sz="2100" spc="-40">
                <a:latin typeface="Calibri"/>
                <a:cs typeface="Calibri"/>
              </a:rPr>
              <a:t> </a:t>
            </a:r>
            <a:r>
              <a:rPr sz="2100" spc="-25">
                <a:latin typeface="Calibri"/>
                <a:cs typeface="Calibri"/>
              </a:rPr>
              <a:t>20. </a:t>
            </a:r>
            <a:r>
              <a:rPr sz="2100">
                <a:latin typeface="Calibri"/>
                <a:cs typeface="Calibri"/>
              </a:rPr>
              <a:t>This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statement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is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a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composite</a:t>
            </a:r>
            <a:r>
              <a:rPr sz="2100" spc="-55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hypothesis.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69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>
                <a:solidFill>
                  <a:srgbClr val="538CD4"/>
                </a:solidFill>
              </a:rPr>
              <a:t>Null</a:t>
            </a:r>
            <a:r>
              <a:rPr spc="-85">
                <a:solidFill>
                  <a:srgbClr val="538CD4"/>
                </a:solidFill>
              </a:rPr>
              <a:t> </a:t>
            </a:r>
            <a:r>
              <a:rPr spc="-10">
                <a:solidFill>
                  <a:srgbClr val="538CD4"/>
                </a:solidFill>
              </a:rPr>
              <a:t>Hypothesis</a:t>
            </a:r>
            <a:r>
              <a:rPr spc="-85">
                <a:solidFill>
                  <a:srgbClr val="538CD4"/>
                </a:solidFill>
              </a:rPr>
              <a:t> </a:t>
            </a:r>
            <a:r>
              <a:rPr spc="-20">
                <a:solidFill>
                  <a:srgbClr val="538CD4"/>
                </a:solidFill>
              </a:rPr>
              <a:t>(H</a:t>
            </a:r>
            <a:r>
              <a:rPr sz="3150" spc="-30" baseline="-31746">
                <a:solidFill>
                  <a:srgbClr val="538CD4"/>
                </a:solidFill>
              </a:rPr>
              <a:t>0</a:t>
            </a:r>
            <a:r>
              <a:rPr sz="3200" spc="-20">
                <a:solidFill>
                  <a:srgbClr val="538CD4"/>
                </a:solidFill>
              </a:rPr>
              <a:t>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28390" y="873382"/>
            <a:ext cx="8220075" cy="170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marR="271780" indent="-335915">
              <a:lnSpc>
                <a:spcPct val="114999"/>
              </a:lnSpc>
              <a:spcBef>
                <a:spcPts val="100"/>
              </a:spcBef>
              <a:buFont typeface="Arial MT"/>
              <a:buChar char="•"/>
              <a:tabLst>
                <a:tab pos="347980" algn="l"/>
              </a:tabLst>
            </a:pPr>
            <a:r>
              <a:rPr sz="2400">
                <a:latin typeface="Calibri"/>
                <a:cs typeface="Calibri"/>
              </a:rPr>
              <a:t>The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null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hypothesis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hypothesis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tested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possible rejection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under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assumption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that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it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true.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0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347345" indent="-3346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47345" algn="l"/>
              </a:tabLst>
            </a:pPr>
            <a:r>
              <a:rPr sz="2400">
                <a:latin typeface="Calibri"/>
                <a:cs typeface="Calibri"/>
              </a:rPr>
              <a:t>The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concept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null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similar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innocent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until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proven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guilty.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70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78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538CD4"/>
                </a:solidFill>
              </a:rPr>
              <a:t>Alternate</a:t>
            </a:r>
            <a:r>
              <a:rPr spc="-120">
                <a:solidFill>
                  <a:srgbClr val="538CD4"/>
                </a:solidFill>
              </a:rPr>
              <a:t> </a:t>
            </a:r>
            <a:r>
              <a:rPr spc="-10">
                <a:solidFill>
                  <a:srgbClr val="538CD4"/>
                </a:solidFill>
              </a:rPr>
              <a:t>Hypothesis</a:t>
            </a:r>
            <a:r>
              <a:rPr spc="-120">
                <a:solidFill>
                  <a:srgbClr val="538CD4"/>
                </a:solidFill>
              </a:rPr>
              <a:t> </a:t>
            </a:r>
            <a:r>
              <a:rPr spc="-10">
                <a:solidFill>
                  <a:srgbClr val="538CD4"/>
                </a:solidFill>
              </a:rPr>
              <a:t>(H</a:t>
            </a:r>
            <a:r>
              <a:rPr sz="3150" spc="-15" baseline="-31746">
                <a:solidFill>
                  <a:srgbClr val="538CD4"/>
                </a:solidFill>
              </a:rPr>
              <a:t>A</a:t>
            </a:r>
            <a:r>
              <a:rPr sz="3200" spc="-10">
                <a:solidFill>
                  <a:srgbClr val="538CD4"/>
                </a:solidFill>
              </a:rPr>
              <a:t>)/(H1)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391795" indent="-379095">
              <a:lnSpc>
                <a:spcPct val="100000"/>
              </a:lnSpc>
              <a:spcBef>
                <a:spcPts val="1380"/>
              </a:spcBef>
              <a:buSzPct val="141666"/>
              <a:buFont typeface="Arial MT"/>
              <a:buChar char="•"/>
              <a:tabLst>
                <a:tab pos="391795" algn="l"/>
              </a:tabLst>
            </a:pPr>
            <a:r>
              <a:rPr/>
              <a:t>The</a:t>
            </a:r>
            <a:r>
              <a:rPr spc="-70"/>
              <a:t> </a:t>
            </a:r>
            <a:r>
              <a:rPr spc="-10"/>
              <a:t>alternative</a:t>
            </a:r>
            <a:r>
              <a:rPr spc="-65"/>
              <a:t> </a:t>
            </a:r>
            <a:r>
              <a:rPr/>
              <a:t>hypothesis</a:t>
            </a:r>
            <a:r>
              <a:rPr spc="-70"/>
              <a:t> </a:t>
            </a:r>
            <a:r>
              <a:rPr spc="-10"/>
              <a:t>complements</a:t>
            </a:r>
            <a:r>
              <a:rPr spc="-65"/>
              <a:t> </a:t>
            </a:r>
            <a:r>
              <a:rPr/>
              <a:t>the</a:t>
            </a:r>
            <a:r>
              <a:rPr spc="-70"/>
              <a:t> </a:t>
            </a:r>
            <a:r>
              <a:rPr/>
              <a:t>Null</a:t>
            </a:r>
            <a:r>
              <a:rPr spc="-65"/>
              <a:t> </a:t>
            </a:r>
            <a:r>
              <a:rPr spc="-10"/>
              <a:t>hypothesis.</a:t>
            </a:r>
          </a:p>
          <a:p>
            <a:pPr marL="392430" marR="5080" indent="-380365">
              <a:lnSpc>
                <a:spcPct val="122300"/>
              </a:lnSpc>
              <a:spcBef>
                <a:spcPts val="2165"/>
              </a:spcBef>
              <a:buSzPct val="141666"/>
              <a:buFont typeface="Arial MT"/>
              <a:buChar char="•"/>
              <a:tabLst>
                <a:tab pos="392430" algn="l"/>
              </a:tabLst>
            </a:pPr>
            <a:r>
              <a:rPr/>
              <a:t>It</a:t>
            </a:r>
            <a:r>
              <a:rPr spc="-45"/>
              <a:t> </a:t>
            </a:r>
            <a:r>
              <a:rPr/>
              <a:t>is</a:t>
            </a:r>
            <a:r>
              <a:rPr spc="-40"/>
              <a:t> </a:t>
            </a:r>
            <a:r>
              <a:rPr/>
              <a:t>opposite</a:t>
            </a:r>
            <a:r>
              <a:rPr spc="-40"/>
              <a:t> </a:t>
            </a:r>
            <a:r>
              <a:rPr/>
              <a:t>of</a:t>
            </a:r>
            <a:r>
              <a:rPr spc="-40"/>
              <a:t> </a:t>
            </a:r>
            <a:r>
              <a:rPr/>
              <a:t>the</a:t>
            </a:r>
            <a:r>
              <a:rPr spc="-45"/>
              <a:t> </a:t>
            </a:r>
            <a:r>
              <a:rPr/>
              <a:t>null</a:t>
            </a:r>
            <a:r>
              <a:rPr spc="-40"/>
              <a:t> </a:t>
            </a:r>
            <a:r>
              <a:rPr/>
              <a:t>hypothesis</a:t>
            </a:r>
            <a:r>
              <a:rPr spc="-40"/>
              <a:t> </a:t>
            </a:r>
            <a:r>
              <a:rPr/>
              <a:t>such</a:t>
            </a:r>
            <a:r>
              <a:rPr spc="-40"/>
              <a:t> </a:t>
            </a:r>
            <a:r>
              <a:rPr/>
              <a:t>that</a:t>
            </a:r>
            <a:r>
              <a:rPr spc="-40"/>
              <a:t> </a:t>
            </a:r>
            <a:r>
              <a:rPr/>
              <a:t>both</a:t>
            </a:r>
            <a:r>
              <a:rPr spc="-45"/>
              <a:t> </a:t>
            </a:r>
            <a:r>
              <a:rPr/>
              <a:t>the</a:t>
            </a:r>
            <a:r>
              <a:rPr spc="-40"/>
              <a:t> </a:t>
            </a:r>
            <a:r>
              <a:rPr spc="-10"/>
              <a:t>alternate </a:t>
            </a:r>
            <a:r>
              <a:rPr/>
              <a:t>and</a:t>
            </a:r>
            <a:r>
              <a:rPr spc="-75"/>
              <a:t> </a:t>
            </a:r>
            <a:r>
              <a:rPr/>
              <a:t>null</a:t>
            </a:r>
            <a:r>
              <a:rPr spc="-75"/>
              <a:t> </a:t>
            </a:r>
            <a:r>
              <a:rPr spc="-10"/>
              <a:t>hypotheses</a:t>
            </a:r>
            <a:r>
              <a:rPr spc="-75"/>
              <a:t> </a:t>
            </a:r>
            <a:r>
              <a:rPr spc="-10"/>
              <a:t>together</a:t>
            </a:r>
            <a:r>
              <a:rPr spc="-75"/>
              <a:t> </a:t>
            </a:r>
            <a:r>
              <a:rPr/>
              <a:t>cover</a:t>
            </a:r>
            <a:r>
              <a:rPr spc="-75"/>
              <a:t> </a:t>
            </a:r>
            <a:r>
              <a:rPr/>
              <a:t>all</a:t>
            </a:r>
            <a:r>
              <a:rPr spc="-75"/>
              <a:t> </a:t>
            </a:r>
            <a:r>
              <a:rPr/>
              <a:t>possible</a:t>
            </a:r>
            <a:r>
              <a:rPr spc="-75"/>
              <a:t> </a:t>
            </a:r>
            <a:r>
              <a:rPr/>
              <a:t>values</a:t>
            </a:r>
            <a:r>
              <a:rPr spc="-75"/>
              <a:t> </a:t>
            </a:r>
            <a:r>
              <a:rPr/>
              <a:t>of</a:t>
            </a:r>
            <a:r>
              <a:rPr spc="-75"/>
              <a:t> </a:t>
            </a:r>
            <a:r>
              <a:rPr spc="-25"/>
              <a:t>the </a:t>
            </a:r>
            <a:r>
              <a:rPr/>
              <a:t>population</a:t>
            </a:r>
            <a:r>
              <a:rPr spc="-114"/>
              <a:t> </a:t>
            </a:r>
            <a:r>
              <a:rPr spc="-10"/>
              <a:t>parameter.</a:t>
            </a: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71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0"/>
              <a:t>Hypothesis</a:t>
            </a:r>
            <a:r>
              <a:rPr spc="-85"/>
              <a:t> </a:t>
            </a:r>
            <a:r>
              <a:rPr spc="-40"/>
              <a:t>Testing</a:t>
            </a:r>
            <a:r>
              <a:rPr spc="-85"/>
              <a:t> </a:t>
            </a:r>
            <a:r>
              <a:rPr/>
              <a:t>–</a:t>
            </a:r>
            <a:r>
              <a:rPr spc="-80"/>
              <a:t> </a:t>
            </a:r>
            <a:r>
              <a:rPr/>
              <a:t>Case</a:t>
            </a:r>
            <a:r>
              <a:rPr spc="-85"/>
              <a:t> </a:t>
            </a:r>
            <a:r>
              <a:rPr spc="-1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2115" y="984759"/>
            <a:ext cx="7947025" cy="383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100"/>
              </a:spcBef>
            </a:pPr>
            <a:r>
              <a:rPr sz="2400" b="1">
                <a:latin typeface="Calibri"/>
                <a:cs typeface="Calibri"/>
              </a:rPr>
              <a:t>Consider</a:t>
            </a:r>
            <a:r>
              <a:rPr sz="2400" b="1" spc="-55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a</a:t>
            </a:r>
            <a:r>
              <a:rPr sz="2400" b="1" spc="-50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court</a:t>
            </a:r>
            <a:r>
              <a:rPr sz="2400" b="1" spc="-55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of</a:t>
            </a:r>
            <a:r>
              <a:rPr sz="2400" b="1" spc="-50">
                <a:latin typeface="Calibri"/>
                <a:cs typeface="Calibri"/>
              </a:rPr>
              <a:t> </a:t>
            </a:r>
            <a:r>
              <a:rPr sz="2400" b="1" spc="-20">
                <a:latin typeface="Calibri"/>
                <a:cs typeface="Calibri"/>
              </a:rPr>
              <a:t>law:</a:t>
            </a:r>
            <a:endParaRPr sz="2400">
              <a:latin typeface="Calibri"/>
              <a:cs typeface="Calibri"/>
            </a:endParaRPr>
          </a:p>
          <a:p>
            <a:pPr marL="347980" marR="247015">
              <a:lnSpc>
                <a:spcPct val="100000"/>
              </a:lnSpc>
            </a:pPr>
            <a:r>
              <a:rPr sz="2400">
                <a:latin typeface="Calibri"/>
                <a:cs typeface="Calibri"/>
              </a:rPr>
              <a:t>The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null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hypothesis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always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begins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with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assumption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that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defendant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innocent.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2400">
              <a:latin typeface="Calibri"/>
              <a:cs typeface="Calibri"/>
            </a:endParaRPr>
          </a:p>
          <a:p>
            <a:pPr marL="347980" marR="474980" indent="-335915">
              <a:lnSpc>
                <a:spcPct val="100000"/>
              </a:lnSpc>
              <a:buFont typeface="Arial MT"/>
              <a:buChar char="•"/>
              <a:tabLst>
                <a:tab pos="347980" algn="l"/>
              </a:tabLst>
            </a:pPr>
            <a:r>
              <a:rPr sz="2400">
                <a:latin typeface="Calibri"/>
                <a:cs typeface="Calibri"/>
              </a:rPr>
              <a:t>We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require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evidence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reject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null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hypothesis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(convict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defendant).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0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347980" marR="5080" indent="-335915">
              <a:lnSpc>
                <a:spcPct val="100000"/>
              </a:lnSpc>
              <a:buFont typeface="Arial MT"/>
              <a:buChar char="•"/>
              <a:tabLst>
                <a:tab pos="347980" algn="l"/>
              </a:tabLst>
            </a:pPr>
            <a:r>
              <a:rPr sz="2400">
                <a:latin typeface="Calibri"/>
                <a:cs typeface="Calibri"/>
              </a:rPr>
              <a:t>When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collect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evidence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try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reject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null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hypothesis, </a:t>
            </a:r>
            <a:r>
              <a:rPr sz="2400">
                <a:latin typeface="Calibri"/>
                <a:cs typeface="Calibri"/>
              </a:rPr>
              <a:t>there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are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2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errors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that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could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potentially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occur: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Type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1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or</a:t>
            </a:r>
            <a:r>
              <a:rPr sz="2400" spc="-10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Type </a:t>
            </a:r>
            <a:r>
              <a:rPr sz="2400">
                <a:latin typeface="Calibri"/>
                <a:cs typeface="Calibri"/>
              </a:rPr>
              <a:t>2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error.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72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78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20">
                <a:solidFill>
                  <a:srgbClr val="4F81BD"/>
                </a:solidFill>
              </a:rPr>
              <a:t>Type</a:t>
            </a:r>
            <a:r>
              <a:rPr spc="-80">
                <a:solidFill>
                  <a:srgbClr val="4F81BD"/>
                </a:solidFill>
              </a:rPr>
              <a:t> </a:t>
            </a:r>
            <a:r>
              <a:rPr>
                <a:solidFill>
                  <a:srgbClr val="4F81BD"/>
                </a:solidFill>
              </a:rPr>
              <a:t>I</a:t>
            </a:r>
            <a:r>
              <a:rPr spc="-80">
                <a:solidFill>
                  <a:srgbClr val="4F81BD"/>
                </a:solidFill>
              </a:rPr>
              <a:t> </a:t>
            </a:r>
            <a:r>
              <a:rPr>
                <a:solidFill>
                  <a:srgbClr val="4F81BD"/>
                </a:solidFill>
              </a:rPr>
              <a:t>and</a:t>
            </a:r>
            <a:r>
              <a:rPr spc="-75">
                <a:solidFill>
                  <a:srgbClr val="4F81BD"/>
                </a:solidFill>
              </a:rPr>
              <a:t> </a:t>
            </a:r>
            <a:r>
              <a:rPr spc="-20">
                <a:solidFill>
                  <a:srgbClr val="4F81BD"/>
                </a:solidFill>
              </a:rPr>
              <a:t>Type</a:t>
            </a:r>
            <a:r>
              <a:rPr spc="-80">
                <a:solidFill>
                  <a:srgbClr val="4F81BD"/>
                </a:solidFill>
              </a:rPr>
              <a:t> </a:t>
            </a:r>
            <a:r>
              <a:rPr>
                <a:solidFill>
                  <a:srgbClr val="4F81BD"/>
                </a:solidFill>
              </a:rPr>
              <a:t>II</a:t>
            </a:r>
            <a:r>
              <a:rPr spc="-75">
                <a:solidFill>
                  <a:srgbClr val="4F81BD"/>
                </a:solidFill>
              </a:rPr>
              <a:t> </a:t>
            </a:r>
            <a:r>
              <a:rPr spc="-20">
                <a:solidFill>
                  <a:srgbClr val="4F81BD"/>
                </a:solidFill>
              </a:rPr>
              <a:t>Error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558175" y="990375"/>
            <a:ext cx="7251299" cy="30674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73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88705"/>
            <a:ext cx="9144000" cy="255270"/>
          </a:xfrm>
          <a:custGeom>
            <a:avLst/>
            <a:gdLst/>
            <a:ahLst/>
            <a:cxnLst/>
            <a:rect l="l" t="t" r="r" b="b"/>
            <a:pathLst>
              <a:path w="9144000" h="255270">
                <a:moveTo>
                  <a:pt x="9143999" y="254794"/>
                </a:moveTo>
                <a:lnTo>
                  <a:pt x="0" y="254794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4794"/>
                </a:lnTo>
                <a:close/>
              </a:path>
            </a:pathLst>
          </a:custGeom>
          <a:solidFill>
            <a:srgbClr val="538CD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666750"/>
            <a:ext cx="9144000" cy="3996054"/>
            <a:chOff x="0" y="666750"/>
            <a:chExt cx="9144000" cy="3996054"/>
          </a:xfrm>
        </p:grpSpPr>
        <p:sp>
          <p:nvSpPr>
            <p:cNvPr id="4" name="object 4"/>
            <p:cNvSpPr/>
            <p:nvPr/>
          </p:nvSpPr>
          <p:spPr>
            <a:xfrm>
              <a:off x="0" y="666750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3999" y="45718"/>
                  </a:moveTo>
                  <a:lnTo>
                    <a:pt x="0" y="45718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718"/>
                  </a:lnTo>
                  <a:close/>
                </a:path>
              </a:pathLst>
            </a:custGeom>
            <a:solidFill>
              <a:srgbClr val="E3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24400" y="746528"/>
              <a:ext cx="4267199" cy="3916261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/>
              <a:t>Critical</a:t>
            </a:r>
            <a:r>
              <a:rPr spc="-155"/>
              <a:t> </a:t>
            </a:r>
            <a:r>
              <a:rPr spc="-10"/>
              <a:t>Region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75828" y="1136903"/>
            <a:ext cx="4179570" cy="28047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21310" marR="16510" indent="-309245">
              <a:lnSpc>
                <a:spcPct val="118500"/>
              </a:lnSpc>
              <a:spcBef>
                <a:spcPts val="160"/>
              </a:spcBef>
              <a:buSzPct val="120000"/>
              <a:buFont typeface="Arial MT"/>
              <a:buChar char="•"/>
              <a:tabLst>
                <a:tab pos="321310" algn="l"/>
              </a:tabLst>
            </a:pPr>
            <a:r>
              <a:rPr sz="1500">
                <a:latin typeface="Calibri"/>
                <a:cs typeface="Calibri"/>
              </a:rPr>
              <a:t>The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critical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region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is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that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region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in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the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sample </a:t>
            </a:r>
            <a:r>
              <a:rPr sz="1500">
                <a:latin typeface="Calibri"/>
                <a:cs typeface="Calibri"/>
              </a:rPr>
              <a:t>space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in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which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if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the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calculated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value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lies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then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 spc="-25">
                <a:latin typeface="Calibri"/>
                <a:cs typeface="Calibri"/>
              </a:rPr>
              <a:t>we </a:t>
            </a:r>
            <a:r>
              <a:rPr sz="1500" spc="-10">
                <a:latin typeface="Calibri"/>
                <a:cs typeface="Calibri"/>
              </a:rPr>
              <a:t>reject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the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null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hypothesis.</a:t>
            </a:r>
            <a:endParaRPr sz="1500">
              <a:latin typeface="Calibri"/>
              <a:cs typeface="Calibri"/>
            </a:endParaRPr>
          </a:p>
          <a:p>
            <a:pPr marL="321310" marR="5080" indent="-295910">
              <a:lnSpc>
                <a:spcPct val="114999"/>
              </a:lnSpc>
              <a:spcBef>
                <a:spcPts val="1000"/>
              </a:spcBef>
              <a:buFont typeface="Arial MT"/>
              <a:buChar char="•"/>
              <a:tabLst>
                <a:tab pos="321310" algn="l"/>
              </a:tabLst>
            </a:pPr>
            <a:r>
              <a:rPr sz="1500">
                <a:latin typeface="Calibri"/>
                <a:cs typeface="Calibri"/>
              </a:rPr>
              <a:t>The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critical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region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lies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in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one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tail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or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two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tails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 spc="-25">
                <a:latin typeface="Calibri"/>
                <a:cs typeface="Calibri"/>
              </a:rPr>
              <a:t>on </a:t>
            </a:r>
            <a:r>
              <a:rPr sz="1500">
                <a:latin typeface="Calibri"/>
                <a:cs typeface="Calibri"/>
              </a:rPr>
              <a:t>the</a:t>
            </a:r>
            <a:r>
              <a:rPr sz="1500" spc="-30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probability</a:t>
            </a:r>
            <a:r>
              <a:rPr sz="1500" spc="-30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distribution</a:t>
            </a:r>
            <a:r>
              <a:rPr sz="1500" spc="-3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curve</a:t>
            </a:r>
            <a:r>
              <a:rPr sz="1500" spc="-2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according</a:t>
            </a:r>
            <a:r>
              <a:rPr sz="1500" spc="-3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to</a:t>
            </a:r>
            <a:r>
              <a:rPr sz="1500" spc="-25">
                <a:latin typeface="Calibri"/>
                <a:cs typeface="Calibri"/>
              </a:rPr>
              <a:t> the </a:t>
            </a:r>
            <a:r>
              <a:rPr sz="1500" spc="-10">
                <a:latin typeface="Calibri"/>
                <a:cs typeface="Calibri"/>
              </a:rPr>
              <a:t>alternative</a:t>
            </a:r>
            <a:r>
              <a:rPr sz="1500" spc="10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hypothesis.</a:t>
            </a:r>
            <a:endParaRPr sz="1500">
              <a:latin typeface="Calibri"/>
              <a:cs typeface="Calibri"/>
            </a:endParaRPr>
          </a:p>
          <a:p>
            <a:pPr marL="363855" indent="-337820">
              <a:lnSpc>
                <a:spcPct val="100000"/>
              </a:lnSpc>
              <a:spcBef>
                <a:spcPts val="1270"/>
              </a:spcBef>
              <a:buFont typeface="Arial MT"/>
              <a:buChar char="•"/>
              <a:tabLst>
                <a:tab pos="363855" algn="l"/>
              </a:tabLst>
            </a:pPr>
            <a:r>
              <a:rPr sz="1500">
                <a:latin typeface="Calibri"/>
                <a:cs typeface="Calibri"/>
              </a:rPr>
              <a:t>The</a:t>
            </a:r>
            <a:r>
              <a:rPr sz="1500" spc="-4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value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of</a:t>
            </a:r>
            <a:r>
              <a:rPr sz="1500" spc="-4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critical</a:t>
            </a:r>
            <a:r>
              <a:rPr sz="1500" spc="-4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region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is</a:t>
            </a:r>
            <a:r>
              <a:rPr sz="1500" spc="-4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denoted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by</a:t>
            </a:r>
            <a:r>
              <a:rPr sz="1500" spc="-15">
                <a:latin typeface="Calibri"/>
                <a:cs typeface="Calibri"/>
              </a:rPr>
              <a:t> </a:t>
            </a:r>
            <a:r>
              <a:rPr sz="1500" spc="-350">
                <a:latin typeface="Arial MT"/>
                <a:cs typeface="Arial MT"/>
              </a:rPr>
              <a:t>α</a:t>
            </a:r>
            <a:r>
              <a:rPr sz="1500" spc="-350">
                <a:latin typeface="Calibri"/>
                <a:cs typeface="Calibri"/>
              </a:rPr>
              <a:t>.</a:t>
            </a:r>
            <a:endParaRPr sz="1500">
              <a:latin typeface="Calibri"/>
              <a:cs typeface="Calibri"/>
            </a:endParaRPr>
          </a:p>
          <a:p>
            <a:pPr marL="321310" marR="386715" indent="-295910">
              <a:lnSpc>
                <a:spcPct val="114999"/>
              </a:lnSpc>
              <a:spcBef>
                <a:spcPts val="1000"/>
              </a:spcBef>
              <a:buFont typeface="Arial MT"/>
              <a:buChar char="•"/>
              <a:tabLst>
                <a:tab pos="321310" algn="l"/>
              </a:tabLst>
            </a:pPr>
            <a:r>
              <a:rPr sz="1500">
                <a:latin typeface="Calibri"/>
                <a:cs typeface="Calibri"/>
              </a:rPr>
              <a:t>It</a:t>
            </a:r>
            <a:r>
              <a:rPr sz="1500" spc="-3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is</a:t>
            </a:r>
            <a:r>
              <a:rPr sz="1500" spc="-2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known</a:t>
            </a:r>
            <a:r>
              <a:rPr sz="1500" spc="-2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as</a:t>
            </a:r>
            <a:r>
              <a:rPr sz="1500" spc="-2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level</a:t>
            </a:r>
            <a:r>
              <a:rPr sz="1500" spc="-2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of</a:t>
            </a:r>
            <a:r>
              <a:rPr sz="1500" spc="-2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significance.</a:t>
            </a:r>
            <a:r>
              <a:rPr sz="1500" spc="-2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i.e</a:t>
            </a:r>
            <a:r>
              <a:rPr sz="1500" spc="-2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what</a:t>
            </a:r>
            <a:r>
              <a:rPr sz="1500" spc="-25">
                <a:latin typeface="Calibri"/>
                <a:cs typeface="Calibri"/>
              </a:rPr>
              <a:t> is </a:t>
            </a:r>
            <a:r>
              <a:rPr sz="1500">
                <a:latin typeface="Calibri"/>
                <a:cs typeface="Calibri"/>
              </a:rPr>
              <a:t>passing</a:t>
            </a:r>
            <a:r>
              <a:rPr sz="1500" spc="-5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criteria</a:t>
            </a:r>
            <a:r>
              <a:rPr sz="1500" spc="-4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of</a:t>
            </a:r>
            <a:r>
              <a:rPr sz="1500" spc="-50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test.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74</a:t>
            </a:fld>
            <a:endParaRPr spc="-25"/>
          </a:p>
        </p:txBody>
      </p:sp>
      <p:sp>
        <p:nvSpPr>
          <p:cNvPr id="11" name="object 11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88705"/>
            <a:ext cx="9144000" cy="255270"/>
          </a:xfrm>
          <a:custGeom>
            <a:avLst/>
            <a:gdLst/>
            <a:ahLst/>
            <a:cxnLst/>
            <a:rect l="l" t="t" r="r" b="b"/>
            <a:pathLst>
              <a:path w="9144000" h="255270">
                <a:moveTo>
                  <a:pt x="9143999" y="254794"/>
                </a:moveTo>
                <a:lnTo>
                  <a:pt x="0" y="254794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4794"/>
                </a:lnTo>
                <a:close/>
              </a:path>
            </a:pathLst>
          </a:custGeom>
          <a:solidFill>
            <a:srgbClr val="538C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0398" y="4957048"/>
            <a:ext cx="69596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0"/>
              </a:lnSpc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1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6675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20">
                <a:moveTo>
                  <a:pt x="9143999" y="45718"/>
                </a:moveTo>
                <a:lnTo>
                  <a:pt x="0" y="45718"/>
                </a:lnTo>
                <a:lnTo>
                  <a:pt x="0" y="0"/>
                </a:lnTo>
                <a:lnTo>
                  <a:pt x="9143999" y="0"/>
                </a:lnTo>
                <a:lnTo>
                  <a:pt x="9143999" y="45718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78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/>
              <a:t>Cases</a:t>
            </a:r>
            <a:r>
              <a:rPr spc="-100"/>
              <a:t> </a:t>
            </a:r>
            <a:r>
              <a:rPr/>
              <a:t>Of</a:t>
            </a:r>
            <a:r>
              <a:rPr spc="-100"/>
              <a:t> </a:t>
            </a:r>
            <a:r>
              <a:rPr/>
              <a:t>Critical</a:t>
            </a:r>
            <a:r>
              <a:rPr spc="-95"/>
              <a:t> </a:t>
            </a:r>
            <a:r>
              <a:rPr spc="-10"/>
              <a:t>Region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01250" y="1110328"/>
            <a:ext cx="4138295" cy="182308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295910" marR="36830" indent="-283210" algn="just">
              <a:lnSpc>
                <a:spcPct val="107900"/>
              </a:lnSpc>
              <a:spcBef>
                <a:spcPts val="10"/>
              </a:spcBef>
              <a:buFont typeface="Arial MT"/>
              <a:buChar char="•"/>
              <a:tabLst>
                <a:tab pos="295910" algn="l"/>
              </a:tabLst>
            </a:pPr>
            <a:r>
              <a:rPr sz="1350">
                <a:latin typeface="Calibri"/>
                <a:cs typeface="Calibri"/>
              </a:rPr>
              <a:t>If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the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alternate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hypothesis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gives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the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alternate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in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 spc="-20">
                <a:latin typeface="Calibri"/>
                <a:cs typeface="Calibri"/>
              </a:rPr>
              <a:t>both </a:t>
            </a:r>
            <a:r>
              <a:rPr sz="1350">
                <a:latin typeface="Calibri"/>
                <a:cs typeface="Calibri"/>
              </a:rPr>
              <a:t>directions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(less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than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and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greater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than)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of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the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value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 spc="-25">
                <a:latin typeface="Calibri"/>
                <a:cs typeface="Calibri"/>
              </a:rPr>
              <a:t>of </a:t>
            </a:r>
            <a:r>
              <a:rPr sz="1350">
                <a:latin typeface="Calibri"/>
                <a:cs typeface="Calibri"/>
              </a:rPr>
              <a:t>the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parameter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specified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in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null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hypothesis,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it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is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 spc="-10">
                <a:latin typeface="Calibri"/>
                <a:cs typeface="Calibri"/>
              </a:rPr>
              <a:t>called Two-</a:t>
            </a:r>
            <a:r>
              <a:rPr sz="1350">
                <a:latin typeface="Calibri"/>
                <a:cs typeface="Calibri"/>
              </a:rPr>
              <a:t>tailed</a:t>
            </a:r>
            <a:r>
              <a:rPr sz="1350" spc="45">
                <a:latin typeface="Calibri"/>
                <a:cs typeface="Calibri"/>
              </a:rPr>
              <a:t> </a:t>
            </a:r>
            <a:r>
              <a:rPr sz="1350" spc="-20">
                <a:latin typeface="Calibri"/>
                <a:cs typeface="Calibri"/>
              </a:rPr>
              <a:t>test.</a:t>
            </a:r>
            <a:endParaRPr sz="1350">
              <a:latin typeface="Calibri"/>
              <a:cs typeface="Calibri"/>
            </a:endParaRPr>
          </a:p>
          <a:p>
            <a:pPr marL="410209">
              <a:lnSpc>
                <a:spcPct val="100000"/>
              </a:lnSpc>
              <a:spcBef>
                <a:spcPts val="1125"/>
              </a:spcBef>
            </a:pPr>
            <a:r>
              <a:rPr sz="1350">
                <a:latin typeface="Calibri"/>
                <a:cs typeface="Calibri"/>
              </a:rPr>
              <a:t>E.g.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H0: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mean=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100</a:t>
            </a:r>
            <a:r>
              <a:rPr sz="1350" spc="38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—-&gt;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H1:</a:t>
            </a:r>
            <a:r>
              <a:rPr sz="1350" spc="4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mean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not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equal</a:t>
            </a:r>
            <a:r>
              <a:rPr sz="1350" spc="4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to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 spc="-25">
                <a:latin typeface="Calibri"/>
                <a:cs typeface="Calibri"/>
              </a:rPr>
              <a:t>100</a:t>
            </a:r>
            <a:endParaRPr sz="1350">
              <a:latin typeface="Calibri"/>
              <a:cs typeface="Calibri"/>
            </a:endParaRPr>
          </a:p>
          <a:p>
            <a:pPr marL="410209" marR="64769">
              <a:lnSpc>
                <a:spcPct val="107900"/>
              </a:lnSpc>
              <a:spcBef>
                <a:spcPts val="1000"/>
              </a:spcBef>
            </a:pPr>
            <a:r>
              <a:rPr sz="1350">
                <a:latin typeface="Calibri"/>
                <a:cs typeface="Calibri"/>
              </a:rPr>
              <a:t>Here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according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to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H1,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mean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can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be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greater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than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 spc="-25">
                <a:latin typeface="Calibri"/>
                <a:cs typeface="Calibri"/>
              </a:rPr>
              <a:t>or </a:t>
            </a:r>
            <a:r>
              <a:rPr sz="1350">
                <a:latin typeface="Calibri"/>
                <a:cs typeface="Calibri"/>
              </a:rPr>
              <a:t>less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than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100.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This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is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an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example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of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 spc="-10">
                <a:latin typeface="Calibri"/>
                <a:cs typeface="Calibri"/>
              </a:rPr>
              <a:t>Two-</a:t>
            </a:r>
            <a:r>
              <a:rPr sz="1350">
                <a:latin typeface="Calibri"/>
                <a:cs typeface="Calibri"/>
              </a:rPr>
              <a:t>tailed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 spc="-10">
                <a:latin typeface="Calibri"/>
                <a:cs typeface="Calibri"/>
              </a:rPr>
              <a:t>test.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1250" y="3045522"/>
            <a:ext cx="4097654" cy="125222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295910" marR="5080" indent="-283210" algn="just">
              <a:lnSpc>
                <a:spcPct val="107900"/>
              </a:lnSpc>
              <a:spcBef>
                <a:spcPts val="10"/>
              </a:spcBef>
              <a:buFont typeface="Arial MT"/>
              <a:buChar char="•"/>
              <a:tabLst>
                <a:tab pos="295910" algn="l"/>
              </a:tabLst>
            </a:pPr>
            <a:r>
              <a:rPr sz="1350">
                <a:latin typeface="Calibri"/>
                <a:cs typeface="Calibri"/>
              </a:rPr>
              <a:t>If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the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alternate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hypothesis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gives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the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alternate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in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 spc="-20">
                <a:latin typeface="Calibri"/>
                <a:cs typeface="Calibri"/>
              </a:rPr>
              <a:t>only </a:t>
            </a:r>
            <a:r>
              <a:rPr sz="1350">
                <a:latin typeface="Calibri"/>
                <a:cs typeface="Calibri"/>
              </a:rPr>
              <a:t>one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direction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(either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less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than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or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greater</a:t>
            </a:r>
            <a:r>
              <a:rPr sz="1350" spc="4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than)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of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 spc="-25">
                <a:latin typeface="Calibri"/>
                <a:cs typeface="Calibri"/>
              </a:rPr>
              <a:t>the </a:t>
            </a:r>
            <a:r>
              <a:rPr sz="1350">
                <a:latin typeface="Calibri"/>
                <a:cs typeface="Calibri"/>
              </a:rPr>
              <a:t>value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of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the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parameter</a:t>
            </a:r>
            <a:r>
              <a:rPr sz="1350" spc="4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specified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in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null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hypothesis,</a:t>
            </a:r>
            <a:r>
              <a:rPr sz="1350" spc="40">
                <a:latin typeface="Calibri"/>
                <a:cs typeface="Calibri"/>
              </a:rPr>
              <a:t> </a:t>
            </a:r>
            <a:r>
              <a:rPr sz="1350" spc="-25">
                <a:latin typeface="Calibri"/>
                <a:cs typeface="Calibri"/>
              </a:rPr>
              <a:t>it </a:t>
            </a:r>
            <a:r>
              <a:rPr sz="1350">
                <a:latin typeface="Calibri"/>
                <a:cs typeface="Calibri"/>
              </a:rPr>
              <a:t>is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called</a:t>
            </a:r>
            <a:r>
              <a:rPr sz="1350" spc="4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One-tailed</a:t>
            </a:r>
            <a:r>
              <a:rPr sz="1350" spc="35">
                <a:latin typeface="Calibri"/>
                <a:cs typeface="Calibri"/>
              </a:rPr>
              <a:t> </a:t>
            </a:r>
            <a:r>
              <a:rPr sz="1350" spc="-10">
                <a:latin typeface="Calibri"/>
                <a:cs typeface="Calibri"/>
              </a:rPr>
              <a:t>test.</a:t>
            </a:r>
            <a:endParaRPr sz="1350">
              <a:latin typeface="Calibri"/>
              <a:cs typeface="Calibri"/>
            </a:endParaRPr>
          </a:p>
          <a:p>
            <a:pPr marL="410209">
              <a:lnSpc>
                <a:spcPct val="100000"/>
              </a:lnSpc>
              <a:spcBef>
                <a:spcPts val="1125"/>
              </a:spcBef>
              <a:tabLst>
                <a:tab pos="2422525" algn="l"/>
              </a:tabLst>
            </a:pPr>
            <a:r>
              <a:rPr sz="1350">
                <a:latin typeface="Calibri"/>
                <a:cs typeface="Calibri"/>
              </a:rPr>
              <a:t>E.g.</a:t>
            </a:r>
            <a:r>
              <a:rPr sz="1350" spc="4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H0:</a:t>
            </a:r>
            <a:r>
              <a:rPr sz="1350" spc="4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mean&gt;=100</a:t>
            </a:r>
            <a:r>
              <a:rPr sz="1350" spc="215">
                <a:latin typeface="Calibri"/>
                <a:cs typeface="Calibri"/>
              </a:rPr>
              <a:t>  </a:t>
            </a:r>
            <a:r>
              <a:rPr sz="1350">
                <a:latin typeface="Calibri"/>
                <a:cs typeface="Calibri"/>
              </a:rPr>
              <a:t>—-</a:t>
            </a:r>
            <a:r>
              <a:rPr sz="1350" spc="-50">
                <a:latin typeface="Calibri"/>
                <a:cs typeface="Calibri"/>
              </a:rPr>
              <a:t>&gt;</a:t>
            </a:r>
            <a:r>
              <a:rPr sz="1350">
                <a:latin typeface="Calibri"/>
                <a:cs typeface="Calibri"/>
              </a:rPr>
              <a:t>	H1:</a:t>
            </a:r>
            <a:r>
              <a:rPr sz="1350" spc="37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mean&lt;</a:t>
            </a:r>
            <a:r>
              <a:rPr sz="1350" spc="30">
                <a:latin typeface="Calibri"/>
                <a:cs typeface="Calibri"/>
              </a:rPr>
              <a:t> </a:t>
            </a:r>
            <a:r>
              <a:rPr sz="1350" spc="-25">
                <a:latin typeface="Calibri"/>
                <a:cs typeface="Calibri"/>
              </a:rPr>
              <a:t>100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/>
          <a:stretch>
            <a:fillRect/>
          </a:stretch>
        </p:blipFill>
        <p:spPr>
          <a:xfrm>
            <a:off x="4724325" y="916572"/>
            <a:ext cx="4267274" cy="25672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188475" y="3583626"/>
            <a:ext cx="29813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latin typeface="Calibri"/>
                <a:cs typeface="Calibri"/>
              </a:rPr>
              <a:t>Three</a:t>
            </a:r>
            <a:r>
              <a:rPr sz="1600" b="1" spc="-4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cases</a:t>
            </a:r>
            <a:r>
              <a:rPr sz="1600" b="1" spc="-4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of</a:t>
            </a:r>
            <a:r>
              <a:rPr sz="1600" b="1" spc="-4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Critical</a:t>
            </a:r>
            <a:r>
              <a:rPr sz="1600" b="1" spc="-4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Region</a:t>
            </a:r>
            <a:r>
              <a:rPr sz="1600" b="1" spc="-45">
                <a:latin typeface="Calibri"/>
                <a:cs typeface="Calibri"/>
              </a:rPr>
              <a:t> </a:t>
            </a:r>
            <a:r>
              <a:rPr sz="1600" b="1" spc="-10">
                <a:latin typeface="Calibri"/>
                <a:cs typeface="Calibri"/>
              </a:rPr>
              <a:t>arise.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75</a:t>
            </a:fld>
            <a:endParaRPr spc="-25"/>
          </a:p>
        </p:txBody>
      </p:sp>
      <p:sp>
        <p:nvSpPr>
          <p:cNvPr id="13" name="object 13"/>
          <p:cNvSpPr txBox="1"/>
          <p:nvPr/>
        </p:nvSpPr>
        <p:spPr>
          <a:xfrm>
            <a:off x="923619" y="4924628"/>
            <a:ext cx="273367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Mites</a:t>
            </a:r>
            <a:r>
              <a:rPr sz="1000" b="1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78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/>
              <a:t>p</a:t>
            </a:r>
            <a:r>
              <a:rPr spc="-25"/>
              <a:t> </a:t>
            </a:r>
            <a:r>
              <a:rPr spc="-30"/>
              <a:t>–Value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5828" y="759204"/>
            <a:ext cx="4198620" cy="333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310" marR="247015" indent="-3092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21310" algn="l"/>
              </a:tabLst>
            </a:pPr>
            <a:r>
              <a:rPr sz="1800">
                <a:latin typeface="Calibri"/>
                <a:cs typeface="Calibri"/>
              </a:rPr>
              <a:t>Since</a:t>
            </a:r>
            <a:r>
              <a:rPr sz="1800" spc="-6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we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know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that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passing</a:t>
            </a:r>
            <a:r>
              <a:rPr sz="1800" spc="-6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value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-50">
                <a:latin typeface="Calibri"/>
                <a:cs typeface="Calibri"/>
              </a:rPr>
              <a:t>a </a:t>
            </a:r>
            <a:r>
              <a:rPr sz="1800">
                <a:latin typeface="Calibri"/>
                <a:cs typeface="Calibri"/>
              </a:rPr>
              <a:t>test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can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be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1%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or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5%.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But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we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must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also </a:t>
            </a:r>
            <a:r>
              <a:rPr sz="1800">
                <a:latin typeface="Calibri"/>
                <a:cs typeface="Calibri"/>
              </a:rPr>
              <a:t>know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what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are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test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score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and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this </a:t>
            </a:r>
            <a:r>
              <a:rPr sz="1800">
                <a:latin typeface="Calibri"/>
                <a:cs typeface="Calibri"/>
              </a:rPr>
              <a:t>test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score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is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known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as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p-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value.</a:t>
            </a:r>
            <a:endParaRPr sz="1800">
              <a:latin typeface="Calibri"/>
              <a:cs typeface="Calibri"/>
            </a:endParaRPr>
          </a:p>
          <a:p>
            <a:pPr marL="321310" marR="50165" indent="-30924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321310" algn="l"/>
              </a:tabLst>
            </a:pPr>
            <a:r>
              <a:rPr sz="1800" spc="-25">
                <a:latin typeface="Calibri"/>
                <a:cs typeface="Calibri"/>
              </a:rPr>
              <a:t>Technically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-25">
                <a:latin typeface="Calibri"/>
                <a:cs typeface="Calibri"/>
              </a:rPr>
              <a:t>p-</a:t>
            </a:r>
            <a:r>
              <a:rPr sz="1800">
                <a:latin typeface="Calibri"/>
                <a:cs typeface="Calibri"/>
              </a:rPr>
              <a:t>value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(probability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value)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-25">
                <a:latin typeface="Calibri"/>
                <a:cs typeface="Calibri"/>
              </a:rPr>
              <a:t>is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smallest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level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significance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at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which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null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hypothesis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can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be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rejected.</a:t>
            </a:r>
            <a:endParaRPr sz="1800">
              <a:latin typeface="Calibri"/>
              <a:cs typeface="Calibri"/>
            </a:endParaRPr>
          </a:p>
          <a:p>
            <a:pPr marL="320675" indent="-307975">
              <a:lnSpc>
                <a:spcPct val="100000"/>
              </a:lnSpc>
              <a:buFont typeface="Arial MT"/>
              <a:buChar char="•"/>
              <a:tabLst>
                <a:tab pos="320675" algn="l"/>
              </a:tabLst>
            </a:pPr>
            <a:r>
              <a:rPr sz="1800">
                <a:latin typeface="Calibri"/>
                <a:cs typeface="Calibri"/>
              </a:rPr>
              <a:t>If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25">
                <a:latin typeface="Calibri"/>
                <a:cs typeface="Calibri"/>
              </a:rPr>
              <a:t>p-</a:t>
            </a:r>
            <a:r>
              <a:rPr sz="1800">
                <a:latin typeface="Calibri"/>
                <a:cs typeface="Calibri"/>
              </a:rPr>
              <a:t>value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is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greater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than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alpha,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we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do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25">
                <a:latin typeface="Calibri"/>
                <a:cs typeface="Calibri"/>
              </a:rPr>
              <a:t>not</a:t>
            </a:r>
            <a:endParaRPr sz="1800">
              <a:latin typeface="Calibri"/>
              <a:cs typeface="Calibri"/>
            </a:endParaRPr>
          </a:p>
          <a:p>
            <a:pPr marL="321310">
              <a:lnSpc>
                <a:spcPct val="100000"/>
              </a:lnSpc>
              <a:spcBef>
                <a:spcPts val="320"/>
              </a:spcBef>
            </a:pPr>
            <a:r>
              <a:rPr sz="1800">
                <a:latin typeface="Calibri"/>
                <a:cs typeface="Calibri"/>
              </a:rPr>
              <a:t>reject</a:t>
            </a:r>
            <a:r>
              <a:rPr sz="1800" spc="-6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6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null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hypothesis.</a:t>
            </a:r>
            <a:endParaRPr sz="1800">
              <a:latin typeface="Calibri"/>
              <a:cs typeface="Calibri"/>
            </a:endParaRPr>
          </a:p>
          <a:p>
            <a:pPr marL="321310" marR="76200" indent="-309245">
              <a:lnSpc>
                <a:spcPct val="114999"/>
              </a:lnSpc>
              <a:spcBef>
                <a:spcPts val="1000"/>
              </a:spcBef>
              <a:buFont typeface="Arial MT"/>
              <a:buChar char="•"/>
              <a:tabLst>
                <a:tab pos="321310" algn="l"/>
              </a:tabLst>
            </a:pPr>
            <a:r>
              <a:rPr sz="1800">
                <a:latin typeface="Calibri"/>
                <a:cs typeface="Calibri"/>
              </a:rPr>
              <a:t>If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25">
                <a:latin typeface="Calibri"/>
                <a:cs typeface="Calibri"/>
              </a:rPr>
              <a:t>p-</a:t>
            </a:r>
            <a:r>
              <a:rPr sz="1800">
                <a:latin typeface="Calibri"/>
                <a:cs typeface="Calibri"/>
              </a:rPr>
              <a:t>value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is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smaller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than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alpha,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reject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null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hypothesis.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4343400" y="1352550"/>
            <a:ext cx="4643475" cy="28384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76</a:t>
            </a:fld>
            <a:endParaRPr spc="-25"/>
          </a:p>
        </p:txBody>
      </p:sp>
      <p:sp>
        <p:nvSpPr>
          <p:cNvPr id="7" name="object 7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131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00"/>
              </a:spcBef>
            </a:pPr>
            <a:r>
              <a:rPr sz="2800" spc="-10"/>
              <a:t>Process</a:t>
            </a:r>
            <a:r>
              <a:rPr sz="2800" spc="-65"/>
              <a:t> </a:t>
            </a:r>
            <a:r>
              <a:rPr sz="2800"/>
              <a:t>of</a:t>
            </a:r>
            <a:r>
              <a:rPr sz="2800" spc="-60"/>
              <a:t> </a:t>
            </a:r>
            <a:r>
              <a:rPr sz="2800" spc="-10"/>
              <a:t>Hypothesis</a:t>
            </a:r>
            <a:r>
              <a:rPr sz="2800" spc="-60"/>
              <a:t> </a:t>
            </a:r>
            <a:r>
              <a:rPr sz="2800" spc="-10"/>
              <a:t>Testing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77116" y="788140"/>
            <a:ext cx="3583304" cy="357187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482600" marR="178435" indent="-470534" algn="just">
              <a:lnSpc>
                <a:spcPct val="81100"/>
              </a:lnSpc>
              <a:spcBef>
                <a:spcPts val="450"/>
              </a:spcBef>
              <a:buSzPct val="109523"/>
              <a:buFont typeface="Arial MT"/>
              <a:buAutoNum type="arabicPeriod"/>
              <a:tabLst>
                <a:tab pos="484505" algn="l"/>
              </a:tabLst>
            </a:pPr>
            <a:r>
              <a:rPr sz="2100">
                <a:latin typeface="Calibri"/>
                <a:cs typeface="Calibri"/>
              </a:rPr>
              <a:t>Set</a:t>
            </a:r>
            <a:r>
              <a:rPr sz="2100" spc="1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up</a:t>
            </a:r>
            <a:r>
              <a:rPr sz="2100" spc="2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Null</a:t>
            </a:r>
            <a:r>
              <a:rPr sz="2100" spc="2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hypothesis</a:t>
            </a:r>
            <a:r>
              <a:rPr sz="2100" spc="20">
                <a:latin typeface="Calibri"/>
                <a:cs typeface="Calibri"/>
              </a:rPr>
              <a:t> </a:t>
            </a:r>
            <a:r>
              <a:rPr sz="2100" spc="-25">
                <a:latin typeface="Calibri"/>
                <a:cs typeface="Calibri"/>
              </a:rPr>
              <a:t>and 	</a:t>
            </a:r>
            <a:r>
              <a:rPr sz="2100">
                <a:latin typeface="Calibri"/>
                <a:cs typeface="Calibri"/>
              </a:rPr>
              <a:t>Alternate</a:t>
            </a:r>
            <a:r>
              <a:rPr sz="2100" spc="-15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hypothesis.</a:t>
            </a:r>
            <a:endParaRPr sz="2100">
              <a:latin typeface="Calibri"/>
              <a:cs typeface="Calibri"/>
            </a:endParaRPr>
          </a:p>
          <a:p>
            <a:pPr marL="483234" indent="-470534" algn="just">
              <a:lnSpc>
                <a:spcPts val="1975"/>
              </a:lnSpc>
              <a:buSzPct val="109523"/>
              <a:buFont typeface="Arial MT"/>
              <a:buAutoNum type="arabicPeriod"/>
              <a:tabLst>
                <a:tab pos="483234" algn="l"/>
              </a:tabLst>
            </a:pPr>
            <a:r>
              <a:rPr sz="2100">
                <a:latin typeface="Calibri"/>
                <a:cs typeface="Calibri"/>
              </a:rPr>
              <a:t>Decide</a:t>
            </a:r>
            <a:r>
              <a:rPr sz="2100" spc="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the</a:t>
            </a:r>
            <a:r>
              <a:rPr sz="2100" spc="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level</a:t>
            </a:r>
            <a:r>
              <a:rPr sz="2100" spc="10">
                <a:latin typeface="Calibri"/>
                <a:cs typeface="Calibri"/>
              </a:rPr>
              <a:t> </a:t>
            </a:r>
            <a:r>
              <a:rPr sz="2100" spc="-25">
                <a:latin typeface="Calibri"/>
                <a:cs typeface="Calibri"/>
              </a:rPr>
              <a:t>of</a:t>
            </a:r>
            <a:endParaRPr sz="2100">
              <a:latin typeface="Calibri"/>
              <a:cs typeface="Calibri"/>
            </a:endParaRPr>
          </a:p>
          <a:p>
            <a:pPr marL="484505" algn="just">
              <a:lnSpc>
                <a:spcPts val="2005"/>
              </a:lnSpc>
            </a:pPr>
            <a:r>
              <a:rPr sz="2100">
                <a:latin typeface="Calibri"/>
                <a:cs typeface="Calibri"/>
              </a:rPr>
              <a:t>significance</a:t>
            </a:r>
            <a:r>
              <a:rPr sz="2100" spc="1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(1%</a:t>
            </a:r>
            <a:r>
              <a:rPr sz="2100" spc="1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or</a:t>
            </a:r>
            <a:r>
              <a:rPr sz="2100" spc="15">
                <a:latin typeface="Calibri"/>
                <a:cs typeface="Calibri"/>
              </a:rPr>
              <a:t> </a:t>
            </a:r>
            <a:r>
              <a:rPr sz="2100" spc="-20">
                <a:latin typeface="Calibri"/>
                <a:cs typeface="Calibri"/>
              </a:rPr>
              <a:t>5%).</a:t>
            </a:r>
            <a:endParaRPr sz="2100">
              <a:latin typeface="Calibri"/>
              <a:cs typeface="Calibri"/>
            </a:endParaRPr>
          </a:p>
          <a:p>
            <a:pPr marL="482600" marR="802005" indent="-470534" algn="just">
              <a:lnSpc>
                <a:spcPct val="81100"/>
              </a:lnSpc>
              <a:spcBef>
                <a:spcPts val="245"/>
              </a:spcBef>
              <a:buSzPct val="109523"/>
              <a:buFont typeface="Arial MT"/>
              <a:buAutoNum type="arabicPeriod" startAt="3"/>
              <a:tabLst>
                <a:tab pos="484505" algn="l"/>
              </a:tabLst>
            </a:pPr>
            <a:r>
              <a:rPr sz="2100">
                <a:latin typeface="Calibri"/>
                <a:cs typeface="Calibri"/>
              </a:rPr>
              <a:t>Select the</a:t>
            </a:r>
            <a:r>
              <a:rPr sz="2100" spc="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test</a:t>
            </a:r>
            <a:r>
              <a:rPr sz="2100" spc="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as</a:t>
            </a:r>
            <a:r>
              <a:rPr sz="2100" spc="10">
                <a:latin typeface="Calibri"/>
                <a:cs typeface="Calibri"/>
              </a:rPr>
              <a:t> </a:t>
            </a:r>
            <a:r>
              <a:rPr sz="2100" spc="-25">
                <a:latin typeface="Calibri"/>
                <a:cs typeface="Calibri"/>
              </a:rPr>
              <a:t>per 	</a:t>
            </a:r>
            <a:r>
              <a:rPr sz="2100" spc="-10">
                <a:latin typeface="Calibri"/>
                <a:cs typeface="Calibri"/>
              </a:rPr>
              <a:t>requirement.</a:t>
            </a:r>
            <a:endParaRPr sz="2100">
              <a:latin typeface="Calibri"/>
              <a:cs typeface="Calibri"/>
            </a:endParaRPr>
          </a:p>
          <a:p>
            <a:pPr marL="483234" indent="-470534" algn="just">
              <a:lnSpc>
                <a:spcPts val="1939"/>
              </a:lnSpc>
              <a:buSzPct val="109523"/>
              <a:buFont typeface="Arial MT"/>
              <a:buAutoNum type="arabicPeriod" startAt="3"/>
              <a:tabLst>
                <a:tab pos="483234" algn="l"/>
              </a:tabLst>
            </a:pPr>
            <a:r>
              <a:rPr sz="2100">
                <a:latin typeface="Calibri"/>
                <a:cs typeface="Calibri"/>
              </a:rPr>
              <a:t>Calculate</a:t>
            </a:r>
            <a:r>
              <a:rPr sz="2100" spc="2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the</a:t>
            </a:r>
            <a:r>
              <a:rPr sz="2100" spc="25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p-value.</a:t>
            </a:r>
            <a:endParaRPr sz="2100">
              <a:latin typeface="Calibri"/>
              <a:cs typeface="Calibri"/>
            </a:endParaRPr>
          </a:p>
          <a:p>
            <a:pPr marL="482600" marR="165100" indent="-470534" algn="just">
              <a:lnSpc>
                <a:spcPct val="81100"/>
              </a:lnSpc>
              <a:spcBef>
                <a:spcPts val="245"/>
              </a:spcBef>
              <a:buSzPct val="109523"/>
              <a:buFont typeface="Arial MT"/>
              <a:buAutoNum type="arabicPeriod" startAt="3"/>
              <a:tabLst>
                <a:tab pos="484505" algn="l"/>
              </a:tabLst>
            </a:pPr>
            <a:r>
              <a:rPr sz="2100">
                <a:latin typeface="Calibri"/>
                <a:cs typeface="Calibri"/>
              </a:rPr>
              <a:t>If </a:t>
            </a:r>
            <a:r>
              <a:rPr sz="2100" spc="-10">
                <a:latin typeface="Calibri"/>
                <a:cs typeface="Calibri"/>
              </a:rPr>
              <a:t>p-</a:t>
            </a:r>
            <a:r>
              <a:rPr sz="2100">
                <a:latin typeface="Calibri"/>
                <a:cs typeface="Calibri"/>
              </a:rPr>
              <a:t>value less than</a:t>
            </a:r>
            <a:r>
              <a:rPr sz="2100" spc="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level </a:t>
            </a:r>
            <a:r>
              <a:rPr sz="2100" spc="-25">
                <a:latin typeface="Calibri"/>
                <a:cs typeface="Calibri"/>
              </a:rPr>
              <a:t>of 	</a:t>
            </a:r>
            <a:r>
              <a:rPr sz="2100">
                <a:latin typeface="Calibri"/>
                <a:cs typeface="Calibri"/>
              </a:rPr>
              <a:t>significance,</a:t>
            </a:r>
            <a:r>
              <a:rPr sz="2100" spc="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reject</a:t>
            </a:r>
            <a:r>
              <a:rPr sz="2100" spc="1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the</a:t>
            </a:r>
            <a:r>
              <a:rPr sz="2100" spc="15">
                <a:latin typeface="Calibri"/>
                <a:cs typeface="Calibri"/>
              </a:rPr>
              <a:t> </a:t>
            </a:r>
            <a:r>
              <a:rPr sz="2100" spc="-20">
                <a:latin typeface="Calibri"/>
                <a:cs typeface="Calibri"/>
              </a:rPr>
              <a:t>null 	</a:t>
            </a:r>
            <a:r>
              <a:rPr sz="2100" spc="-10">
                <a:latin typeface="Calibri"/>
                <a:cs typeface="Calibri"/>
              </a:rPr>
              <a:t>hypothesis.</a:t>
            </a:r>
            <a:endParaRPr sz="2100">
              <a:latin typeface="Calibri"/>
              <a:cs typeface="Calibri"/>
            </a:endParaRPr>
          </a:p>
          <a:p>
            <a:pPr marL="483234" indent="-470534" algn="just">
              <a:lnSpc>
                <a:spcPts val="1975"/>
              </a:lnSpc>
              <a:buSzPct val="109523"/>
              <a:buFont typeface="Arial MT"/>
              <a:buAutoNum type="arabicPeriod" startAt="3"/>
              <a:tabLst>
                <a:tab pos="483234" algn="l"/>
              </a:tabLst>
            </a:pPr>
            <a:r>
              <a:rPr sz="2100">
                <a:latin typeface="Calibri"/>
                <a:cs typeface="Calibri"/>
              </a:rPr>
              <a:t>If </a:t>
            </a:r>
            <a:r>
              <a:rPr sz="2100" spc="-10">
                <a:latin typeface="Calibri"/>
                <a:cs typeface="Calibri"/>
              </a:rPr>
              <a:t>p-</a:t>
            </a:r>
            <a:r>
              <a:rPr sz="2100">
                <a:latin typeface="Calibri"/>
                <a:cs typeface="Calibri"/>
              </a:rPr>
              <a:t>value more than</a:t>
            </a:r>
            <a:r>
              <a:rPr sz="2100" spc="5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level</a:t>
            </a:r>
            <a:r>
              <a:rPr sz="2100" spc="5">
                <a:latin typeface="Calibri"/>
                <a:cs typeface="Calibri"/>
              </a:rPr>
              <a:t> </a:t>
            </a:r>
            <a:r>
              <a:rPr sz="2100" spc="-25">
                <a:latin typeface="Calibri"/>
                <a:cs typeface="Calibri"/>
              </a:rPr>
              <a:t>of</a:t>
            </a:r>
            <a:endParaRPr sz="2100">
              <a:latin typeface="Calibri"/>
              <a:cs typeface="Calibri"/>
            </a:endParaRPr>
          </a:p>
          <a:p>
            <a:pPr marL="484505" marR="69850" algn="just">
              <a:lnSpc>
                <a:spcPts val="2039"/>
              </a:lnSpc>
              <a:spcBef>
                <a:spcPts val="229"/>
              </a:spcBef>
            </a:pPr>
            <a:r>
              <a:rPr sz="2100">
                <a:latin typeface="Calibri"/>
                <a:cs typeface="Calibri"/>
              </a:rPr>
              <a:t>significance,</a:t>
            </a:r>
            <a:r>
              <a:rPr sz="2100" spc="3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accept</a:t>
            </a:r>
            <a:r>
              <a:rPr sz="2100" spc="20">
                <a:latin typeface="Calibri"/>
                <a:cs typeface="Calibri"/>
              </a:rPr>
              <a:t> </a:t>
            </a:r>
            <a:r>
              <a:rPr sz="2100">
                <a:latin typeface="Calibri"/>
                <a:cs typeface="Calibri"/>
              </a:rPr>
              <a:t>the</a:t>
            </a:r>
            <a:r>
              <a:rPr sz="2100" spc="25">
                <a:latin typeface="Calibri"/>
                <a:cs typeface="Calibri"/>
              </a:rPr>
              <a:t> </a:t>
            </a:r>
            <a:r>
              <a:rPr sz="2100" spc="-20">
                <a:latin typeface="Calibri"/>
                <a:cs typeface="Calibri"/>
              </a:rPr>
              <a:t>null </a:t>
            </a:r>
            <a:r>
              <a:rPr sz="2100" spc="-10">
                <a:latin typeface="Calibri"/>
                <a:cs typeface="Calibri"/>
              </a:rPr>
              <a:t>hypothesis.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4132400" y="984588"/>
            <a:ext cx="4748599" cy="30675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788203" y="4885293"/>
            <a:ext cx="28257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000" spc="-25">
                <a:solidFill>
                  <a:srgbClr val="FFFFFF"/>
                </a:solidFill>
                <a:latin typeface="Calibri"/>
                <a:cs typeface="Calibri"/>
              </a:rPr>
              <a:t>78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799" y="135478"/>
            <a:ext cx="42189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Types</a:t>
            </a:r>
            <a:r>
              <a:rPr spc="-85"/>
              <a:t> </a:t>
            </a:r>
            <a:r>
              <a:rPr/>
              <a:t>of</a:t>
            </a:r>
            <a:r>
              <a:rPr spc="-85"/>
              <a:t> </a:t>
            </a:r>
            <a:r>
              <a:rPr spc="-10"/>
              <a:t>Hypothesis</a:t>
            </a:r>
            <a:r>
              <a:rPr spc="-80"/>
              <a:t> </a:t>
            </a:r>
            <a:r>
              <a:rPr spc="-10"/>
              <a:t>Tests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0037" y="1210311"/>
            <a:ext cx="7795259" cy="193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marR="5080" indent="-27368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 MT"/>
              <a:buChar char="•"/>
              <a:tabLst>
                <a:tab pos="285750" algn="l"/>
              </a:tabLst>
            </a:pPr>
            <a:r>
              <a:rPr sz="3000" spc="-10">
                <a:solidFill>
                  <a:srgbClr val="F69646"/>
                </a:solidFill>
                <a:latin typeface="Calibri"/>
                <a:cs typeface="Calibri"/>
              </a:rPr>
              <a:t>Parametric</a:t>
            </a:r>
            <a:r>
              <a:rPr sz="3000" spc="-85">
                <a:solidFill>
                  <a:srgbClr val="F69646"/>
                </a:solidFill>
                <a:latin typeface="Calibri"/>
                <a:cs typeface="Calibri"/>
              </a:rPr>
              <a:t> </a:t>
            </a:r>
            <a:r>
              <a:rPr sz="3000" spc="-55">
                <a:solidFill>
                  <a:srgbClr val="F69646"/>
                </a:solidFill>
                <a:latin typeface="Calibri"/>
                <a:cs typeface="Calibri"/>
              </a:rPr>
              <a:t>Tests:-</a:t>
            </a:r>
            <a:r>
              <a:rPr sz="3000">
                <a:latin typeface="Calibri"/>
                <a:cs typeface="Calibri"/>
              </a:rPr>
              <a:t>Those</a:t>
            </a:r>
            <a:r>
              <a:rPr sz="3000" spc="-80">
                <a:latin typeface="Calibri"/>
                <a:cs typeface="Calibri"/>
              </a:rPr>
              <a:t> </a:t>
            </a:r>
            <a:r>
              <a:rPr sz="3000">
                <a:latin typeface="Calibri"/>
                <a:cs typeface="Calibri"/>
              </a:rPr>
              <a:t>test</a:t>
            </a:r>
            <a:r>
              <a:rPr sz="3000" spc="-80">
                <a:latin typeface="Calibri"/>
                <a:cs typeface="Calibri"/>
              </a:rPr>
              <a:t> </a:t>
            </a:r>
            <a:r>
              <a:rPr sz="3000">
                <a:latin typeface="Calibri"/>
                <a:cs typeface="Calibri"/>
              </a:rPr>
              <a:t>which</a:t>
            </a:r>
            <a:r>
              <a:rPr sz="3000" spc="-85">
                <a:latin typeface="Calibri"/>
                <a:cs typeface="Calibri"/>
              </a:rPr>
              <a:t> </a:t>
            </a:r>
            <a:r>
              <a:rPr sz="3000" spc="-10">
                <a:latin typeface="Calibri"/>
                <a:cs typeface="Calibri"/>
              </a:rPr>
              <a:t>considers</a:t>
            </a:r>
            <a:r>
              <a:rPr sz="3000" spc="-80">
                <a:latin typeface="Calibri"/>
                <a:cs typeface="Calibri"/>
              </a:rPr>
              <a:t> </a:t>
            </a:r>
            <a:r>
              <a:rPr sz="3000" spc="-25">
                <a:latin typeface="Calibri"/>
                <a:cs typeface="Calibri"/>
              </a:rPr>
              <a:t>the </a:t>
            </a:r>
            <a:r>
              <a:rPr sz="3000">
                <a:latin typeface="Calibri"/>
                <a:cs typeface="Calibri"/>
              </a:rPr>
              <a:t>shape</a:t>
            </a:r>
            <a:r>
              <a:rPr sz="3000" spc="-60">
                <a:latin typeface="Calibri"/>
                <a:cs typeface="Calibri"/>
              </a:rPr>
              <a:t> </a:t>
            </a:r>
            <a:r>
              <a:rPr sz="3000">
                <a:latin typeface="Calibri"/>
                <a:cs typeface="Calibri"/>
              </a:rPr>
              <a:t>of</a:t>
            </a:r>
            <a:r>
              <a:rPr sz="3000" spc="-45">
                <a:latin typeface="Calibri"/>
                <a:cs typeface="Calibri"/>
              </a:rPr>
              <a:t> </a:t>
            </a:r>
            <a:r>
              <a:rPr sz="3000">
                <a:latin typeface="Calibri"/>
                <a:cs typeface="Calibri"/>
              </a:rPr>
              <a:t>distribution</a:t>
            </a:r>
            <a:r>
              <a:rPr sz="3000" spc="-45">
                <a:latin typeface="Calibri"/>
                <a:cs typeface="Calibri"/>
              </a:rPr>
              <a:t> </a:t>
            </a:r>
            <a:r>
              <a:rPr sz="3000">
                <a:latin typeface="Calibri"/>
                <a:cs typeface="Calibri"/>
              </a:rPr>
              <a:t>of</a:t>
            </a:r>
            <a:r>
              <a:rPr sz="3000" spc="-45">
                <a:latin typeface="Calibri"/>
                <a:cs typeface="Calibri"/>
              </a:rPr>
              <a:t> </a:t>
            </a:r>
            <a:r>
              <a:rPr sz="3000" spc="-10">
                <a:latin typeface="Calibri"/>
                <a:cs typeface="Calibri"/>
              </a:rPr>
              <a:t>sample.</a:t>
            </a:r>
            <a:endParaRPr sz="3000">
              <a:latin typeface="Calibri"/>
              <a:cs typeface="Calibri"/>
            </a:endParaRPr>
          </a:p>
          <a:p>
            <a:pPr marL="285750" marR="42545" indent="-273685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 MT"/>
              <a:buChar char="•"/>
              <a:tabLst>
                <a:tab pos="285750" algn="l"/>
              </a:tabLst>
            </a:pPr>
            <a:r>
              <a:rPr sz="3000">
                <a:solidFill>
                  <a:srgbClr val="F69646"/>
                </a:solidFill>
                <a:latin typeface="Calibri"/>
                <a:cs typeface="Calibri"/>
              </a:rPr>
              <a:t>Non</a:t>
            </a:r>
            <a:r>
              <a:rPr sz="3000" spc="-60">
                <a:solidFill>
                  <a:srgbClr val="F69646"/>
                </a:solidFill>
                <a:latin typeface="Calibri"/>
                <a:cs typeface="Calibri"/>
              </a:rPr>
              <a:t> </a:t>
            </a:r>
            <a:r>
              <a:rPr sz="3000">
                <a:solidFill>
                  <a:srgbClr val="F69646"/>
                </a:solidFill>
                <a:latin typeface="Calibri"/>
                <a:cs typeface="Calibri"/>
              </a:rPr>
              <a:t>–</a:t>
            </a:r>
            <a:r>
              <a:rPr sz="3000" spc="-55">
                <a:solidFill>
                  <a:srgbClr val="F69646"/>
                </a:solidFill>
                <a:latin typeface="Calibri"/>
                <a:cs typeface="Calibri"/>
              </a:rPr>
              <a:t> </a:t>
            </a:r>
            <a:r>
              <a:rPr sz="3000" spc="-10">
                <a:solidFill>
                  <a:srgbClr val="F69646"/>
                </a:solidFill>
                <a:latin typeface="Calibri"/>
                <a:cs typeface="Calibri"/>
              </a:rPr>
              <a:t>Parametric</a:t>
            </a:r>
            <a:r>
              <a:rPr sz="3000" spc="-60">
                <a:solidFill>
                  <a:srgbClr val="F69646"/>
                </a:solidFill>
                <a:latin typeface="Calibri"/>
                <a:cs typeface="Calibri"/>
              </a:rPr>
              <a:t> </a:t>
            </a:r>
            <a:r>
              <a:rPr sz="3000" spc="-55">
                <a:solidFill>
                  <a:srgbClr val="F69646"/>
                </a:solidFill>
                <a:latin typeface="Calibri"/>
                <a:cs typeface="Calibri"/>
              </a:rPr>
              <a:t>Tests:-</a:t>
            </a:r>
            <a:r>
              <a:rPr sz="3000">
                <a:latin typeface="Calibri"/>
                <a:cs typeface="Calibri"/>
              </a:rPr>
              <a:t>Those</a:t>
            </a:r>
            <a:r>
              <a:rPr sz="3000" spc="-55">
                <a:latin typeface="Calibri"/>
                <a:cs typeface="Calibri"/>
              </a:rPr>
              <a:t> </a:t>
            </a:r>
            <a:r>
              <a:rPr sz="3000">
                <a:latin typeface="Calibri"/>
                <a:cs typeface="Calibri"/>
              </a:rPr>
              <a:t>test</a:t>
            </a:r>
            <a:r>
              <a:rPr sz="3000" spc="-55">
                <a:latin typeface="Calibri"/>
                <a:cs typeface="Calibri"/>
              </a:rPr>
              <a:t> </a:t>
            </a:r>
            <a:r>
              <a:rPr sz="3000">
                <a:latin typeface="Calibri"/>
                <a:cs typeface="Calibri"/>
              </a:rPr>
              <a:t>which</a:t>
            </a:r>
            <a:r>
              <a:rPr sz="3000" spc="-60">
                <a:latin typeface="Calibri"/>
                <a:cs typeface="Calibri"/>
              </a:rPr>
              <a:t> </a:t>
            </a:r>
            <a:r>
              <a:rPr sz="3000">
                <a:latin typeface="Calibri"/>
                <a:cs typeface="Calibri"/>
              </a:rPr>
              <a:t>do</a:t>
            </a:r>
            <a:r>
              <a:rPr sz="3000" spc="-55">
                <a:latin typeface="Calibri"/>
                <a:cs typeface="Calibri"/>
              </a:rPr>
              <a:t> </a:t>
            </a:r>
            <a:r>
              <a:rPr sz="3000" spc="-25">
                <a:latin typeface="Calibri"/>
                <a:cs typeface="Calibri"/>
              </a:rPr>
              <a:t>not </a:t>
            </a:r>
            <a:r>
              <a:rPr sz="3000" spc="-10">
                <a:latin typeface="Calibri"/>
                <a:cs typeface="Calibri"/>
              </a:rPr>
              <a:t>considers</a:t>
            </a:r>
            <a:r>
              <a:rPr sz="3000" spc="-60">
                <a:latin typeface="Calibri"/>
                <a:cs typeface="Calibri"/>
              </a:rPr>
              <a:t> </a:t>
            </a:r>
            <a:r>
              <a:rPr sz="3000">
                <a:latin typeface="Calibri"/>
                <a:cs typeface="Calibri"/>
              </a:rPr>
              <a:t>the</a:t>
            </a:r>
            <a:r>
              <a:rPr sz="3000" spc="-55">
                <a:latin typeface="Calibri"/>
                <a:cs typeface="Calibri"/>
              </a:rPr>
              <a:t> </a:t>
            </a:r>
            <a:r>
              <a:rPr sz="3000">
                <a:latin typeface="Calibri"/>
                <a:cs typeface="Calibri"/>
              </a:rPr>
              <a:t>shape</a:t>
            </a:r>
            <a:r>
              <a:rPr sz="3000" spc="-55">
                <a:latin typeface="Calibri"/>
                <a:cs typeface="Calibri"/>
              </a:rPr>
              <a:t> </a:t>
            </a:r>
            <a:r>
              <a:rPr sz="3000">
                <a:latin typeface="Calibri"/>
                <a:cs typeface="Calibri"/>
              </a:rPr>
              <a:t>of</a:t>
            </a:r>
            <a:r>
              <a:rPr sz="3000" spc="-55">
                <a:latin typeface="Calibri"/>
                <a:cs typeface="Calibri"/>
              </a:rPr>
              <a:t> </a:t>
            </a:r>
            <a:r>
              <a:rPr sz="3000">
                <a:latin typeface="Calibri"/>
                <a:cs typeface="Calibri"/>
              </a:rPr>
              <a:t>distribution</a:t>
            </a:r>
            <a:r>
              <a:rPr sz="3000" spc="-55">
                <a:latin typeface="Calibri"/>
                <a:cs typeface="Calibri"/>
              </a:rPr>
              <a:t> </a:t>
            </a:r>
            <a:r>
              <a:rPr sz="3000">
                <a:latin typeface="Calibri"/>
                <a:cs typeface="Calibri"/>
              </a:rPr>
              <a:t>of</a:t>
            </a:r>
            <a:r>
              <a:rPr sz="3000" spc="-55">
                <a:latin typeface="Calibri"/>
                <a:cs typeface="Calibri"/>
              </a:rPr>
              <a:t> </a:t>
            </a:r>
            <a:r>
              <a:rPr sz="3000" spc="-10">
                <a:latin typeface="Calibri"/>
                <a:cs typeface="Calibri"/>
              </a:rPr>
              <a:t>sample.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78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02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0"/>
              </a:spcBef>
            </a:pPr>
            <a:r>
              <a:rPr spc="-10"/>
              <a:t>Applications</a:t>
            </a:r>
            <a:r>
              <a:rPr spc="-85"/>
              <a:t> </a:t>
            </a:r>
            <a:r>
              <a:rPr/>
              <a:t>of</a:t>
            </a:r>
            <a:r>
              <a:rPr spc="-85"/>
              <a:t> </a:t>
            </a:r>
            <a:r>
              <a:rPr spc="-10"/>
              <a:t>Hypothesis</a:t>
            </a:r>
            <a:r>
              <a:rPr spc="-85"/>
              <a:t> </a:t>
            </a:r>
            <a:r>
              <a:rPr spc="-10"/>
              <a:t>Testing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0037" y="1129030"/>
            <a:ext cx="4845685" cy="217932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740"/>
              </a:spcBef>
              <a:buClr>
                <a:srgbClr val="000000"/>
              </a:buClr>
              <a:buFont typeface="Arial MT"/>
              <a:buChar char="•"/>
              <a:tabLst>
                <a:tab pos="285750" algn="l"/>
              </a:tabLst>
            </a:pPr>
            <a:r>
              <a:rPr sz="3000">
                <a:solidFill>
                  <a:srgbClr val="F69646"/>
                </a:solidFill>
                <a:latin typeface="Calibri"/>
                <a:cs typeface="Calibri"/>
              </a:rPr>
              <a:t>Feature</a:t>
            </a:r>
            <a:r>
              <a:rPr sz="3000" spc="-135">
                <a:solidFill>
                  <a:srgbClr val="F69646"/>
                </a:solidFill>
                <a:latin typeface="Calibri"/>
                <a:cs typeface="Calibri"/>
              </a:rPr>
              <a:t> </a:t>
            </a:r>
            <a:r>
              <a:rPr sz="3000" spc="-10">
                <a:solidFill>
                  <a:srgbClr val="F69646"/>
                </a:solidFill>
                <a:latin typeface="Calibri"/>
                <a:cs typeface="Calibri"/>
              </a:rPr>
              <a:t>Selection</a:t>
            </a:r>
            <a:endParaRPr sz="3000">
              <a:latin typeface="Calibri"/>
              <a:cs typeface="Calibri"/>
            </a:endParaRPr>
          </a:p>
          <a:p>
            <a:pPr marL="285750" indent="-27305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 MT"/>
              <a:buChar char="•"/>
              <a:tabLst>
                <a:tab pos="285750" algn="l"/>
              </a:tabLst>
            </a:pPr>
            <a:r>
              <a:rPr sz="3000">
                <a:solidFill>
                  <a:srgbClr val="F69646"/>
                </a:solidFill>
                <a:latin typeface="Calibri"/>
                <a:cs typeface="Calibri"/>
              </a:rPr>
              <a:t>Model</a:t>
            </a:r>
            <a:r>
              <a:rPr sz="3000" spc="-75">
                <a:solidFill>
                  <a:srgbClr val="F69646"/>
                </a:solidFill>
                <a:latin typeface="Calibri"/>
                <a:cs typeface="Calibri"/>
              </a:rPr>
              <a:t> </a:t>
            </a:r>
            <a:r>
              <a:rPr sz="3000">
                <a:solidFill>
                  <a:srgbClr val="F69646"/>
                </a:solidFill>
                <a:latin typeface="Calibri"/>
                <a:cs typeface="Calibri"/>
              </a:rPr>
              <a:t>Evaluation</a:t>
            </a:r>
            <a:r>
              <a:rPr sz="3000" spc="-70">
                <a:solidFill>
                  <a:srgbClr val="F69646"/>
                </a:solidFill>
                <a:latin typeface="Calibri"/>
                <a:cs typeface="Calibri"/>
              </a:rPr>
              <a:t> </a:t>
            </a:r>
            <a:r>
              <a:rPr sz="3000">
                <a:solidFill>
                  <a:srgbClr val="F69646"/>
                </a:solidFill>
                <a:latin typeface="Calibri"/>
                <a:cs typeface="Calibri"/>
              </a:rPr>
              <a:t>&amp;</a:t>
            </a:r>
            <a:r>
              <a:rPr sz="3000" spc="-75">
                <a:solidFill>
                  <a:srgbClr val="F69646"/>
                </a:solidFill>
                <a:latin typeface="Calibri"/>
                <a:cs typeface="Calibri"/>
              </a:rPr>
              <a:t> </a:t>
            </a:r>
            <a:r>
              <a:rPr sz="3000" spc="-10">
                <a:solidFill>
                  <a:srgbClr val="F69646"/>
                </a:solidFill>
                <a:latin typeface="Calibri"/>
                <a:cs typeface="Calibri"/>
              </a:rPr>
              <a:t>Selection</a:t>
            </a:r>
            <a:endParaRPr sz="3000">
              <a:latin typeface="Calibri"/>
              <a:cs typeface="Calibri"/>
            </a:endParaRPr>
          </a:p>
          <a:p>
            <a:pPr marL="285750" indent="-27305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 MT"/>
              <a:buChar char="•"/>
              <a:tabLst>
                <a:tab pos="285750" algn="l"/>
              </a:tabLst>
            </a:pPr>
            <a:r>
              <a:rPr sz="3000">
                <a:solidFill>
                  <a:srgbClr val="F69646"/>
                </a:solidFill>
                <a:latin typeface="Calibri"/>
                <a:cs typeface="Calibri"/>
              </a:rPr>
              <a:t>Hyper</a:t>
            </a:r>
            <a:r>
              <a:rPr sz="3000" spc="-85">
                <a:solidFill>
                  <a:srgbClr val="F69646"/>
                </a:solidFill>
                <a:latin typeface="Calibri"/>
                <a:cs typeface="Calibri"/>
              </a:rPr>
              <a:t> </a:t>
            </a:r>
            <a:r>
              <a:rPr sz="3000" spc="-20">
                <a:solidFill>
                  <a:srgbClr val="F69646"/>
                </a:solidFill>
                <a:latin typeface="Calibri"/>
                <a:cs typeface="Calibri"/>
              </a:rPr>
              <a:t>Parameter</a:t>
            </a:r>
            <a:r>
              <a:rPr sz="3000" spc="-85">
                <a:solidFill>
                  <a:srgbClr val="F69646"/>
                </a:solidFill>
                <a:latin typeface="Calibri"/>
                <a:cs typeface="Calibri"/>
              </a:rPr>
              <a:t> </a:t>
            </a:r>
            <a:r>
              <a:rPr sz="3000" spc="-10">
                <a:solidFill>
                  <a:srgbClr val="F69646"/>
                </a:solidFill>
                <a:latin typeface="Calibri"/>
                <a:cs typeface="Calibri"/>
              </a:rPr>
              <a:t>Tuning</a:t>
            </a:r>
            <a:endParaRPr sz="3000">
              <a:latin typeface="Calibri"/>
              <a:cs typeface="Calibri"/>
            </a:endParaRPr>
          </a:p>
          <a:p>
            <a:pPr marL="285750" indent="-27305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 MT"/>
              <a:buChar char="•"/>
              <a:tabLst>
                <a:tab pos="285750" algn="l"/>
              </a:tabLst>
            </a:pPr>
            <a:r>
              <a:rPr sz="3000">
                <a:solidFill>
                  <a:srgbClr val="F69646"/>
                </a:solidFill>
                <a:latin typeface="Calibri"/>
                <a:cs typeface="Calibri"/>
              </a:rPr>
              <a:t>Anomaly</a:t>
            </a:r>
            <a:r>
              <a:rPr sz="3000" spc="-145">
                <a:solidFill>
                  <a:srgbClr val="F69646"/>
                </a:solidFill>
                <a:latin typeface="Calibri"/>
                <a:cs typeface="Calibri"/>
              </a:rPr>
              <a:t> </a:t>
            </a:r>
            <a:r>
              <a:rPr sz="3000" spc="-10">
                <a:solidFill>
                  <a:srgbClr val="F69646"/>
                </a:solidFill>
                <a:latin typeface="Calibri"/>
                <a:cs typeface="Calibri"/>
              </a:rPr>
              <a:t>Detection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79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538CD4"/>
                </a:solidFill>
              </a:rPr>
              <a:t>Hypothesis</a:t>
            </a:r>
            <a:r>
              <a:rPr spc="-40">
                <a:solidFill>
                  <a:srgbClr val="538CD4"/>
                </a:solidFill>
              </a:rPr>
              <a:t> </a:t>
            </a:r>
            <a:r>
              <a:rPr spc="-60">
                <a:solidFill>
                  <a:srgbClr val="538CD4"/>
                </a:solidFill>
              </a:rPr>
              <a:t>Tests:-</a:t>
            </a:r>
            <a:r>
              <a:rPr spc="-10">
                <a:solidFill>
                  <a:srgbClr val="538CD4"/>
                </a:solidFill>
              </a:rPr>
              <a:t>Parametric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1076" y="1210311"/>
            <a:ext cx="327723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8800" indent="-546100">
              <a:lnSpc>
                <a:spcPct val="100000"/>
              </a:lnSpc>
              <a:spcBef>
                <a:spcPts val="100"/>
              </a:spcBef>
              <a:buFont typeface="Arial MT"/>
              <a:buAutoNum type="arabicPeriod"/>
              <a:tabLst>
                <a:tab pos="558800" algn="l"/>
              </a:tabLst>
            </a:pPr>
            <a:r>
              <a:rPr sz="3000">
                <a:latin typeface="Calibri"/>
                <a:cs typeface="Calibri"/>
              </a:rPr>
              <a:t>Z</a:t>
            </a:r>
            <a:r>
              <a:rPr sz="3000" spc="-5">
                <a:latin typeface="Calibri"/>
                <a:cs typeface="Calibri"/>
              </a:rPr>
              <a:t> </a:t>
            </a:r>
            <a:r>
              <a:rPr sz="3000" spc="-20">
                <a:latin typeface="Calibri"/>
                <a:cs typeface="Calibri"/>
              </a:rPr>
              <a:t>test</a:t>
            </a:r>
            <a:endParaRPr sz="3000">
              <a:latin typeface="Calibri"/>
              <a:cs typeface="Calibri"/>
            </a:endParaRPr>
          </a:p>
          <a:p>
            <a:pPr marL="558800" indent="-546100">
              <a:lnSpc>
                <a:spcPct val="100000"/>
              </a:lnSpc>
              <a:buFont typeface="Arial MT"/>
              <a:buAutoNum type="arabicPeriod"/>
              <a:tabLst>
                <a:tab pos="558800" algn="l"/>
              </a:tabLst>
            </a:pPr>
            <a:r>
              <a:rPr sz="3000" spc="-25">
                <a:latin typeface="Calibri"/>
                <a:cs typeface="Calibri"/>
              </a:rPr>
              <a:t>T/Student’s</a:t>
            </a:r>
            <a:r>
              <a:rPr sz="3000" spc="-55">
                <a:latin typeface="Calibri"/>
                <a:cs typeface="Calibri"/>
              </a:rPr>
              <a:t> </a:t>
            </a:r>
            <a:r>
              <a:rPr sz="3000">
                <a:latin typeface="Calibri"/>
                <a:cs typeface="Calibri"/>
              </a:rPr>
              <a:t>T</a:t>
            </a:r>
            <a:r>
              <a:rPr sz="3000" spc="-55">
                <a:latin typeface="Calibri"/>
                <a:cs typeface="Calibri"/>
              </a:rPr>
              <a:t> </a:t>
            </a:r>
            <a:r>
              <a:rPr sz="3000" spc="-20">
                <a:latin typeface="Calibri"/>
                <a:cs typeface="Calibri"/>
              </a:rPr>
              <a:t>test</a:t>
            </a:r>
            <a:endParaRPr sz="3000">
              <a:latin typeface="Calibri"/>
              <a:cs typeface="Calibri"/>
            </a:endParaRPr>
          </a:p>
          <a:p>
            <a:pPr marL="558800" indent="-546100">
              <a:lnSpc>
                <a:spcPct val="100000"/>
              </a:lnSpc>
              <a:buFont typeface="Arial MT"/>
              <a:buAutoNum type="arabicPeriod"/>
              <a:tabLst>
                <a:tab pos="558800" algn="l"/>
              </a:tabLst>
            </a:pPr>
            <a:r>
              <a:rPr sz="3000" spc="-10">
                <a:latin typeface="Calibri"/>
                <a:cs typeface="Calibri"/>
              </a:rPr>
              <a:t>Paired</a:t>
            </a:r>
            <a:r>
              <a:rPr sz="3000" spc="-65">
                <a:latin typeface="Calibri"/>
                <a:cs typeface="Calibri"/>
              </a:rPr>
              <a:t> </a:t>
            </a:r>
            <a:r>
              <a:rPr sz="3000">
                <a:latin typeface="Calibri"/>
                <a:cs typeface="Calibri"/>
              </a:rPr>
              <a:t>t</a:t>
            </a:r>
            <a:r>
              <a:rPr sz="3000" spc="-60">
                <a:latin typeface="Calibri"/>
                <a:cs typeface="Calibri"/>
              </a:rPr>
              <a:t> </a:t>
            </a:r>
            <a:r>
              <a:rPr sz="3000" spc="-20">
                <a:latin typeface="Calibri"/>
                <a:cs typeface="Calibri"/>
              </a:rPr>
              <a:t>Test</a:t>
            </a:r>
            <a:endParaRPr sz="3000">
              <a:latin typeface="Calibri"/>
              <a:cs typeface="Calibri"/>
            </a:endParaRPr>
          </a:p>
          <a:p>
            <a:pPr marL="558800" indent="-546100">
              <a:lnSpc>
                <a:spcPct val="100000"/>
              </a:lnSpc>
              <a:buFont typeface="Arial MT"/>
              <a:buAutoNum type="arabicPeriod"/>
              <a:tabLst>
                <a:tab pos="558800" algn="l"/>
              </a:tabLst>
            </a:pPr>
            <a:r>
              <a:rPr sz="3000">
                <a:latin typeface="Calibri"/>
                <a:cs typeface="Calibri"/>
              </a:rPr>
              <a:t>One</a:t>
            </a:r>
            <a:r>
              <a:rPr sz="3000" spc="-65">
                <a:latin typeface="Calibri"/>
                <a:cs typeface="Calibri"/>
              </a:rPr>
              <a:t> </a:t>
            </a:r>
            <a:r>
              <a:rPr sz="3000" spc="-35">
                <a:latin typeface="Calibri"/>
                <a:cs typeface="Calibri"/>
              </a:rPr>
              <a:t>Way</a:t>
            </a:r>
            <a:r>
              <a:rPr sz="3000" spc="-65">
                <a:latin typeface="Calibri"/>
                <a:cs typeface="Calibri"/>
              </a:rPr>
              <a:t> </a:t>
            </a:r>
            <a:r>
              <a:rPr sz="3000" spc="-20">
                <a:latin typeface="Calibri"/>
                <a:cs typeface="Calibri"/>
              </a:rPr>
              <a:t>ANOVA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80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>
                <a:solidFill>
                  <a:srgbClr val="538CD4"/>
                </a:solidFill>
              </a:rPr>
              <a:t>Hypothesis</a:t>
            </a:r>
            <a:r>
              <a:rPr spc="-60">
                <a:solidFill>
                  <a:srgbClr val="538CD4"/>
                </a:solidFill>
              </a:rPr>
              <a:t> </a:t>
            </a:r>
            <a:r>
              <a:rPr spc="-65">
                <a:solidFill>
                  <a:srgbClr val="538CD4"/>
                </a:solidFill>
              </a:rPr>
              <a:t>Tests:-</a:t>
            </a:r>
            <a:r>
              <a:rPr>
                <a:solidFill>
                  <a:srgbClr val="538CD4"/>
                </a:solidFill>
              </a:rPr>
              <a:t>Non</a:t>
            </a:r>
            <a:r>
              <a:rPr spc="-60">
                <a:solidFill>
                  <a:srgbClr val="538CD4"/>
                </a:solidFill>
              </a:rPr>
              <a:t> </a:t>
            </a:r>
            <a:r>
              <a:rPr spc="-10">
                <a:solidFill>
                  <a:srgbClr val="538CD4"/>
                </a:solidFill>
              </a:rPr>
              <a:t>Parametric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151" y="785517"/>
            <a:ext cx="4598035" cy="271780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40"/>
              </a:spcBef>
              <a:buFont typeface="Arial MT"/>
              <a:buAutoNum type="arabicPeriod"/>
              <a:tabLst>
                <a:tab pos="469265" algn="l"/>
              </a:tabLst>
            </a:pPr>
            <a:r>
              <a:rPr sz="3000">
                <a:latin typeface="Calibri"/>
                <a:cs typeface="Calibri"/>
              </a:rPr>
              <a:t>Chi</a:t>
            </a:r>
            <a:r>
              <a:rPr sz="3000" spc="-45">
                <a:latin typeface="Calibri"/>
                <a:cs typeface="Calibri"/>
              </a:rPr>
              <a:t> </a:t>
            </a:r>
            <a:r>
              <a:rPr sz="3000">
                <a:latin typeface="Calibri"/>
                <a:cs typeface="Calibri"/>
              </a:rPr>
              <a:t>Square</a:t>
            </a:r>
            <a:r>
              <a:rPr sz="3000" spc="-40">
                <a:latin typeface="Calibri"/>
                <a:cs typeface="Calibri"/>
              </a:rPr>
              <a:t> </a:t>
            </a:r>
            <a:r>
              <a:rPr sz="3000" spc="-20">
                <a:latin typeface="Calibri"/>
                <a:cs typeface="Calibri"/>
              </a:rPr>
              <a:t>Test</a:t>
            </a:r>
            <a:endParaRPr sz="3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40"/>
              </a:spcBef>
              <a:buFont typeface="Arial MT"/>
              <a:buAutoNum type="arabicPeriod"/>
              <a:tabLst>
                <a:tab pos="469265" algn="l"/>
              </a:tabLst>
            </a:pPr>
            <a:r>
              <a:rPr sz="3000" spc="-10">
                <a:latin typeface="Calibri"/>
                <a:cs typeface="Calibri"/>
              </a:rPr>
              <a:t>Mann-</a:t>
            </a:r>
            <a:r>
              <a:rPr sz="3000">
                <a:latin typeface="Calibri"/>
                <a:cs typeface="Calibri"/>
              </a:rPr>
              <a:t>Whitney</a:t>
            </a:r>
            <a:r>
              <a:rPr sz="3000" spc="-40">
                <a:latin typeface="Calibri"/>
                <a:cs typeface="Calibri"/>
              </a:rPr>
              <a:t> </a:t>
            </a:r>
            <a:r>
              <a:rPr sz="3000" spc="-20">
                <a:latin typeface="Calibri"/>
                <a:cs typeface="Calibri"/>
              </a:rPr>
              <a:t>Test</a:t>
            </a:r>
            <a:endParaRPr sz="3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40"/>
              </a:spcBef>
              <a:buFont typeface="Arial MT"/>
              <a:buAutoNum type="arabicPeriod"/>
              <a:tabLst>
                <a:tab pos="469265" algn="l"/>
              </a:tabLst>
            </a:pPr>
            <a:r>
              <a:rPr sz="3000" spc="-20">
                <a:latin typeface="Calibri"/>
                <a:cs typeface="Calibri"/>
              </a:rPr>
              <a:t>Wilcoxon</a:t>
            </a:r>
            <a:r>
              <a:rPr sz="3000" spc="-45">
                <a:latin typeface="Calibri"/>
                <a:cs typeface="Calibri"/>
              </a:rPr>
              <a:t> </a:t>
            </a:r>
            <a:r>
              <a:rPr sz="3000" spc="-10">
                <a:latin typeface="Calibri"/>
                <a:cs typeface="Calibri"/>
              </a:rPr>
              <a:t>Signed-</a:t>
            </a:r>
            <a:r>
              <a:rPr sz="3000">
                <a:latin typeface="Calibri"/>
                <a:cs typeface="Calibri"/>
              </a:rPr>
              <a:t>Rank</a:t>
            </a:r>
            <a:r>
              <a:rPr sz="3000" spc="-40">
                <a:latin typeface="Calibri"/>
                <a:cs typeface="Calibri"/>
              </a:rPr>
              <a:t> </a:t>
            </a:r>
            <a:r>
              <a:rPr sz="3000" spc="-30">
                <a:latin typeface="Calibri"/>
                <a:cs typeface="Calibri"/>
              </a:rPr>
              <a:t>Test</a:t>
            </a:r>
            <a:endParaRPr sz="3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40"/>
              </a:spcBef>
              <a:buFont typeface="Arial MT"/>
              <a:buAutoNum type="arabicPeriod"/>
              <a:tabLst>
                <a:tab pos="469265" algn="l"/>
              </a:tabLst>
            </a:pPr>
            <a:r>
              <a:rPr sz="3000" spc="-35">
                <a:latin typeface="Calibri"/>
                <a:cs typeface="Calibri"/>
              </a:rPr>
              <a:t>Kruskal-</a:t>
            </a:r>
            <a:r>
              <a:rPr sz="3000" spc="-10">
                <a:latin typeface="Calibri"/>
                <a:cs typeface="Calibri"/>
              </a:rPr>
              <a:t>Wallis</a:t>
            </a:r>
            <a:r>
              <a:rPr sz="3000" spc="-35">
                <a:latin typeface="Calibri"/>
                <a:cs typeface="Calibri"/>
              </a:rPr>
              <a:t> </a:t>
            </a:r>
            <a:r>
              <a:rPr sz="3000" spc="-20">
                <a:latin typeface="Calibri"/>
                <a:cs typeface="Calibri"/>
              </a:rPr>
              <a:t>Test</a:t>
            </a:r>
            <a:endParaRPr sz="3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40"/>
              </a:spcBef>
              <a:buFont typeface="Arial MT"/>
              <a:buAutoNum type="arabicPeriod"/>
              <a:tabLst>
                <a:tab pos="469265" algn="l"/>
              </a:tabLst>
            </a:pPr>
            <a:r>
              <a:rPr sz="3000" spc="-10">
                <a:latin typeface="Calibri"/>
                <a:cs typeface="Calibri"/>
              </a:rPr>
              <a:t>Friedman’s</a:t>
            </a:r>
            <a:r>
              <a:rPr sz="3000" spc="-150">
                <a:latin typeface="Calibri"/>
                <a:cs typeface="Calibri"/>
              </a:rPr>
              <a:t> </a:t>
            </a:r>
            <a:r>
              <a:rPr sz="3000" spc="-20">
                <a:latin typeface="Calibri"/>
                <a:cs typeface="Calibri"/>
              </a:rPr>
              <a:t>ANOVA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81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45"/>
              <a:t>T-</a:t>
            </a:r>
            <a:r>
              <a:rPr spc="-20"/>
              <a:t>test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990600" y="3181350"/>
            <a:ext cx="1807844" cy="9705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9767" y="882006"/>
            <a:ext cx="8068945" cy="32861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07975" marR="5080" indent="-295910" algn="just">
              <a:lnSpc>
                <a:spcPct val="101499"/>
              </a:lnSpc>
              <a:spcBef>
                <a:spcPts val="80"/>
              </a:spcBef>
              <a:buSzPct val="109090"/>
              <a:buFont typeface="Arial MT"/>
              <a:buChar char="•"/>
              <a:tabLst>
                <a:tab pos="309245" algn="l"/>
              </a:tabLst>
            </a:pPr>
            <a:r>
              <a:rPr sz="2200">
                <a:latin typeface="Calibri"/>
                <a:cs typeface="Calibri"/>
              </a:rPr>
              <a:t>A</a:t>
            </a:r>
            <a:r>
              <a:rPr sz="2200" spc="-5">
                <a:latin typeface="Calibri"/>
                <a:cs typeface="Calibri"/>
              </a:rPr>
              <a:t> </a:t>
            </a:r>
            <a:r>
              <a:rPr sz="2200" spc="-45">
                <a:latin typeface="Calibri"/>
                <a:cs typeface="Calibri"/>
              </a:rPr>
              <a:t>t-</a:t>
            </a:r>
            <a:r>
              <a:rPr sz="2200">
                <a:latin typeface="Calibri"/>
                <a:cs typeface="Calibri"/>
              </a:rPr>
              <a:t>test is</a:t>
            </a:r>
            <a:r>
              <a:rPr sz="2200" spc="-5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an analysis</a:t>
            </a:r>
            <a:r>
              <a:rPr sz="2200" spc="-5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of two populations</a:t>
            </a:r>
            <a:r>
              <a:rPr sz="2200" spc="-5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means through</a:t>
            </a:r>
            <a:r>
              <a:rPr sz="2200" spc="-5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the use </a:t>
            </a:r>
            <a:r>
              <a:rPr sz="2200" spc="-25">
                <a:latin typeface="Calibri"/>
                <a:cs typeface="Calibri"/>
              </a:rPr>
              <a:t>of 	</a:t>
            </a:r>
            <a:r>
              <a:rPr sz="2200">
                <a:latin typeface="Calibri"/>
                <a:cs typeface="Calibri"/>
              </a:rPr>
              <a:t>statistical</a:t>
            </a:r>
            <a:r>
              <a:rPr sz="2200" spc="-25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examination;</a:t>
            </a:r>
            <a:r>
              <a:rPr sz="2200" spc="-20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a</a:t>
            </a:r>
            <a:r>
              <a:rPr sz="2200" spc="-20">
                <a:latin typeface="Calibri"/>
                <a:cs typeface="Calibri"/>
              </a:rPr>
              <a:t> </a:t>
            </a:r>
            <a:r>
              <a:rPr sz="2200" spc="-45">
                <a:latin typeface="Calibri"/>
                <a:cs typeface="Calibri"/>
              </a:rPr>
              <a:t>t-</a:t>
            </a:r>
            <a:r>
              <a:rPr sz="2200">
                <a:latin typeface="Calibri"/>
                <a:cs typeface="Calibri"/>
              </a:rPr>
              <a:t>test</a:t>
            </a:r>
            <a:r>
              <a:rPr sz="2200" spc="-20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with</a:t>
            </a:r>
            <a:r>
              <a:rPr sz="2200" spc="-20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two</a:t>
            </a:r>
            <a:r>
              <a:rPr sz="2200" spc="-20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samples</a:t>
            </a:r>
            <a:r>
              <a:rPr sz="2200" spc="-25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is</a:t>
            </a:r>
            <a:r>
              <a:rPr sz="2200" spc="-20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commonly</a:t>
            </a:r>
            <a:r>
              <a:rPr sz="2200" spc="-20">
                <a:latin typeface="Calibri"/>
                <a:cs typeface="Calibri"/>
              </a:rPr>
              <a:t> used 	</a:t>
            </a:r>
            <a:r>
              <a:rPr sz="2200">
                <a:latin typeface="Calibri"/>
                <a:cs typeface="Calibri"/>
              </a:rPr>
              <a:t>with</a:t>
            </a:r>
            <a:r>
              <a:rPr sz="2200" spc="-30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small</a:t>
            </a:r>
            <a:r>
              <a:rPr sz="2200" spc="-30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sample</a:t>
            </a:r>
            <a:r>
              <a:rPr sz="2200" spc="-30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sizes,</a:t>
            </a:r>
            <a:r>
              <a:rPr sz="2200" spc="-30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testing</a:t>
            </a:r>
            <a:r>
              <a:rPr sz="2200" spc="-30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the</a:t>
            </a:r>
            <a:r>
              <a:rPr sz="2200" spc="-30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difference</a:t>
            </a:r>
            <a:r>
              <a:rPr sz="2200" spc="-30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between</a:t>
            </a:r>
            <a:r>
              <a:rPr sz="2200" spc="-30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the</a:t>
            </a:r>
            <a:r>
              <a:rPr sz="2200" spc="-30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samples 	</a:t>
            </a:r>
            <a:r>
              <a:rPr sz="2200">
                <a:latin typeface="Calibri"/>
                <a:cs typeface="Calibri"/>
              </a:rPr>
              <a:t>when the</a:t>
            </a:r>
            <a:r>
              <a:rPr sz="2200" spc="5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variances of</a:t>
            </a:r>
            <a:r>
              <a:rPr sz="2200" spc="5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two normal</a:t>
            </a:r>
            <a:r>
              <a:rPr sz="2200" spc="5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distributions are</a:t>
            </a:r>
            <a:r>
              <a:rPr sz="2200" spc="5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not </a:t>
            </a:r>
            <a:r>
              <a:rPr sz="2200" spc="-10">
                <a:latin typeface="Calibri"/>
                <a:cs typeface="Calibri"/>
              </a:rPr>
              <a:t>known.</a:t>
            </a:r>
            <a:endParaRPr sz="2200">
              <a:latin typeface="Calibri"/>
              <a:cs typeface="Calibri"/>
            </a:endParaRPr>
          </a:p>
          <a:p>
            <a:pPr marL="307975" marR="796925" indent="-295910" algn="just">
              <a:lnSpc>
                <a:spcPct val="102499"/>
              </a:lnSpc>
              <a:spcBef>
                <a:spcPts val="130"/>
              </a:spcBef>
              <a:buSzPct val="109090"/>
              <a:buFont typeface="Arial MT"/>
              <a:buChar char="•"/>
              <a:tabLst>
                <a:tab pos="309245" algn="l"/>
              </a:tabLst>
            </a:pPr>
            <a:r>
              <a:rPr sz="2200">
                <a:latin typeface="Calibri"/>
                <a:cs typeface="Calibri"/>
              </a:rPr>
              <a:t>This helps</a:t>
            </a:r>
            <a:r>
              <a:rPr sz="2200" spc="5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in finding</a:t>
            </a:r>
            <a:r>
              <a:rPr sz="2200" spc="5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the association</a:t>
            </a:r>
            <a:r>
              <a:rPr sz="2200" spc="5">
                <a:latin typeface="Calibri"/>
                <a:cs typeface="Calibri"/>
              </a:rPr>
              <a:t> </a:t>
            </a:r>
            <a:r>
              <a:rPr sz="2200">
                <a:latin typeface="Calibri"/>
                <a:cs typeface="Calibri"/>
              </a:rPr>
              <a:t>between Categorical</a:t>
            </a:r>
            <a:r>
              <a:rPr sz="2200" spc="5">
                <a:latin typeface="Calibri"/>
                <a:cs typeface="Calibri"/>
              </a:rPr>
              <a:t> </a:t>
            </a:r>
            <a:r>
              <a:rPr sz="2200" spc="-25">
                <a:latin typeface="Calibri"/>
                <a:cs typeface="Calibri"/>
              </a:rPr>
              <a:t>and 	</a:t>
            </a:r>
            <a:r>
              <a:rPr sz="2200">
                <a:latin typeface="Calibri"/>
                <a:cs typeface="Calibri"/>
              </a:rPr>
              <a:t>Continuous </a:t>
            </a:r>
            <a:r>
              <a:rPr sz="2200" spc="-10">
                <a:latin typeface="Calibri"/>
                <a:cs typeface="Calibri"/>
              </a:rPr>
              <a:t>features.</a:t>
            </a:r>
            <a:endParaRPr sz="2200">
              <a:latin typeface="Calibri"/>
              <a:cs typeface="Calibri"/>
            </a:endParaRPr>
          </a:p>
          <a:p>
            <a:pPr marL="3547745" marR="2212975">
              <a:lnSpc>
                <a:spcPct val="100000"/>
              </a:lnSpc>
              <a:spcBef>
                <a:spcPts val="795"/>
              </a:spcBef>
            </a:pPr>
            <a:r>
              <a:rPr sz="1800">
                <a:latin typeface="Calibri"/>
                <a:cs typeface="Calibri"/>
              </a:rPr>
              <a:t>X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-</a:t>
            </a:r>
            <a:r>
              <a:rPr sz="1800">
                <a:latin typeface="Calibri"/>
                <a:cs typeface="Calibri"/>
              </a:rPr>
              <a:t>&gt;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Mean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sample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25">
                <a:latin typeface="Calibri"/>
                <a:cs typeface="Calibri"/>
              </a:rPr>
              <a:t>set </a:t>
            </a:r>
            <a:r>
              <a:rPr sz="1800">
                <a:latin typeface="Calibri"/>
                <a:cs typeface="Calibri"/>
              </a:rPr>
              <a:t>μ</a:t>
            </a:r>
            <a:r>
              <a:rPr sz="1800" spc="370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-</a:t>
            </a:r>
            <a:r>
              <a:rPr sz="1800">
                <a:latin typeface="Calibri"/>
                <a:cs typeface="Calibri"/>
              </a:rPr>
              <a:t>&gt;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Mean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Population</a:t>
            </a:r>
            <a:endParaRPr sz="1800">
              <a:latin typeface="Calibri"/>
              <a:cs typeface="Calibri"/>
            </a:endParaRPr>
          </a:p>
          <a:p>
            <a:pPr marL="3547745" marR="1409700">
              <a:lnSpc>
                <a:spcPct val="100000"/>
              </a:lnSpc>
            </a:pPr>
            <a:r>
              <a:rPr sz="1800">
                <a:latin typeface="Calibri"/>
                <a:cs typeface="Calibri"/>
              </a:rPr>
              <a:t>S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-</a:t>
            </a:r>
            <a:r>
              <a:rPr sz="1800">
                <a:latin typeface="Calibri"/>
                <a:cs typeface="Calibri"/>
              </a:rPr>
              <a:t>&gt;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Standard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deviation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sample </a:t>
            </a:r>
            <a:r>
              <a:rPr sz="1800">
                <a:latin typeface="Calibri"/>
                <a:cs typeface="Calibri"/>
              </a:rPr>
              <a:t>N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-</a:t>
            </a:r>
            <a:r>
              <a:rPr sz="1800">
                <a:latin typeface="Calibri"/>
                <a:cs typeface="Calibri"/>
              </a:rPr>
              <a:t>&gt;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Sample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size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82</a:t>
            </a:fld>
            <a:endParaRPr spc="-25"/>
          </a:p>
        </p:txBody>
      </p:sp>
      <p:sp>
        <p:nvSpPr>
          <p:cNvPr id="7" name="object 7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88705"/>
            <a:ext cx="9144000" cy="255270"/>
          </a:xfrm>
          <a:custGeom>
            <a:avLst/>
            <a:gdLst/>
            <a:ahLst/>
            <a:cxnLst/>
            <a:rect l="l" t="t" r="r" b="b"/>
            <a:pathLst>
              <a:path w="9144000" h="255270">
                <a:moveTo>
                  <a:pt x="9143999" y="254794"/>
                </a:moveTo>
                <a:lnTo>
                  <a:pt x="0" y="254794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4794"/>
                </a:lnTo>
                <a:close/>
              </a:path>
            </a:pathLst>
          </a:custGeom>
          <a:solidFill>
            <a:srgbClr val="538C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0398" y="4957048"/>
            <a:ext cx="69596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0"/>
              </a:lnSpc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1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6675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20">
                <a:moveTo>
                  <a:pt x="9143999" y="45718"/>
                </a:moveTo>
                <a:lnTo>
                  <a:pt x="0" y="45718"/>
                </a:lnTo>
                <a:lnTo>
                  <a:pt x="0" y="0"/>
                </a:lnTo>
                <a:lnTo>
                  <a:pt x="9143999" y="0"/>
                </a:lnTo>
                <a:lnTo>
                  <a:pt x="9143999" y="45718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2189481" y="811371"/>
            <a:ext cx="4765036" cy="371708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78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45"/>
              <a:t>T-</a:t>
            </a:r>
            <a:r>
              <a:rPr spc="-20"/>
              <a:t>test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83</a:t>
            </a:fld>
            <a:endParaRPr spc="-25"/>
          </a:p>
        </p:txBody>
      </p:sp>
      <p:sp>
        <p:nvSpPr>
          <p:cNvPr id="10" name="object 10"/>
          <p:cNvSpPr txBox="1"/>
          <p:nvPr/>
        </p:nvSpPr>
        <p:spPr>
          <a:xfrm>
            <a:off x="923619" y="4924628"/>
            <a:ext cx="273367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Mites</a:t>
            </a:r>
            <a:r>
              <a:rPr sz="1000" b="1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88705"/>
            <a:ext cx="9144000" cy="255270"/>
          </a:xfrm>
          <a:custGeom>
            <a:avLst/>
            <a:gdLst/>
            <a:ahLst/>
            <a:cxnLst/>
            <a:rect l="l" t="t" r="r" b="b"/>
            <a:pathLst>
              <a:path w="9144000" h="255270">
                <a:moveTo>
                  <a:pt x="9143999" y="254794"/>
                </a:moveTo>
                <a:lnTo>
                  <a:pt x="0" y="254794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4794"/>
                </a:lnTo>
                <a:close/>
              </a:path>
            </a:pathLst>
          </a:custGeom>
          <a:solidFill>
            <a:srgbClr val="538C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0398" y="4957048"/>
            <a:ext cx="69596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0"/>
              </a:lnSpc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1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6675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20">
                <a:moveTo>
                  <a:pt x="9143999" y="45718"/>
                </a:moveTo>
                <a:lnTo>
                  <a:pt x="0" y="45718"/>
                </a:lnTo>
                <a:lnTo>
                  <a:pt x="0" y="0"/>
                </a:lnTo>
                <a:lnTo>
                  <a:pt x="9143999" y="0"/>
                </a:lnTo>
                <a:lnTo>
                  <a:pt x="9143999" y="45718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52400" y="842702"/>
            <a:ext cx="4637405" cy="3874770"/>
            <a:chOff x="152400" y="842702"/>
            <a:chExt cx="4637405" cy="3874770"/>
          </a:xfrm>
        </p:grpSpPr>
        <p:pic>
          <p:nvPicPr>
            <p:cNvPr id="7" name="object 7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52400" y="842702"/>
              <a:ext cx="1714534" cy="345809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866935" y="921657"/>
              <a:ext cx="2784528" cy="261216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2801225" y="3825397"/>
              <a:ext cx="1988488" cy="89174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862739" y="779271"/>
            <a:ext cx="4011295" cy="3499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>
                <a:latin typeface="Calibri"/>
                <a:cs typeface="Calibri"/>
              </a:rPr>
              <a:t>The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75">
                <a:latin typeface="Calibri"/>
                <a:cs typeface="Calibri"/>
              </a:rPr>
              <a:t>T-</a:t>
            </a:r>
            <a:r>
              <a:rPr sz="1600" spc="-40">
                <a:latin typeface="Calibri"/>
                <a:cs typeface="Calibri"/>
              </a:rPr>
              <a:t>Test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helps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determine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whether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there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is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50">
                <a:latin typeface="Calibri"/>
                <a:cs typeface="Calibri"/>
              </a:rPr>
              <a:t>a </a:t>
            </a:r>
            <a:r>
              <a:rPr sz="1600" spc="-10">
                <a:latin typeface="Calibri"/>
                <a:cs typeface="Calibri"/>
              </a:rPr>
              <a:t>statistically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significant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difference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in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average </a:t>
            </a:r>
            <a:r>
              <a:rPr sz="1600">
                <a:latin typeface="Calibri"/>
                <a:cs typeface="Calibri"/>
              </a:rPr>
              <a:t>salaries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between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these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two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groups.</a:t>
            </a:r>
            <a:endParaRPr sz="1600">
              <a:latin typeface="Calibri"/>
              <a:cs typeface="Calibri"/>
            </a:endParaRPr>
          </a:p>
          <a:p>
            <a:pPr marL="12700" marR="371475">
              <a:lnSpc>
                <a:spcPct val="100000"/>
              </a:lnSpc>
              <a:spcBef>
                <a:spcPts val="5"/>
              </a:spcBef>
            </a:pPr>
            <a:r>
              <a:rPr sz="1400">
                <a:latin typeface="Calibri"/>
                <a:cs typeface="Calibri"/>
              </a:rPr>
              <a:t>H0: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There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is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no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significant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difference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between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two </a:t>
            </a:r>
            <a:r>
              <a:rPr sz="1400" spc="-10">
                <a:latin typeface="Calibri"/>
                <a:cs typeface="Calibri"/>
              </a:rPr>
              <a:t>groups.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>
                <a:latin typeface="Calibri"/>
                <a:cs typeface="Calibri"/>
              </a:rPr>
              <a:t>Female</a:t>
            </a:r>
            <a:r>
              <a:rPr sz="1400" b="1" spc="-50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Group: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>
                <a:latin typeface="Calibri"/>
                <a:cs typeface="Calibri"/>
              </a:rPr>
              <a:t>Mean=10,70,000</a:t>
            </a:r>
            <a:r>
              <a:rPr sz="1400" spc="14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SD=3,95,995.81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>
                <a:latin typeface="Calibri"/>
                <a:cs typeface="Calibri"/>
              </a:rPr>
              <a:t>Male</a:t>
            </a:r>
            <a:r>
              <a:rPr sz="1400" b="1" spc="-20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Group: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>
                <a:latin typeface="Calibri"/>
                <a:cs typeface="Calibri"/>
              </a:rPr>
              <a:t>Mean=9,02,000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SD=7,52,807.45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spc="-70">
                <a:latin typeface="Calibri"/>
                <a:cs typeface="Calibri"/>
              </a:rPr>
              <a:t>T-</a:t>
            </a:r>
            <a:r>
              <a:rPr sz="1400" spc="-10">
                <a:latin typeface="Calibri"/>
                <a:cs typeface="Calibri"/>
              </a:rPr>
              <a:t>Statistics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=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-20">
                <a:latin typeface="Calibri"/>
                <a:cs typeface="Calibri"/>
              </a:rPr>
              <a:t>4.24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40">
                <a:latin typeface="Calibri"/>
                <a:cs typeface="Calibri"/>
              </a:rPr>
              <a:t>P-</a:t>
            </a:r>
            <a:r>
              <a:rPr sz="1400" spc="-20">
                <a:latin typeface="Calibri"/>
                <a:cs typeface="Calibri"/>
              </a:rPr>
              <a:t>Value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=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0.001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(From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 spc="-70">
                <a:latin typeface="Calibri"/>
                <a:cs typeface="Calibri"/>
              </a:rPr>
              <a:t>T-</a:t>
            </a:r>
            <a:r>
              <a:rPr sz="1400" spc="-10">
                <a:latin typeface="Calibri"/>
                <a:cs typeface="Calibri"/>
              </a:rPr>
              <a:t>Table)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400">
              <a:latin typeface="Calibri"/>
              <a:cs typeface="Calibri"/>
            </a:endParaRPr>
          </a:p>
          <a:p>
            <a:pPr marL="12700" marR="295910">
              <a:lnSpc>
                <a:spcPct val="100000"/>
              </a:lnSpc>
            </a:pPr>
            <a:r>
              <a:rPr sz="1800" b="1">
                <a:solidFill>
                  <a:srgbClr val="374151"/>
                </a:solidFill>
                <a:latin typeface="Arial"/>
                <a:cs typeface="Arial"/>
              </a:rPr>
              <a:t>There</a:t>
            </a:r>
            <a:r>
              <a:rPr sz="1800" b="1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74151"/>
                </a:solidFill>
                <a:latin typeface="Arial"/>
                <a:cs typeface="Arial"/>
              </a:rPr>
              <a:t>is</a:t>
            </a:r>
            <a:r>
              <a:rPr sz="1800" b="1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sz="1800" b="1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74151"/>
                </a:solidFill>
                <a:latin typeface="Arial"/>
                <a:cs typeface="Arial"/>
              </a:rPr>
              <a:t>significant</a:t>
            </a:r>
            <a:r>
              <a:rPr sz="1800" b="1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74151"/>
                </a:solidFill>
                <a:latin typeface="Arial"/>
                <a:cs typeface="Arial"/>
              </a:rPr>
              <a:t>difference</a:t>
            </a:r>
            <a:r>
              <a:rPr sz="1800" b="1" spc="-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1800" b="1" spc="-25">
                <a:solidFill>
                  <a:srgbClr val="374151"/>
                </a:solidFill>
                <a:latin typeface="Arial"/>
                <a:cs typeface="Arial"/>
              </a:rPr>
              <a:t>in </a:t>
            </a:r>
            <a:r>
              <a:rPr sz="1800" b="1">
                <a:solidFill>
                  <a:srgbClr val="374151"/>
                </a:solidFill>
                <a:latin typeface="Arial"/>
                <a:cs typeface="Arial"/>
              </a:rPr>
              <a:t>salaries</a:t>
            </a:r>
            <a:r>
              <a:rPr sz="1800" b="1" spc="-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74151"/>
                </a:solidFill>
                <a:latin typeface="Arial"/>
                <a:cs typeface="Arial"/>
              </a:rPr>
              <a:t>between</a:t>
            </a:r>
            <a:r>
              <a:rPr sz="1800" b="1" spc="-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74151"/>
                </a:solidFill>
                <a:latin typeface="Arial"/>
                <a:cs typeface="Arial"/>
              </a:rPr>
              <a:t>the</a:t>
            </a:r>
            <a:r>
              <a:rPr sz="1800" b="1" spc="-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74151"/>
                </a:solidFill>
                <a:latin typeface="Arial"/>
                <a:cs typeface="Arial"/>
              </a:rPr>
              <a:t>two</a:t>
            </a:r>
            <a:r>
              <a:rPr sz="1800" b="1" spc="-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374151"/>
                </a:solidFill>
                <a:latin typeface="Arial"/>
                <a:cs typeface="Arial"/>
              </a:rPr>
              <a:t>groups.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78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45"/>
              <a:t>T-</a:t>
            </a:r>
            <a:r>
              <a:rPr spc="-20"/>
              <a:t>test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84</a:t>
            </a:fld>
            <a:endParaRPr spc="-25"/>
          </a:p>
        </p:txBody>
      </p:sp>
      <p:sp>
        <p:nvSpPr>
          <p:cNvPr id="14" name="object 14"/>
          <p:cNvSpPr txBox="1"/>
          <p:nvPr/>
        </p:nvSpPr>
        <p:spPr>
          <a:xfrm>
            <a:off x="923619" y="4924628"/>
            <a:ext cx="273367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Mites</a:t>
            </a:r>
            <a:r>
              <a:rPr sz="1000" b="1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7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863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spc="-10"/>
              <a:t>Paired</a:t>
            </a:r>
            <a:r>
              <a:rPr spc="-130"/>
              <a:t> </a:t>
            </a:r>
            <a:r>
              <a:rPr spc="-145"/>
              <a:t>T-</a:t>
            </a:r>
            <a:r>
              <a:rPr spc="-20"/>
              <a:t>test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0000" y="1095114"/>
            <a:ext cx="7971790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7185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10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paired</a:t>
            </a:r>
            <a:r>
              <a:rPr sz="2000" spc="-7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85">
                <a:solidFill>
                  <a:srgbClr val="212121"/>
                </a:solidFill>
                <a:latin typeface="Roboto"/>
                <a:cs typeface="Roboto"/>
              </a:rPr>
              <a:t>t-</a:t>
            </a:r>
            <a:r>
              <a:rPr sz="2000" spc="-70">
                <a:solidFill>
                  <a:srgbClr val="212121"/>
                </a:solidFill>
                <a:latin typeface="Roboto"/>
                <a:cs typeface="Roboto"/>
              </a:rPr>
              <a:t>test</a:t>
            </a:r>
            <a:r>
              <a:rPr sz="20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performed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when</a:t>
            </a:r>
            <a:r>
              <a:rPr sz="2000" spc="-7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samples</a:t>
            </a:r>
            <a:r>
              <a:rPr sz="2000" spc="-7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25">
                <a:solidFill>
                  <a:srgbClr val="212121"/>
                </a:solidFill>
                <a:latin typeface="Roboto"/>
                <a:cs typeface="Roboto"/>
              </a:rPr>
              <a:t>typically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">
                <a:solidFill>
                  <a:srgbClr val="212121"/>
                </a:solidFill>
                <a:latin typeface="Roboto"/>
                <a:cs typeface="Roboto"/>
              </a:rPr>
              <a:t>consist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25">
                <a:solidFill>
                  <a:srgbClr val="212121"/>
                </a:solidFill>
                <a:latin typeface="Roboto"/>
                <a:cs typeface="Roboto"/>
              </a:rPr>
              <a:t>of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matched</a:t>
            </a:r>
            <a:r>
              <a:rPr sz="2000" spc="-7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pairs</a:t>
            </a:r>
            <a:r>
              <a:rPr sz="2000" spc="-7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7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">
                <a:solidFill>
                  <a:srgbClr val="212121"/>
                </a:solidFill>
                <a:latin typeface="Roboto"/>
                <a:cs typeface="Roboto"/>
              </a:rPr>
              <a:t>similar</a:t>
            </a:r>
            <a:r>
              <a:rPr sz="2000" spc="-7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20">
                <a:solidFill>
                  <a:srgbClr val="212121"/>
                </a:solidFill>
                <a:latin typeface="Roboto"/>
                <a:cs typeface="Roboto"/>
              </a:rPr>
              <a:t>units,</a:t>
            </a:r>
            <a:r>
              <a:rPr sz="2000" spc="-7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or</a:t>
            </a:r>
            <a:r>
              <a:rPr sz="2000" spc="-7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when</a:t>
            </a:r>
            <a:r>
              <a:rPr sz="2000" spc="-6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">
                <a:solidFill>
                  <a:srgbClr val="212121"/>
                </a:solidFill>
                <a:latin typeface="Roboto"/>
                <a:cs typeface="Roboto"/>
              </a:rPr>
              <a:t>there</a:t>
            </a:r>
            <a:r>
              <a:rPr sz="2000" spc="-7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are</a:t>
            </a:r>
            <a:r>
              <a:rPr sz="2000" spc="-7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cases</a:t>
            </a:r>
            <a:r>
              <a:rPr sz="2000" spc="-7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7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">
                <a:solidFill>
                  <a:srgbClr val="212121"/>
                </a:solidFill>
                <a:latin typeface="Roboto"/>
                <a:cs typeface="Roboto"/>
              </a:rPr>
              <a:t>repeated measures.</a:t>
            </a:r>
            <a:endParaRPr sz="200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2400"/>
              </a:spcBef>
            </a:pP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example,</a:t>
            </a:r>
            <a:r>
              <a:rPr sz="2000" spc="-7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">
                <a:solidFill>
                  <a:srgbClr val="212121"/>
                </a:solidFill>
                <a:latin typeface="Roboto"/>
                <a:cs typeface="Roboto"/>
              </a:rPr>
              <a:t>there</a:t>
            </a:r>
            <a:r>
              <a:rPr sz="2000" spc="-7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may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be</a:t>
            </a:r>
            <a:r>
              <a:rPr sz="2000" spc="-7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20">
                <a:solidFill>
                  <a:srgbClr val="212121"/>
                </a:solidFill>
                <a:latin typeface="Roboto"/>
                <a:cs typeface="Roboto"/>
              </a:rPr>
              <a:t>instances</a:t>
            </a:r>
            <a:r>
              <a:rPr sz="2000" spc="-7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2000" spc="-7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same</a:t>
            </a:r>
            <a:r>
              <a:rPr sz="2000" spc="-7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">
                <a:solidFill>
                  <a:srgbClr val="212121"/>
                </a:solidFill>
                <a:latin typeface="Roboto"/>
                <a:cs typeface="Roboto"/>
              </a:rPr>
              <a:t>patients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being</a:t>
            </a:r>
            <a:r>
              <a:rPr sz="2000" spc="-7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">
                <a:solidFill>
                  <a:srgbClr val="212121"/>
                </a:solidFill>
                <a:latin typeface="Roboto"/>
                <a:cs typeface="Roboto"/>
              </a:rPr>
              <a:t>tested </a:t>
            </a:r>
            <a:r>
              <a:rPr sz="2000" spc="-35">
                <a:solidFill>
                  <a:srgbClr val="212121"/>
                </a:solidFill>
                <a:latin typeface="Roboto"/>
                <a:cs typeface="Roboto"/>
              </a:rPr>
              <a:t>repeatedly—</a:t>
            </a:r>
            <a:r>
              <a:rPr sz="2000" spc="-10">
                <a:solidFill>
                  <a:srgbClr val="212121"/>
                </a:solidFill>
                <a:latin typeface="Roboto"/>
                <a:cs typeface="Roboto"/>
              </a:rPr>
              <a:t>before</a:t>
            </a:r>
            <a:r>
              <a:rPr sz="20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20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after</a:t>
            </a:r>
            <a:r>
              <a:rPr sz="20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20">
                <a:solidFill>
                  <a:srgbClr val="212121"/>
                </a:solidFill>
                <a:latin typeface="Roboto"/>
                <a:cs typeface="Roboto"/>
              </a:rPr>
              <a:t>receiving</a:t>
            </a:r>
            <a:r>
              <a:rPr sz="20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20">
                <a:solidFill>
                  <a:srgbClr val="212121"/>
                </a:solidFill>
                <a:latin typeface="Roboto"/>
                <a:cs typeface="Roboto"/>
              </a:rPr>
              <a:t>particular</a:t>
            </a:r>
            <a:r>
              <a:rPr sz="20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">
                <a:solidFill>
                  <a:srgbClr val="212121"/>
                </a:solidFill>
                <a:latin typeface="Roboto"/>
                <a:cs typeface="Roboto"/>
              </a:rPr>
              <a:t>treatment.</a:t>
            </a:r>
            <a:r>
              <a:rPr sz="20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20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20">
                <a:solidFill>
                  <a:srgbClr val="212121"/>
                </a:solidFill>
                <a:latin typeface="Roboto"/>
                <a:cs typeface="Roboto"/>
              </a:rPr>
              <a:t>such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cases,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each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">
                <a:solidFill>
                  <a:srgbClr val="212121"/>
                </a:solidFill>
                <a:latin typeface="Roboto"/>
                <a:cs typeface="Roboto"/>
              </a:rPr>
              <a:t>patient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being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used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as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">
                <a:solidFill>
                  <a:srgbClr val="212121"/>
                </a:solidFill>
                <a:latin typeface="Roboto"/>
                <a:cs typeface="Roboto"/>
              </a:rPr>
              <a:t>control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>
                <a:solidFill>
                  <a:srgbClr val="212121"/>
                </a:solidFill>
                <a:latin typeface="Roboto"/>
                <a:cs typeface="Roboto"/>
              </a:rPr>
              <a:t>sample</a:t>
            </a:r>
            <a:r>
              <a:rPr sz="2000" spc="-8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2000" spc="-10">
                <a:solidFill>
                  <a:srgbClr val="212121"/>
                </a:solidFill>
                <a:latin typeface="Roboto"/>
                <a:cs typeface="Roboto"/>
              </a:rPr>
              <a:t>against themselves.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774128" y="3801604"/>
            <a:ext cx="7303071" cy="8211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85</a:t>
            </a:fld>
            <a:endParaRPr spc="-25"/>
          </a:p>
        </p:txBody>
      </p:sp>
      <p:sp>
        <p:nvSpPr>
          <p:cNvPr id="7" name="object 7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5484" y="90939"/>
            <a:ext cx="28524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/>
              <a:t>One-</a:t>
            </a:r>
            <a:r>
              <a:rPr spc="-35"/>
              <a:t>Way</a:t>
            </a:r>
            <a:r>
              <a:rPr spc="-100"/>
              <a:t> </a:t>
            </a:r>
            <a:r>
              <a:rPr spc="-10"/>
              <a:t>ANOVA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799" y="811259"/>
            <a:ext cx="8681720" cy="1235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sz="1950">
                <a:latin typeface="Calibri"/>
                <a:cs typeface="Calibri"/>
              </a:rPr>
              <a:t>The</a:t>
            </a:r>
            <a:r>
              <a:rPr sz="1950" spc="-55">
                <a:latin typeface="Calibri"/>
                <a:cs typeface="Calibri"/>
              </a:rPr>
              <a:t> </a:t>
            </a:r>
            <a:r>
              <a:rPr sz="1950" spc="-20">
                <a:latin typeface="Calibri"/>
                <a:cs typeface="Calibri"/>
              </a:rPr>
              <a:t>one-</a:t>
            </a:r>
            <a:r>
              <a:rPr sz="1950">
                <a:latin typeface="Calibri"/>
                <a:cs typeface="Calibri"/>
              </a:rPr>
              <a:t>way</a:t>
            </a:r>
            <a:r>
              <a:rPr sz="1950" spc="-50">
                <a:latin typeface="Calibri"/>
                <a:cs typeface="Calibri"/>
              </a:rPr>
              <a:t> </a:t>
            </a:r>
            <a:r>
              <a:rPr sz="1950" spc="-10">
                <a:latin typeface="Calibri"/>
                <a:cs typeface="Calibri"/>
              </a:rPr>
              <a:t>analysis</a:t>
            </a:r>
            <a:r>
              <a:rPr sz="1950" spc="-5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of</a:t>
            </a:r>
            <a:r>
              <a:rPr sz="1950" spc="-50">
                <a:latin typeface="Calibri"/>
                <a:cs typeface="Calibri"/>
              </a:rPr>
              <a:t> </a:t>
            </a:r>
            <a:r>
              <a:rPr sz="1950" spc="-10">
                <a:latin typeface="Calibri"/>
                <a:cs typeface="Calibri"/>
              </a:rPr>
              <a:t>variance</a:t>
            </a:r>
            <a:r>
              <a:rPr sz="1950" spc="-55">
                <a:latin typeface="Calibri"/>
                <a:cs typeface="Calibri"/>
              </a:rPr>
              <a:t> </a:t>
            </a:r>
            <a:r>
              <a:rPr sz="1950" spc="-10">
                <a:latin typeface="Calibri"/>
                <a:cs typeface="Calibri"/>
              </a:rPr>
              <a:t>(ANOVA)</a:t>
            </a:r>
            <a:r>
              <a:rPr sz="1950" spc="-5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is</a:t>
            </a:r>
            <a:r>
              <a:rPr sz="1950" spc="-5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used</a:t>
            </a:r>
            <a:r>
              <a:rPr sz="1950" spc="-5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to</a:t>
            </a:r>
            <a:r>
              <a:rPr sz="1950" spc="-50">
                <a:latin typeface="Calibri"/>
                <a:cs typeface="Calibri"/>
              </a:rPr>
              <a:t> </a:t>
            </a:r>
            <a:r>
              <a:rPr sz="1950" spc="-10">
                <a:latin typeface="Calibri"/>
                <a:cs typeface="Calibri"/>
              </a:rPr>
              <a:t>determine</a:t>
            </a:r>
            <a:r>
              <a:rPr sz="1950" spc="-5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whether</a:t>
            </a:r>
            <a:r>
              <a:rPr sz="1950" spc="-5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there</a:t>
            </a:r>
            <a:r>
              <a:rPr sz="1950" spc="-5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are </a:t>
            </a:r>
            <a:r>
              <a:rPr sz="1950" spc="-25">
                <a:latin typeface="Calibri"/>
                <a:cs typeface="Calibri"/>
              </a:rPr>
              <a:t>any </a:t>
            </a:r>
            <a:r>
              <a:rPr sz="1950" spc="-10">
                <a:latin typeface="Calibri"/>
                <a:cs typeface="Calibri"/>
              </a:rPr>
              <a:t>statistically</a:t>
            </a:r>
            <a:r>
              <a:rPr sz="1950" spc="-45">
                <a:latin typeface="Calibri"/>
                <a:cs typeface="Calibri"/>
              </a:rPr>
              <a:t> </a:t>
            </a:r>
            <a:r>
              <a:rPr sz="1950" spc="-10">
                <a:latin typeface="Calibri"/>
                <a:cs typeface="Calibri"/>
              </a:rPr>
              <a:t>significant</a:t>
            </a:r>
            <a:r>
              <a:rPr sz="1950" spc="-45">
                <a:latin typeface="Calibri"/>
                <a:cs typeface="Calibri"/>
              </a:rPr>
              <a:t> </a:t>
            </a:r>
            <a:r>
              <a:rPr sz="1950" spc="-20">
                <a:latin typeface="Calibri"/>
                <a:cs typeface="Calibri"/>
              </a:rPr>
              <a:t>differences</a:t>
            </a:r>
            <a:r>
              <a:rPr sz="1950" spc="-45">
                <a:latin typeface="Calibri"/>
                <a:cs typeface="Calibri"/>
              </a:rPr>
              <a:t> </a:t>
            </a:r>
            <a:r>
              <a:rPr sz="1950" spc="-10">
                <a:latin typeface="Calibri"/>
                <a:cs typeface="Calibri"/>
              </a:rPr>
              <a:t>between</a:t>
            </a:r>
            <a:r>
              <a:rPr sz="1950" spc="-4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the</a:t>
            </a:r>
            <a:r>
              <a:rPr sz="1950" spc="-4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means</a:t>
            </a:r>
            <a:r>
              <a:rPr sz="1950" spc="-4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of</a:t>
            </a:r>
            <a:r>
              <a:rPr sz="1950" spc="-4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three</a:t>
            </a:r>
            <a:r>
              <a:rPr sz="1950" spc="-4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or</a:t>
            </a:r>
            <a:r>
              <a:rPr sz="1950" spc="-45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more</a:t>
            </a:r>
            <a:r>
              <a:rPr sz="1950" spc="-45">
                <a:latin typeface="Calibri"/>
                <a:cs typeface="Calibri"/>
              </a:rPr>
              <a:t> </a:t>
            </a:r>
            <a:r>
              <a:rPr sz="1950" spc="-10">
                <a:latin typeface="Calibri"/>
                <a:cs typeface="Calibri"/>
              </a:rPr>
              <a:t>independent (unrelated)</a:t>
            </a:r>
            <a:r>
              <a:rPr sz="1950" spc="-60">
                <a:latin typeface="Calibri"/>
                <a:cs typeface="Calibri"/>
              </a:rPr>
              <a:t> </a:t>
            </a:r>
            <a:r>
              <a:rPr sz="1950">
                <a:latin typeface="Calibri"/>
                <a:cs typeface="Calibri"/>
              </a:rPr>
              <a:t>groups.</a:t>
            </a:r>
            <a:r>
              <a:rPr sz="1950" spc="-55">
                <a:latin typeface="Calibri"/>
                <a:cs typeface="Calibri"/>
              </a:rPr>
              <a:t> </a:t>
            </a:r>
            <a:r>
              <a:rPr sz="1950" spc="-20">
                <a:latin typeface="Calibri"/>
                <a:cs typeface="Calibri"/>
              </a:rPr>
              <a:t>Eg.,</a:t>
            </a:r>
            <a:endParaRPr sz="19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2432194"/>
            <a:ext cx="5391426" cy="11875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3311" y="3833513"/>
            <a:ext cx="7200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>
                <a:latin typeface="Calibri"/>
                <a:cs typeface="Calibri"/>
              </a:rPr>
              <a:t>Within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Group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Variance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-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Values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within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group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are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close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to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each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other </a:t>
            </a:r>
            <a:r>
              <a:rPr sz="1800">
                <a:latin typeface="Calibri"/>
                <a:cs typeface="Calibri"/>
              </a:rPr>
              <a:t>Between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Group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Variance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-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Values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between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groups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are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not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close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to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each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other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86</a:t>
            </a:fld>
            <a:endParaRPr spc="-25"/>
          </a:p>
        </p:txBody>
      </p:sp>
      <p:sp>
        <p:nvSpPr>
          <p:cNvPr id="8" name="object 8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88705"/>
            <a:ext cx="9144000" cy="255270"/>
          </a:xfrm>
          <a:custGeom>
            <a:avLst/>
            <a:gdLst/>
            <a:ahLst/>
            <a:cxnLst/>
            <a:rect l="l" t="t" r="r" b="b"/>
            <a:pathLst>
              <a:path w="9144000" h="255270">
                <a:moveTo>
                  <a:pt x="9143999" y="254794"/>
                </a:moveTo>
                <a:lnTo>
                  <a:pt x="0" y="254794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4794"/>
                </a:lnTo>
                <a:close/>
              </a:path>
            </a:pathLst>
          </a:custGeom>
          <a:solidFill>
            <a:srgbClr val="538C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0398" y="4957048"/>
            <a:ext cx="69596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0"/>
              </a:lnSpc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1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6675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20">
                <a:moveTo>
                  <a:pt x="9143999" y="45718"/>
                </a:moveTo>
                <a:lnTo>
                  <a:pt x="0" y="45718"/>
                </a:lnTo>
                <a:lnTo>
                  <a:pt x="0" y="0"/>
                </a:lnTo>
                <a:lnTo>
                  <a:pt x="9143999" y="0"/>
                </a:lnTo>
                <a:lnTo>
                  <a:pt x="9143999" y="45718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/>
          <a:stretch>
            <a:fillRect/>
          </a:stretch>
        </p:blipFill>
        <p:spPr>
          <a:xfrm>
            <a:off x="6934200" y="116292"/>
            <a:ext cx="1981199" cy="5000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96612" y="1211327"/>
            <a:ext cx="7661909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895" indent="-290195">
              <a:lnSpc>
                <a:spcPct val="100000"/>
              </a:lnSpc>
              <a:spcBef>
                <a:spcPts val="100"/>
              </a:spcBef>
              <a:buSzPct val="50000"/>
              <a:buFont typeface="Arial MT"/>
              <a:buChar char="•"/>
              <a:tabLst>
                <a:tab pos="302895" algn="l"/>
              </a:tabLst>
            </a:pPr>
            <a:r>
              <a:rPr sz="2800">
                <a:latin typeface="Calibri"/>
                <a:cs typeface="Calibri"/>
              </a:rPr>
              <a:t>If</a:t>
            </a:r>
            <a:r>
              <a:rPr sz="2800" spc="-40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the</a:t>
            </a:r>
            <a:r>
              <a:rPr sz="2800" spc="-40">
                <a:latin typeface="Calibri"/>
                <a:cs typeface="Calibri"/>
              </a:rPr>
              <a:t> </a:t>
            </a:r>
            <a:r>
              <a:rPr sz="2800" spc="-10">
                <a:latin typeface="Calibri"/>
                <a:cs typeface="Calibri"/>
              </a:rPr>
              <a:t>within-</a:t>
            </a:r>
            <a:r>
              <a:rPr sz="2800">
                <a:latin typeface="Calibri"/>
                <a:cs typeface="Calibri"/>
              </a:rPr>
              <a:t>group</a:t>
            </a:r>
            <a:r>
              <a:rPr sz="2800" spc="-35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variation</a:t>
            </a:r>
            <a:r>
              <a:rPr sz="2800" spc="-40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is</a:t>
            </a:r>
            <a:r>
              <a:rPr sz="2800" spc="-40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less</a:t>
            </a:r>
            <a:r>
              <a:rPr sz="2800" spc="-35">
                <a:latin typeface="Calibri"/>
                <a:cs typeface="Calibri"/>
              </a:rPr>
              <a:t> </a:t>
            </a:r>
            <a:r>
              <a:rPr sz="2800" spc="-25">
                <a:latin typeface="Calibri"/>
                <a:cs typeface="Calibri"/>
              </a:rPr>
              <a:t>and</a:t>
            </a:r>
            <a:endParaRPr sz="2800">
              <a:latin typeface="Calibri"/>
              <a:cs typeface="Calibri"/>
            </a:endParaRPr>
          </a:p>
          <a:p>
            <a:pPr marL="302895" marR="5080">
              <a:lnSpc>
                <a:spcPct val="100000"/>
              </a:lnSpc>
            </a:pPr>
            <a:r>
              <a:rPr sz="2800" spc="-10">
                <a:latin typeface="Calibri"/>
                <a:cs typeface="Calibri"/>
              </a:rPr>
              <a:t>between-</a:t>
            </a:r>
            <a:r>
              <a:rPr sz="2800">
                <a:latin typeface="Calibri"/>
                <a:cs typeface="Calibri"/>
              </a:rPr>
              <a:t>group</a:t>
            </a:r>
            <a:r>
              <a:rPr sz="2800" spc="-50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variation</a:t>
            </a:r>
            <a:r>
              <a:rPr sz="2800" spc="-50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is</a:t>
            </a:r>
            <a:r>
              <a:rPr sz="2800" spc="-50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high,</a:t>
            </a:r>
            <a:r>
              <a:rPr sz="2800" spc="-50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then</a:t>
            </a:r>
            <a:r>
              <a:rPr sz="2800" spc="-50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it</a:t>
            </a:r>
            <a:r>
              <a:rPr sz="2800" spc="-50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means</a:t>
            </a:r>
            <a:r>
              <a:rPr sz="2800" spc="-50">
                <a:latin typeface="Calibri"/>
                <a:cs typeface="Calibri"/>
              </a:rPr>
              <a:t> </a:t>
            </a:r>
            <a:r>
              <a:rPr sz="2800" spc="-20">
                <a:latin typeface="Calibri"/>
                <a:cs typeface="Calibri"/>
              </a:rPr>
              <a:t>this </a:t>
            </a:r>
            <a:r>
              <a:rPr sz="2800" spc="-10">
                <a:latin typeface="Calibri"/>
                <a:cs typeface="Calibri"/>
              </a:rPr>
              <a:t>feature</a:t>
            </a:r>
            <a:r>
              <a:rPr sz="2800" spc="-75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impacts</a:t>
            </a:r>
            <a:r>
              <a:rPr sz="2800" spc="-75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the</a:t>
            </a:r>
            <a:r>
              <a:rPr sz="2800" spc="-75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target</a:t>
            </a:r>
            <a:r>
              <a:rPr sz="2800" spc="-75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variable.</a:t>
            </a:r>
            <a:r>
              <a:rPr sz="2800" spc="-75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Hence</a:t>
            </a:r>
            <a:r>
              <a:rPr sz="2800" spc="-75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it</a:t>
            </a:r>
            <a:r>
              <a:rPr sz="2800" spc="-75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is</a:t>
            </a:r>
            <a:r>
              <a:rPr sz="2800" spc="-70">
                <a:latin typeface="Calibri"/>
                <a:cs typeface="Calibri"/>
              </a:rPr>
              <a:t> </a:t>
            </a:r>
            <a:r>
              <a:rPr sz="2800" spc="-25">
                <a:latin typeface="Calibri"/>
                <a:cs typeface="Calibri"/>
              </a:rPr>
              <a:t>an </a:t>
            </a:r>
            <a:r>
              <a:rPr sz="2800">
                <a:latin typeface="Calibri"/>
                <a:cs typeface="Calibri"/>
              </a:rPr>
              <a:t>important</a:t>
            </a:r>
            <a:r>
              <a:rPr sz="2800" spc="-135">
                <a:latin typeface="Calibri"/>
                <a:cs typeface="Calibri"/>
              </a:rPr>
              <a:t> </a:t>
            </a:r>
            <a:r>
              <a:rPr sz="2800" spc="-10">
                <a:latin typeface="Calibri"/>
                <a:cs typeface="Calibri"/>
              </a:rPr>
              <a:t>feature.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45484" y="90954"/>
            <a:ext cx="28524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/>
              <a:t>One-</a:t>
            </a:r>
            <a:r>
              <a:rPr spc="-35"/>
              <a:t>Way</a:t>
            </a:r>
            <a:r>
              <a:rPr spc="-100"/>
              <a:t> </a:t>
            </a:r>
            <a:r>
              <a:rPr spc="-10"/>
              <a:t>ANOVA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87</a:t>
            </a:fld>
            <a:endParaRPr spc="-25"/>
          </a:p>
        </p:txBody>
      </p:sp>
      <p:sp>
        <p:nvSpPr>
          <p:cNvPr id="10" name="object 10"/>
          <p:cNvSpPr txBox="1"/>
          <p:nvPr/>
        </p:nvSpPr>
        <p:spPr>
          <a:xfrm>
            <a:off x="923619" y="4924628"/>
            <a:ext cx="273367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Mites</a:t>
            </a:r>
            <a:r>
              <a:rPr sz="1000" b="1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0225" y="90954"/>
            <a:ext cx="25647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/>
              <a:t>Chi-</a:t>
            </a:r>
            <a:r>
              <a:rPr/>
              <a:t>Square</a:t>
            </a:r>
            <a:r>
              <a:rPr spc="-120"/>
              <a:t> </a:t>
            </a:r>
            <a:r>
              <a:rPr spc="-40"/>
              <a:t>Test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1625" y="3127837"/>
            <a:ext cx="8035290" cy="995044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550">
                <a:latin typeface="Calibri"/>
                <a:cs typeface="Calibri"/>
              </a:rPr>
              <a:t>Observed</a:t>
            </a:r>
            <a:r>
              <a:rPr sz="1550" spc="-4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frequency</a:t>
            </a:r>
            <a:r>
              <a:rPr sz="1550" spc="-3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=</a:t>
            </a:r>
            <a:r>
              <a:rPr sz="1550" spc="-3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No.</a:t>
            </a:r>
            <a:r>
              <a:rPr sz="1550" spc="-3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of</a:t>
            </a:r>
            <a:r>
              <a:rPr sz="1550" spc="-3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observations</a:t>
            </a:r>
            <a:r>
              <a:rPr sz="1550" spc="-3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of</a:t>
            </a:r>
            <a:r>
              <a:rPr sz="1550" spc="-35">
                <a:latin typeface="Calibri"/>
                <a:cs typeface="Calibri"/>
              </a:rPr>
              <a:t> </a:t>
            </a:r>
            <a:r>
              <a:rPr sz="1550" spc="-10">
                <a:latin typeface="Calibri"/>
                <a:cs typeface="Calibri"/>
              </a:rPr>
              <a:t>class</a:t>
            </a:r>
            <a:endParaRPr sz="1550">
              <a:latin typeface="Calibri"/>
              <a:cs typeface="Calibri"/>
            </a:endParaRPr>
          </a:p>
          <a:p>
            <a:pPr marL="12700" marR="5080">
              <a:lnSpc>
                <a:spcPct val="135600"/>
              </a:lnSpc>
            </a:pPr>
            <a:r>
              <a:rPr sz="1550" spc="-10">
                <a:latin typeface="Calibri"/>
                <a:cs typeface="Calibri"/>
              </a:rPr>
              <a:t>Expected</a:t>
            </a:r>
            <a:r>
              <a:rPr sz="1550" spc="-4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frequency</a:t>
            </a:r>
            <a:r>
              <a:rPr sz="1550" spc="-3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=</a:t>
            </a:r>
            <a:r>
              <a:rPr sz="1550" spc="-4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No.</a:t>
            </a:r>
            <a:r>
              <a:rPr sz="1550" spc="-3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of</a:t>
            </a:r>
            <a:r>
              <a:rPr sz="1550" spc="-40">
                <a:latin typeface="Calibri"/>
                <a:cs typeface="Calibri"/>
              </a:rPr>
              <a:t> </a:t>
            </a:r>
            <a:r>
              <a:rPr sz="1550" spc="-10">
                <a:latin typeface="Calibri"/>
                <a:cs typeface="Calibri"/>
              </a:rPr>
              <a:t>expected</a:t>
            </a:r>
            <a:r>
              <a:rPr sz="1550" spc="-3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observations</a:t>
            </a:r>
            <a:r>
              <a:rPr sz="1550" spc="-4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of</a:t>
            </a:r>
            <a:r>
              <a:rPr sz="1550" spc="-3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class</a:t>
            </a:r>
            <a:r>
              <a:rPr sz="1550" spc="-4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if</a:t>
            </a:r>
            <a:r>
              <a:rPr sz="1550" spc="-3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there</a:t>
            </a:r>
            <a:r>
              <a:rPr sz="1550" spc="-4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was</a:t>
            </a:r>
            <a:r>
              <a:rPr sz="1550" spc="-3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no</a:t>
            </a:r>
            <a:r>
              <a:rPr sz="1550" spc="-4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relationship</a:t>
            </a:r>
            <a:r>
              <a:rPr sz="1550" spc="-35">
                <a:latin typeface="Calibri"/>
                <a:cs typeface="Calibri"/>
              </a:rPr>
              <a:t> </a:t>
            </a:r>
            <a:r>
              <a:rPr sz="1550" spc="-10">
                <a:latin typeface="Calibri"/>
                <a:cs typeface="Calibri"/>
              </a:rPr>
              <a:t>between</a:t>
            </a:r>
            <a:r>
              <a:rPr sz="1550" spc="-35">
                <a:latin typeface="Calibri"/>
                <a:cs typeface="Calibri"/>
              </a:rPr>
              <a:t> </a:t>
            </a:r>
            <a:r>
              <a:rPr sz="1550" spc="-25">
                <a:latin typeface="Calibri"/>
                <a:cs typeface="Calibri"/>
              </a:rPr>
              <a:t>the </a:t>
            </a:r>
            <a:r>
              <a:rPr sz="1550" spc="-10">
                <a:latin typeface="Calibri"/>
                <a:cs typeface="Calibri"/>
              </a:rPr>
              <a:t>feature</a:t>
            </a:r>
            <a:r>
              <a:rPr sz="1550" spc="-4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and</a:t>
            </a:r>
            <a:r>
              <a:rPr sz="1550" spc="-4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the</a:t>
            </a:r>
            <a:r>
              <a:rPr sz="1550" spc="-40">
                <a:latin typeface="Calibri"/>
                <a:cs typeface="Calibri"/>
              </a:rPr>
              <a:t> </a:t>
            </a:r>
            <a:r>
              <a:rPr sz="1550" spc="-10">
                <a:latin typeface="Calibri"/>
                <a:cs typeface="Calibri"/>
              </a:rPr>
              <a:t>target.</a:t>
            </a:r>
            <a:r>
              <a:rPr sz="1550" spc="-35"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111111"/>
                </a:solidFill>
                <a:latin typeface="Calibri"/>
                <a:cs typeface="Calibri"/>
              </a:rPr>
              <a:t>Expected</a:t>
            </a:r>
            <a:r>
              <a:rPr sz="1600" spc="-4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11111"/>
                </a:solidFill>
                <a:latin typeface="Calibri"/>
                <a:cs typeface="Calibri"/>
              </a:rPr>
              <a:t>Frequency</a:t>
            </a:r>
            <a:r>
              <a:rPr sz="16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11111"/>
                </a:solidFill>
                <a:latin typeface="Calibri"/>
                <a:cs typeface="Calibri"/>
              </a:rPr>
              <a:t>=</a:t>
            </a:r>
            <a:r>
              <a:rPr sz="1600" spc="-4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11111"/>
                </a:solidFill>
                <a:latin typeface="Calibri"/>
                <a:cs typeface="Calibri"/>
              </a:rPr>
              <a:t>(Row</a:t>
            </a:r>
            <a:r>
              <a:rPr sz="16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600" spc="-30">
                <a:solidFill>
                  <a:srgbClr val="111111"/>
                </a:solidFill>
                <a:latin typeface="Calibri"/>
                <a:cs typeface="Calibri"/>
              </a:rPr>
              <a:t>Total</a:t>
            </a:r>
            <a:r>
              <a:rPr sz="1600" spc="-4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11111"/>
                </a:solidFill>
                <a:latin typeface="Calibri"/>
                <a:cs typeface="Calibri"/>
              </a:rPr>
              <a:t>*</a:t>
            </a:r>
            <a:r>
              <a:rPr sz="1600" spc="-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11111"/>
                </a:solidFill>
                <a:latin typeface="Calibri"/>
                <a:cs typeface="Calibri"/>
              </a:rPr>
              <a:t>Column</a:t>
            </a:r>
            <a:r>
              <a:rPr sz="1600" spc="-4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111111"/>
                </a:solidFill>
                <a:latin typeface="Calibri"/>
                <a:cs typeface="Calibri"/>
              </a:rPr>
              <a:t>Total)/N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875" y="952897"/>
            <a:ext cx="822833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spc="-60">
                <a:solidFill>
                  <a:srgbClr val="212121"/>
                </a:solidFill>
                <a:latin typeface="Roboto"/>
                <a:cs typeface="Roboto"/>
              </a:rPr>
              <a:t>Chi-</a:t>
            </a:r>
            <a:r>
              <a:rPr sz="1600" spc="-45">
                <a:solidFill>
                  <a:srgbClr val="212121"/>
                </a:solidFill>
                <a:latin typeface="Roboto"/>
                <a:cs typeface="Roboto"/>
              </a:rPr>
              <a:t>square</a:t>
            </a:r>
            <a:r>
              <a:rPr sz="1600" spc="-4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test</a:t>
            </a:r>
            <a:r>
              <a:rPr sz="1600" spc="-4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1600" spc="-4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used</a:t>
            </a:r>
            <a:r>
              <a:rPr sz="1600" spc="-3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for</a:t>
            </a:r>
            <a:r>
              <a:rPr sz="1600" spc="-4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212121"/>
                </a:solidFill>
                <a:latin typeface="Roboto"/>
                <a:cs typeface="Roboto"/>
              </a:rPr>
              <a:t>categorical</a:t>
            </a:r>
            <a:r>
              <a:rPr sz="1600" spc="-4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212121"/>
                </a:solidFill>
                <a:latin typeface="Roboto"/>
                <a:cs typeface="Roboto"/>
              </a:rPr>
              <a:t>features</a:t>
            </a:r>
            <a:r>
              <a:rPr sz="1600" spc="-4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1600" spc="-3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a</a:t>
            </a:r>
            <a:r>
              <a:rPr sz="1600" spc="-4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dataset.</a:t>
            </a:r>
            <a:r>
              <a:rPr sz="1600" spc="-4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We</a:t>
            </a:r>
            <a:r>
              <a:rPr sz="1600" spc="-3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212121"/>
                </a:solidFill>
                <a:latin typeface="Roboto"/>
                <a:cs typeface="Roboto"/>
              </a:rPr>
              <a:t>calculate</a:t>
            </a:r>
            <a:r>
              <a:rPr sz="1600" spc="-4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60">
                <a:solidFill>
                  <a:srgbClr val="212121"/>
                </a:solidFill>
                <a:latin typeface="Roboto"/>
                <a:cs typeface="Roboto"/>
              </a:rPr>
              <a:t>Chi-</a:t>
            </a:r>
            <a:r>
              <a:rPr sz="1600" spc="-10">
                <a:solidFill>
                  <a:srgbClr val="212121"/>
                </a:solidFill>
                <a:latin typeface="Roboto"/>
                <a:cs typeface="Roboto"/>
              </a:rPr>
              <a:t>square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between</a:t>
            </a:r>
            <a:r>
              <a:rPr sz="1600" spc="-6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each</a:t>
            </a:r>
            <a:r>
              <a:rPr sz="1600" spc="-6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feature</a:t>
            </a:r>
            <a:r>
              <a:rPr sz="1600" spc="-6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1600" spc="-6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1600" spc="-6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212121"/>
                </a:solidFill>
                <a:latin typeface="Roboto"/>
                <a:cs typeface="Roboto"/>
              </a:rPr>
              <a:t>target</a:t>
            </a:r>
            <a:r>
              <a:rPr sz="1600" spc="-6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and</a:t>
            </a:r>
            <a:r>
              <a:rPr sz="1600" spc="-6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select</a:t>
            </a:r>
            <a:r>
              <a:rPr sz="1600" spc="-6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1600" spc="-6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212121"/>
                </a:solidFill>
                <a:latin typeface="Roboto"/>
                <a:cs typeface="Roboto"/>
              </a:rPr>
              <a:t>desired</a:t>
            </a:r>
            <a:r>
              <a:rPr sz="1600" spc="-6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212121"/>
                </a:solidFill>
                <a:latin typeface="Roboto"/>
                <a:cs typeface="Roboto"/>
              </a:rPr>
              <a:t>number</a:t>
            </a:r>
            <a:r>
              <a:rPr sz="1600" spc="-6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1600" spc="-6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212121"/>
                </a:solidFill>
                <a:latin typeface="Roboto"/>
                <a:cs typeface="Roboto"/>
              </a:rPr>
              <a:t>features</a:t>
            </a:r>
            <a:r>
              <a:rPr sz="1600" spc="-6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212121"/>
                </a:solidFill>
                <a:latin typeface="Roboto"/>
                <a:cs typeface="Roboto"/>
              </a:rPr>
              <a:t>with</a:t>
            </a:r>
            <a:r>
              <a:rPr sz="1600" spc="-6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20">
                <a:solidFill>
                  <a:srgbClr val="212121"/>
                </a:solidFill>
                <a:latin typeface="Roboto"/>
                <a:cs typeface="Roboto"/>
              </a:rPr>
              <a:t>best </a:t>
            </a:r>
            <a:r>
              <a:rPr sz="1600" spc="-60">
                <a:solidFill>
                  <a:srgbClr val="212121"/>
                </a:solidFill>
                <a:latin typeface="Roboto"/>
                <a:cs typeface="Roboto"/>
              </a:rPr>
              <a:t>Chi-</a:t>
            </a:r>
            <a:r>
              <a:rPr sz="1600" spc="-45">
                <a:solidFill>
                  <a:srgbClr val="212121"/>
                </a:solidFill>
                <a:latin typeface="Roboto"/>
                <a:cs typeface="Roboto"/>
              </a:rPr>
              <a:t>square</a:t>
            </a:r>
            <a:r>
              <a:rPr sz="1600" spc="-3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212121"/>
                </a:solidFill>
                <a:latin typeface="Roboto"/>
                <a:cs typeface="Roboto"/>
              </a:rPr>
              <a:t>scores.</a:t>
            </a:r>
            <a:r>
              <a:rPr sz="1600" spc="-2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It</a:t>
            </a:r>
            <a:r>
              <a:rPr sz="1600" spc="-3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212121"/>
                </a:solidFill>
                <a:latin typeface="Roboto"/>
                <a:cs typeface="Roboto"/>
              </a:rPr>
              <a:t>determines</a:t>
            </a:r>
            <a:r>
              <a:rPr sz="1600" spc="-2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if</a:t>
            </a:r>
            <a:r>
              <a:rPr sz="1600" spc="-3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1600" spc="-2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20">
                <a:solidFill>
                  <a:srgbClr val="212121"/>
                </a:solidFill>
                <a:latin typeface="Roboto"/>
                <a:cs typeface="Roboto"/>
              </a:rPr>
              <a:t>association</a:t>
            </a:r>
            <a:r>
              <a:rPr sz="1600" spc="-3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between</a:t>
            </a:r>
            <a:r>
              <a:rPr sz="1600" spc="-2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two</a:t>
            </a:r>
            <a:r>
              <a:rPr sz="1600" spc="-3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212121"/>
                </a:solidFill>
                <a:latin typeface="Roboto"/>
                <a:cs typeface="Roboto"/>
              </a:rPr>
              <a:t>categorical</a:t>
            </a:r>
            <a:r>
              <a:rPr sz="1600" spc="-2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20">
                <a:solidFill>
                  <a:srgbClr val="212121"/>
                </a:solidFill>
                <a:latin typeface="Roboto"/>
                <a:cs typeface="Roboto"/>
              </a:rPr>
              <a:t>variables</a:t>
            </a:r>
            <a:r>
              <a:rPr sz="1600" spc="-3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of</a:t>
            </a:r>
            <a:r>
              <a:rPr sz="1600" spc="-25">
                <a:solidFill>
                  <a:srgbClr val="212121"/>
                </a:solidFill>
                <a:latin typeface="Roboto"/>
                <a:cs typeface="Roboto"/>
              </a:rPr>
              <a:t> the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sample</a:t>
            </a:r>
            <a:r>
              <a:rPr sz="1600" spc="-9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212121"/>
                </a:solidFill>
                <a:latin typeface="Roboto"/>
                <a:cs typeface="Roboto"/>
              </a:rPr>
              <a:t>would</a:t>
            </a:r>
            <a:r>
              <a:rPr sz="16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reflect</a:t>
            </a:r>
            <a:r>
              <a:rPr sz="16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212121"/>
                </a:solidFill>
                <a:latin typeface="Roboto"/>
                <a:cs typeface="Roboto"/>
              </a:rPr>
              <a:t>their</a:t>
            </a:r>
            <a:r>
              <a:rPr sz="16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real</a:t>
            </a:r>
            <a:r>
              <a:rPr sz="16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20">
                <a:solidFill>
                  <a:srgbClr val="212121"/>
                </a:solidFill>
                <a:latin typeface="Roboto"/>
                <a:cs typeface="Roboto"/>
              </a:rPr>
              <a:t>association</a:t>
            </a:r>
            <a:r>
              <a:rPr sz="16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in</a:t>
            </a:r>
            <a:r>
              <a:rPr sz="1600" spc="-6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the</a:t>
            </a:r>
            <a:r>
              <a:rPr sz="16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20">
                <a:solidFill>
                  <a:srgbClr val="212121"/>
                </a:solidFill>
                <a:latin typeface="Roboto"/>
                <a:cs typeface="Roboto"/>
              </a:rPr>
              <a:t>population.</a:t>
            </a:r>
            <a:r>
              <a:rPr sz="16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80">
                <a:solidFill>
                  <a:srgbClr val="212121"/>
                </a:solidFill>
                <a:latin typeface="Roboto"/>
                <a:cs typeface="Roboto"/>
              </a:rPr>
              <a:t>Chi-</a:t>
            </a:r>
            <a:r>
              <a:rPr sz="1600" spc="-20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212121"/>
                </a:solidFill>
                <a:latin typeface="Roboto"/>
                <a:cs typeface="Roboto"/>
              </a:rPr>
              <a:t>square</a:t>
            </a:r>
            <a:r>
              <a:rPr sz="16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score</a:t>
            </a:r>
            <a:r>
              <a:rPr sz="16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>
                <a:solidFill>
                  <a:srgbClr val="212121"/>
                </a:solidFill>
                <a:latin typeface="Roboto"/>
                <a:cs typeface="Roboto"/>
              </a:rPr>
              <a:t>is</a:t>
            </a:r>
            <a:r>
              <a:rPr sz="16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10">
                <a:solidFill>
                  <a:srgbClr val="212121"/>
                </a:solidFill>
                <a:latin typeface="Roboto"/>
                <a:cs typeface="Roboto"/>
              </a:rPr>
              <a:t>given</a:t>
            </a:r>
            <a:r>
              <a:rPr sz="1600" spc="-5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sz="1600" spc="-25">
                <a:solidFill>
                  <a:srgbClr val="212121"/>
                </a:solidFill>
                <a:latin typeface="Roboto"/>
                <a:cs typeface="Roboto"/>
              </a:rPr>
              <a:t>by</a:t>
            </a:r>
            <a:endParaRPr sz="160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/>
          <a:stretch>
            <a:fillRect/>
          </a:stretch>
        </p:blipFill>
        <p:spPr>
          <a:xfrm>
            <a:off x="1928813" y="2166938"/>
            <a:ext cx="5591175" cy="11144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88</a:t>
            </a:fld>
            <a:endParaRPr spc="-25"/>
          </a:p>
        </p:txBody>
      </p:sp>
      <p:sp>
        <p:nvSpPr>
          <p:cNvPr id="8" name="object 8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175037" y="887118"/>
            <a:ext cx="1638383" cy="36268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/>
          <a:stretch>
            <a:fillRect/>
          </a:stretch>
        </p:blipFill>
        <p:spPr>
          <a:xfrm>
            <a:off x="1904006" y="1197866"/>
            <a:ext cx="3391073" cy="62868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39711" y="852859"/>
            <a:ext cx="1534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solidFill>
                  <a:srgbClr val="000000"/>
                </a:solidFill>
                <a:latin typeface="Arial MT"/>
                <a:cs typeface="Arial MT"/>
              </a:rPr>
              <a:t>Contingency</a:t>
            </a:r>
            <a:r>
              <a:rPr sz="1400" spc="-3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400" spc="-20">
                <a:solidFill>
                  <a:srgbClr val="000000"/>
                </a:solidFill>
                <a:latin typeface="Arial MT"/>
                <a:cs typeface="Arial MT"/>
              </a:rPr>
              <a:t>Table: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9711" y="2271776"/>
            <a:ext cx="573913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sz="1800" spc="-5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374151"/>
                </a:solidFill>
                <a:latin typeface="Calibri"/>
                <a:cs typeface="Calibri"/>
              </a:rPr>
              <a:t>chi-</a:t>
            </a:r>
            <a:r>
              <a:rPr sz="1800" spc="-10">
                <a:solidFill>
                  <a:srgbClr val="374151"/>
                </a:solidFill>
                <a:latin typeface="Calibri"/>
                <a:cs typeface="Calibri"/>
              </a:rPr>
              <a:t>squared</a:t>
            </a:r>
            <a:r>
              <a:rPr sz="1800" spc="-5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value</a:t>
            </a:r>
            <a:r>
              <a:rPr sz="1800" spc="-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for</a:t>
            </a:r>
            <a:r>
              <a:rPr sz="1800" spc="-5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sz="1800" spc="-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given</a:t>
            </a:r>
            <a:r>
              <a:rPr sz="1800" spc="-5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374151"/>
                </a:solidFill>
                <a:latin typeface="Calibri"/>
                <a:cs typeface="Calibri"/>
              </a:rPr>
              <a:t>contingency</a:t>
            </a:r>
            <a:r>
              <a:rPr sz="1800" spc="-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table</a:t>
            </a:r>
            <a:r>
              <a:rPr sz="1800" spc="-5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is</a:t>
            </a:r>
            <a:r>
              <a:rPr sz="1800" spc="-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374151"/>
                </a:solidFill>
                <a:latin typeface="Calibri"/>
                <a:cs typeface="Calibri"/>
              </a:rPr>
              <a:t>0.257 Significance</a:t>
            </a:r>
            <a:r>
              <a:rPr sz="1800" spc="-4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level</a:t>
            </a:r>
            <a:r>
              <a:rPr sz="1800" spc="-4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is</a:t>
            </a:r>
            <a:r>
              <a:rPr sz="1800" spc="-4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374151"/>
                </a:solidFill>
                <a:latin typeface="Calibri"/>
                <a:cs typeface="Calibri"/>
              </a:rPr>
              <a:t>0.05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sz="1800" spc="-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observed</a:t>
            </a:r>
            <a:r>
              <a:rPr sz="1800" spc="-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374151"/>
                </a:solidFill>
                <a:latin typeface="Calibri"/>
                <a:cs typeface="Calibri"/>
              </a:rPr>
              <a:t>p-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value</a:t>
            </a:r>
            <a:r>
              <a:rPr sz="1800" spc="-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is</a:t>
            </a:r>
            <a:r>
              <a:rPr sz="1800" spc="-3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343541"/>
                </a:solidFill>
                <a:latin typeface="Calibri"/>
                <a:cs typeface="Calibri"/>
              </a:rPr>
              <a:t>0.967902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Since</a:t>
            </a:r>
            <a:r>
              <a:rPr sz="1800" spc="-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374151"/>
                </a:solidFill>
                <a:latin typeface="Calibri"/>
                <a:cs typeface="Calibri"/>
              </a:rPr>
              <a:t>p-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value</a:t>
            </a:r>
            <a:r>
              <a:rPr sz="1800" spc="-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&gt;</a:t>
            </a:r>
            <a:r>
              <a:rPr sz="1800" spc="-4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0.05,</a:t>
            </a:r>
            <a:r>
              <a:rPr sz="1800" spc="-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we</a:t>
            </a:r>
            <a:r>
              <a:rPr sz="1800" spc="-4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accept</a:t>
            </a:r>
            <a:r>
              <a:rPr sz="1800" spc="-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sz="1800" spc="-4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374151"/>
                </a:solidFill>
                <a:latin typeface="Calibri"/>
                <a:cs typeface="Calibri"/>
              </a:rPr>
              <a:t>Null</a:t>
            </a:r>
            <a:r>
              <a:rPr sz="1800" spc="-5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374151"/>
                </a:solidFill>
                <a:latin typeface="Calibri"/>
                <a:cs typeface="Calibri"/>
              </a:rPr>
              <a:t>hypothesis.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00"/>
              </a:lnSpc>
            </a:pPr>
            <a:fld id="{81D60167-4931-47E6-BA6A-407CBD079E47}" type="slidenum">
              <a:rPr spc="-25"/>
              <a:t>89</a:t>
            </a:fld>
            <a:endParaRPr spc="-25"/>
          </a:p>
        </p:txBody>
      </p:sp>
      <p:sp>
        <p:nvSpPr>
          <p:cNvPr id="8" name="object 8"/>
          <p:cNvSpPr txBox="1"/>
          <p:nvPr/>
        </p:nvSpPr>
        <p:spPr>
          <a:xfrm>
            <a:off x="227698" y="4924628"/>
            <a:ext cx="3429635" cy="153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14665" y="4932394"/>
            <a:ext cx="1704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3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14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ESSENTIALS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698" y="4912598"/>
            <a:ext cx="3429635" cy="16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sz="1000" b="1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DataMites</a:t>
            </a: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™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0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>
                <a:solidFill>
                  <a:srgbClr val="FFFFFF"/>
                </a:solidFill>
                <a:latin typeface="Calibri"/>
                <a:cs typeface="Calibri"/>
                <a:hlinkClick r:id="rId2"/>
              </a:rPr>
              <a:t>www.datamites.com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10213" y="2741168"/>
            <a:ext cx="171894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spc="-20">
                <a:latin typeface="Calibri"/>
                <a:cs typeface="Calibri"/>
              </a:rPr>
              <a:t>Thank You.</a:t>
            </a:r>
            <a:endParaRPr sz="5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/>
          <a:stretch>
            <a:fillRect/>
          </a:stretch>
        </p:blipFill>
        <p:spPr>
          <a:xfrm>
            <a:off x="2743200" y="355392"/>
            <a:ext cx="3514724" cy="21431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64489" y="4659868"/>
            <a:ext cx="154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887965"/>
            <a:ext cx="1016235" cy="255533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9"/>
  <p:tag name="AS_OS" val="Unix 5.4.0.190"/>
  <p:tag name="AS_RELEASE_DATE" val="2023.01.14"/>
  <p:tag name="AS_TITLE" val="Aspose.Slides for .NET5"/>
  <p:tag name="AS_VERSION" val="23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4749</Words>
  <Application>Microsoft Office PowerPoint</Application>
  <PresentationFormat>On-screen Show (16:9)</PresentationFormat>
  <Paragraphs>624</Paragraphs>
  <Slides>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7" baseType="lpstr">
      <vt:lpstr>Arial</vt:lpstr>
      <vt:lpstr>Arial MT</vt:lpstr>
      <vt:lpstr>Calibri</vt:lpstr>
      <vt:lpstr>Cambria</vt:lpstr>
      <vt:lpstr>Georgia</vt:lpstr>
      <vt:lpstr>Roboto</vt:lpstr>
      <vt:lpstr>Office Theme</vt:lpstr>
      <vt:lpstr>PowerPoint Presentation</vt:lpstr>
      <vt:lpstr>PowerPoint Presentation</vt:lpstr>
      <vt:lpstr>Statistics for Data</vt:lpstr>
      <vt:lpstr>Descriptive Statistics</vt:lpstr>
      <vt:lpstr>Inferential Statistics</vt:lpstr>
      <vt:lpstr>Definition to Basic terms</vt:lpstr>
      <vt:lpstr>Definition to Basic terms</vt:lpstr>
      <vt:lpstr>Examples</vt:lpstr>
      <vt:lpstr>Types of Data</vt:lpstr>
      <vt:lpstr>Examples of variables</vt:lpstr>
      <vt:lpstr>Examples of variables…</vt:lpstr>
      <vt:lpstr>PowerPoint Presentation</vt:lpstr>
      <vt:lpstr>Steps Involved In Descriptive Statistics</vt:lpstr>
      <vt:lpstr>Making sense of the data</vt:lpstr>
      <vt:lpstr>Collecting The Data</vt:lpstr>
      <vt:lpstr>Methods Used To Collect Data</vt:lpstr>
      <vt:lpstr>Types Of Sampling</vt:lpstr>
      <vt:lpstr>Probability Sampling</vt:lpstr>
      <vt:lpstr>Sampling Example</vt:lpstr>
      <vt:lpstr>Sampling Error</vt:lpstr>
      <vt:lpstr>PowerPoint Presentation</vt:lpstr>
      <vt:lpstr>Measures of Central Tendencies</vt:lpstr>
      <vt:lpstr>Central Tendency</vt:lpstr>
      <vt:lpstr>Measures of Central Tendency</vt:lpstr>
      <vt:lpstr>Mean</vt:lpstr>
      <vt:lpstr>Median</vt:lpstr>
      <vt:lpstr>Mode</vt:lpstr>
      <vt:lpstr>Measure of Spread / Data Variability</vt:lpstr>
      <vt:lpstr>PowerPoint Presentation</vt:lpstr>
      <vt:lpstr>Interquartile Range (IQR)Range</vt:lpstr>
      <vt:lpstr>Standard Deviation (σ)</vt:lpstr>
      <vt:lpstr>Standard Deviation (σ)</vt:lpstr>
      <vt:lpstr>Variance(σ2)</vt:lpstr>
      <vt:lpstr>Percentile</vt:lpstr>
      <vt:lpstr>Distributions</vt:lpstr>
      <vt:lpstr>Normal Distribution</vt:lpstr>
      <vt:lpstr>Types Of Distributions</vt:lpstr>
      <vt:lpstr>Properties Of Normal Distribution</vt:lpstr>
      <vt:lpstr>Empirical Rule</vt:lpstr>
      <vt:lpstr>Distortion in Normal Distribution</vt:lpstr>
      <vt:lpstr>Skewness in Normal Distribution</vt:lpstr>
      <vt:lpstr>How much Skewness and Kurtosis</vt:lpstr>
      <vt:lpstr>Kurtosis in Normal Distribution</vt:lpstr>
      <vt:lpstr>PowerPoint Presentation</vt:lpstr>
      <vt:lpstr>Which is Best—the Mean, Median, or Mode?</vt:lpstr>
      <vt:lpstr>Correcting Distortion in Normal Distribution</vt:lpstr>
      <vt:lpstr>Outliers</vt:lpstr>
      <vt:lpstr>Central Limit Theorem</vt:lpstr>
      <vt:lpstr>Q-Q Plots</vt:lpstr>
      <vt:lpstr>Standard Normal Distribution</vt:lpstr>
      <vt:lpstr>Z- Score / Z-Value/ Standard Score</vt:lpstr>
      <vt:lpstr>Calculating Z-Score</vt:lpstr>
      <vt:lpstr>PowerPoint Presentation</vt:lpstr>
      <vt:lpstr>PowerPoint Presentation</vt:lpstr>
      <vt:lpstr>PowerPoint Presentation</vt:lpstr>
      <vt:lpstr>Outliers</vt:lpstr>
      <vt:lpstr>Probability Density Function</vt:lpstr>
      <vt:lpstr>PowerPoint Presentation</vt:lpstr>
      <vt:lpstr>Euclidean Distance</vt:lpstr>
      <vt:lpstr>Manhattan Distance</vt:lpstr>
      <vt:lpstr>Minkowski Distance</vt:lpstr>
      <vt:lpstr>Use of Distance Metrics</vt:lpstr>
      <vt:lpstr>Covariance</vt:lpstr>
      <vt:lpstr>Correlation</vt:lpstr>
      <vt:lpstr>Based on the correlation coefficient, we can select the important features:</vt:lpstr>
      <vt:lpstr>Hypothesis Testing &amp;</vt:lpstr>
      <vt:lpstr>Hypothesis Testing</vt:lpstr>
      <vt:lpstr>Comparing and Analyzing Relationships</vt:lpstr>
      <vt:lpstr>Types of Hypothesis</vt:lpstr>
      <vt:lpstr>Null Hypothesis (H0)</vt:lpstr>
      <vt:lpstr>Alternate Hypothesis (HA)/(H1)</vt:lpstr>
      <vt:lpstr>Hypothesis Testing – Case Discussion</vt:lpstr>
      <vt:lpstr>Type I and Type II Error</vt:lpstr>
      <vt:lpstr>Critical Region</vt:lpstr>
      <vt:lpstr>Cases Of Critical Region</vt:lpstr>
      <vt:lpstr>p –Value</vt:lpstr>
      <vt:lpstr>Process of Hypothesis Testing</vt:lpstr>
      <vt:lpstr>Types of Hypothesis Tests</vt:lpstr>
      <vt:lpstr>Applications of Hypothesis Testing</vt:lpstr>
      <vt:lpstr>Hypothesis Tests:-Parametric</vt:lpstr>
      <vt:lpstr>Hypothesis Tests:-Non Parametric</vt:lpstr>
      <vt:lpstr>T-test</vt:lpstr>
      <vt:lpstr>T-test</vt:lpstr>
      <vt:lpstr>T-test</vt:lpstr>
      <vt:lpstr>Paired T-test</vt:lpstr>
      <vt:lpstr>One-Way ANOVA</vt:lpstr>
      <vt:lpstr>One-Way ANOVA</vt:lpstr>
      <vt:lpstr>Chi-Square Test</vt:lpstr>
      <vt:lpstr>Contingency Table: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Essential_V5.pptx</dc:title>
  <dc:creator>Akshatha</dc:creator>
  <cp:lastModifiedBy>Lenovo</cp:lastModifiedBy>
  <cp:revision>2</cp:revision>
  <dcterms:created xsi:type="dcterms:W3CDTF">2025-01-18T01:49:59Z</dcterms:created>
  <dcterms:modified xsi:type="dcterms:W3CDTF">2026-01-07T14:51:57Z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2025-01-18T00:00:00Z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2025-01-18T00:00:00Z</vt:filetime>
  </property>
</Properties>
</file>